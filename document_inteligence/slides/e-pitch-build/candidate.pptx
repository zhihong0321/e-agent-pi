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729fd6849641d7" /><Relationship Type="http://schemas.openxmlformats.org/officeDocument/2006/relationships/extended-properties" Target="/docProps/app.xml" Id="R120bd7e83ab04041" /><Relationship Type="http://schemas.openxmlformats.org/officeDocument/2006/relationships/officeDocument" Target="/ppt/presentation.xml" Id="R8287e028c0d64a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e15e6a1ced4c30"/>
  </p:sldMasterIdLst>
  <p:notesMasterIdLst>
    <p:notesMasterId xmlns:r="http://schemas.openxmlformats.org/officeDocument/2006/relationships" r:id="R08150017a6ab4475"/>
  </p:notesMasterIdLst>
  <p:sldIdLst>
    <p:sldId xmlns:r="http://schemas.openxmlformats.org/officeDocument/2006/relationships" id="256" r:id="Rec8c6774cf964957"/>
    <p:sldId xmlns:r="http://schemas.openxmlformats.org/officeDocument/2006/relationships" id="257" r:id="Re005b741add544ae"/>
    <p:sldId xmlns:r="http://schemas.openxmlformats.org/officeDocument/2006/relationships" id="258" r:id="R38e31c552faa4fd8"/>
    <p:sldId xmlns:r="http://schemas.openxmlformats.org/officeDocument/2006/relationships" id="259" r:id="Rca941568eac24887"/>
    <p:sldId xmlns:r="http://schemas.openxmlformats.org/officeDocument/2006/relationships" id="260" r:id="R601333a69394457d"/>
    <p:sldId xmlns:r="http://schemas.openxmlformats.org/officeDocument/2006/relationships" id="261" r:id="Rcefc5d6d068a406c"/>
    <p:sldId xmlns:r="http://schemas.openxmlformats.org/officeDocument/2006/relationships" id="262" r:id="Rc334735f01ca4aaa"/>
    <p:sldId xmlns:r="http://schemas.openxmlformats.org/officeDocument/2006/relationships" id="263" r:id="Rfe1efedf2b014a44"/>
    <p:sldId xmlns:r="http://schemas.openxmlformats.org/officeDocument/2006/relationships" id="264" r:id="R8df40f80c4464dab"/>
    <p:sldId xmlns:r="http://schemas.openxmlformats.org/officeDocument/2006/relationships" id="265" r:id="R8477fd13f37f4274"/>
    <p:sldId xmlns:r="http://schemas.openxmlformats.org/officeDocument/2006/relationships" id="266" r:id="R37f9370a41f6409d"/>
    <p:sldId xmlns:r="http://schemas.openxmlformats.org/officeDocument/2006/relationships" id="267" r:id="R8e2932f518b14bc8"/>
    <p:sldId xmlns:r="http://schemas.openxmlformats.org/officeDocument/2006/relationships" id="268" r:id="Rbe418c1360ef4bfe"/>
    <p:sldId xmlns:r="http://schemas.openxmlformats.org/officeDocument/2006/relationships" id="269" r:id="R8447a8ec754a4248"/>
    <p:sldId xmlns:r="http://schemas.openxmlformats.org/officeDocument/2006/relationships" id="270" r:id="R3490657967f44425"/>
    <p:sldId xmlns:r="http://schemas.openxmlformats.org/officeDocument/2006/relationships" id="271" r:id="R1e1271690b3e4767"/>
    <p:sldId xmlns:r="http://schemas.openxmlformats.org/officeDocument/2006/relationships" id="272" r:id="Rd8dbd2c3db364740"/>
    <p:sldId xmlns:r="http://schemas.openxmlformats.org/officeDocument/2006/relationships" id="273" r:id="R6a2f1360ab50410c"/>
    <p:sldId xmlns:r="http://schemas.openxmlformats.org/officeDocument/2006/relationships" id="274" r:id="R75b4e2c418cf4a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2e064dae0947be" /><Relationship Type="http://schemas.openxmlformats.org/officeDocument/2006/relationships/slideMaster" Target="/ppt/slideMasters/slideMaster1.xml" Id="R06e15e6a1ced4c30" /><Relationship Type="http://schemas.openxmlformats.org/officeDocument/2006/relationships/notesMaster" Target="/ppt/notesMasters/notesMaster1.xml" Id="R08150017a6ab4475" /><Relationship Type="http://schemas.openxmlformats.org/officeDocument/2006/relationships/presProps" Target="/ppt/presProps.xml" Id="R3f8ec447e8e04861" /><Relationship Type="http://schemas.openxmlformats.org/officeDocument/2006/relationships/tableStyles" Target="/ppt/tableStyles.xml" Id="Re38611d9873f40d6" /><Relationship Type="http://schemas.openxmlformats.org/officeDocument/2006/relationships/slide" Target="/ppt/slides/slide1.xml" Id="Rec8c6774cf964957" /><Relationship Type="http://schemas.openxmlformats.org/officeDocument/2006/relationships/slide" Target="/ppt/slides/slide2.xml" Id="Re005b741add544ae" /><Relationship Type="http://schemas.openxmlformats.org/officeDocument/2006/relationships/slide" Target="/ppt/slides/slide3.xml" Id="R38e31c552faa4fd8" /><Relationship Type="http://schemas.openxmlformats.org/officeDocument/2006/relationships/slide" Target="/ppt/slides/slide4.xml" Id="Rca941568eac24887" /><Relationship Type="http://schemas.openxmlformats.org/officeDocument/2006/relationships/slide" Target="/ppt/slides/slide5.xml" Id="R601333a69394457d" /><Relationship Type="http://schemas.openxmlformats.org/officeDocument/2006/relationships/slide" Target="/ppt/slides/slide6.xml" Id="Rcefc5d6d068a406c" /><Relationship Type="http://schemas.openxmlformats.org/officeDocument/2006/relationships/slide" Target="/ppt/slides/slide7.xml" Id="Rc334735f01ca4aaa" /><Relationship Type="http://schemas.openxmlformats.org/officeDocument/2006/relationships/slide" Target="/ppt/slides/slide8.xml" Id="Rfe1efedf2b014a44" /><Relationship Type="http://schemas.openxmlformats.org/officeDocument/2006/relationships/slide" Target="/ppt/slides/slide9.xml" Id="R8df40f80c4464dab" /><Relationship Type="http://schemas.openxmlformats.org/officeDocument/2006/relationships/slide" Target="/ppt/slides/slide10.xml" Id="R8477fd13f37f4274" /><Relationship Type="http://schemas.openxmlformats.org/officeDocument/2006/relationships/slide" Target="/ppt/slides/slide11.xml" Id="R37f9370a41f6409d" /><Relationship Type="http://schemas.openxmlformats.org/officeDocument/2006/relationships/slide" Target="/ppt/slides/slide12.xml" Id="R8e2932f518b14bc8" /><Relationship Type="http://schemas.openxmlformats.org/officeDocument/2006/relationships/slide" Target="/ppt/slides/slide13.xml" Id="Rbe418c1360ef4bfe" /><Relationship Type="http://schemas.openxmlformats.org/officeDocument/2006/relationships/slide" Target="/ppt/slides/slide14.xml" Id="R8447a8ec754a4248" /><Relationship Type="http://schemas.openxmlformats.org/officeDocument/2006/relationships/slide" Target="/ppt/slides/slide15.xml" Id="R3490657967f44425" /><Relationship Type="http://schemas.openxmlformats.org/officeDocument/2006/relationships/slide" Target="/ppt/slides/slide16.xml" Id="R1e1271690b3e4767" /><Relationship Type="http://schemas.openxmlformats.org/officeDocument/2006/relationships/slide" Target="/ppt/slides/slide17.xml" Id="Rd8dbd2c3db364740" /><Relationship Type="http://schemas.openxmlformats.org/officeDocument/2006/relationships/slide" Target="/ppt/slides/slide18.xml" Id="R6a2f1360ab50410c" /><Relationship Type="http://schemas.openxmlformats.org/officeDocument/2006/relationships/slide" Target="/ppt/slides/slide19.xml" Id="R75b4e2c418cf4a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8628580bcb4b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685b79cefb4e1a" /><Relationship Type="http://schemas.openxmlformats.org/officeDocument/2006/relationships/notesMaster" Target="/ppt/notesMasters/notesMaster1.xml" Id="Rf20b3740ff9b45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2f015027e94f7b" /><Relationship Type="http://schemas.openxmlformats.org/officeDocument/2006/relationships/notesMaster" Target="/ppt/notesMasters/notesMaster1.xml" Id="R500e273b0d454e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d8e14cfc2f4aca" /><Relationship Type="http://schemas.openxmlformats.org/officeDocument/2006/relationships/notesMaster" Target="/ppt/notesMasters/notesMaster1.xml" Id="R2ceb4cedc44c42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f24474f68a455e" /><Relationship Type="http://schemas.openxmlformats.org/officeDocument/2006/relationships/notesMaster" Target="/ppt/notesMasters/notesMaster1.xml" Id="Rcf72fcde6b7147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2d74ff58b94b50" /><Relationship Type="http://schemas.openxmlformats.org/officeDocument/2006/relationships/notesMaster" Target="/ppt/notesMasters/notesMaster1.xml" Id="R93335953be3940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d7981b09d149af" /><Relationship Type="http://schemas.openxmlformats.org/officeDocument/2006/relationships/notesMaster" Target="/ppt/notesMasters/notesMaster1.xml" Id="R6c4f842807b742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bc0b1d3fff4ef5" /><Relationship Type="http://schemas.openxmlformats.org/officeDocument/2006/relationships/notesMaster" Target="/ppt/notesMasters/notesMaster1.xml" Id="R2278917c871148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73bec478b847b2" /><Relationship Type="http://schemas.openxmlformats.org/officeDocument/2006/relationships/notesMaster" Target="/ppt/notesMasters/notesMaster1.xml" Id="Rff84fc39b0b742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e59a02455349f2" /><Relationship Type="http://schemas.openxmlformats.org/officeDocument/2006/relationships/notesMaster" Target="/ppt/notesMasters/notesMaster1.xml" Id="R3f7d2ee922a44b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717a9073964212" /><Relationship Type="http://schemas.openxmlformats.org/officeDocument/2006/relationships/notesMaster" Target="/ppt/notesMasters/notesMaster1.xml" Id="R93427514d3bf4b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b74e1926b9444a" /><Relationship Type="http://schemas.openxmlformats.org/officeDocument/2006/relationships/notesMaster" Target="/ppt/notesMasters/notesMaster1.xml" Id="R6bc7b46a23054a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8f856bad2c46bb" /><Relationship Type="http://schemas.openxmlformats.org/officeDocument/2006/relationships/notesMaster" Target="/ppt/notesMasters/notesMaster1.xml" Id="R3c3ce1e7d0704c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b0178fcd2c480d" /><Relationship Type="http://schemas.openxmlformats.org/officeDocument/2006/relationships/notesMaster" Target="/ppt/notesMasters/notesMaster1.xml" Id="R2c070fb6470546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03481020e5440d" /><Relationship Type="http://schemas.openxmlformats.org/officeDocument/2006/relationships/notesMaster" Target="/ppt/notesMasters/notesMaster1.xml" Id="R1bf55060028345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6a5b89414a4ebf" /><Relationship Type="http://schemas.openxmlformats.org/officeDocument/2006/relationships/notesMaster" Target="/ppt/notesMasters/notesMaster1.xml" Id="Rb24c389cb4e146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398866d19f42d0" /><Relationship Type="http://schemas.openxmlformats.org/officeDocument/2006/relationships/notesMaster" Target="/ppt/notesMasters/notesMaster1.xml" Id="Rf8b62eb4b7cb4f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6325d7f966040f4" /><Relationship Type="http://schemas.openxmlformats.org/officeDocument/2006/relationships/notesMaster" Target="/ppt/notesMasters/notesMaster1.xml" Id="R47eb2546271249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92163051004cba" /><Relationship Type="http://schemas.openxmlformats.org/officeDocument/2006/relationships/notesMaster" Target="/ppt/notesMasters/notesMaster1.xml" Id="R3b58f85fc652494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26bb78b02541cf" /><Relationship Type="http://schemas.openxmlformats.org/officeDocument/2006/relationships/notesMaster" Target="/ppt/notesMasters/notesMaster1.xml" Id="Rf6da63f8a50a47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开场：e by Eternalgy 是为团队打造的 AI。核心理念是把 AI 的工作能力与公司的资料、设定和工作流程绑定。本阶段产品以 Document Intelligence 为切入点。团队定位描述产品方向，当前 host 仍为单一操作员、默认公司。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痛点是公司信息常分散在旧文件、表单与不同成员手里。我们提出的产品命题是：每一次 AI 工作都应使用同一套经过确认的公司资料和规则。这是创始人的问题定义，不是对全部竞品的事实判断。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水坝原理是商业化比喻，而非经外部研究证实的行业结论：大模型能力像水源，使用门槛像拦水的坝。最后一里路是让公司实际搭建、成员实际使用并持续可靠完成工作。三个门槛为搭建、使用和稳定。这里的水源并无具体 model 性能比较，避免未经核实的模型名称与前沿基准。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快速搭建是目标，依靠公司资料 onboarding、常用业务数据结构和流程知识，并仍需要用户确认。零使用门槛是创始人的设计目标，具体实现为聊天入口和内勤助理使用方式，并非已验证的零培训或无限制可用性。稳定门槛由 scope、SOP、工具权限、数据库约束和测试来降低，不代表 harness 已达到零错误。细胞/器官比喻解释可组合性，整体还需要 orchestration、交接与集成验证。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core/tools.mjs:16-24; host.mjs:26-70;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 e 知道：公司的身份、客户与商品、模板、付款条件和流程规则。让 e 工作：查找记录、询问缺项、完成文件、保存关联数据。这里的公司理解指明确保存并在任务中调用的业务上下文，不是模型自动训练。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保留创始人的拟人学习比喻。用已有 invoice、quotation、company profile 和官网内容作为背景材料，提取信息后请用户确认，写入公司资料并预览模板。当前没有在此 repo 新增独立 OCR 或爬虫服务。官网与文件的可读性取决于 host 工具，不能承诺只看几张文件就完全自动完成设置。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创始人的判断是：很多公司虽有不同的行业语言，常见业务底层仍涉及客户、商品、文件、数据采集和工作规则。e 当前预置常用业务 schema，可通过字段、模板和 readiness rules 做公司配置。这不是任意自动设计数据库或支持所有行业的承诺。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本页以单次文件生成方式与 e 的业务流程方式做概念对比，并非声称全部其他 AI 只会 PDF。齿轮代表相互配合的现有结构：Schema 是预置的业务数据模型，DB 保存记录，Workflow 管理文档生命周期，SOP 与工具授权约束 specialist，Template 渲染文件。齿轮是概念关系图，不表示运行时物理依赖或自动创建任意 schema。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 Form Designer 可建立与发布表单，Form Clerk 可 review、标记 spam、summary 与 export。带语义绑定的客户表单和 order form 可进入客户记录及报价草稿流程。工程日报和每日打卡属于可配置采集场景，不代表完整工单、考勤或薪资系统。任意问题分析是方向，当前以已有统计、摘要和导出工具为准。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依据：core/forms.mjs:418-481,552-574,754-797,830-884,991-1060,1084-1178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图像来自 repo 中的 CRM dashboard preview，数值为演示数据，不能解读为 Eternalgy 的真实经营表现或客户业绩。代码实现了 outstanding、overdue、billed/collected、quotation pipeline 与 recent documents 等指标。本页用 UI 图像展示输出示例，避免宣称已验证的收益。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依据：core/dashboard.mjs:23-128; preview/crm-desktop.png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Orchestrator 接收需求并派发给 specialist。当前 DI registry 有七个 specialist。Record 与 Document agent 用于主要业务，Forms 与 Intake 用于采集和处理，Onboarding、Templates 和 DB 用于公司设置。所有 agent 共享业务记录，但工具按角色授权。Orchestrator 的外围实现属于 UIv2 host，不把当前子目录说成独立完整 host。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创始人的细胞比喻：聪明的人是否要求每个细胞都像人一样聪明？用红血球和大肠细胞作修辞，引出分工与组织产生整体能力。图像是艺术比喻，不对细胞是否具有认知能力作科学断言。e 的目标是把 specialist 限制在可检查的明确任务中，再通过 orchestration 和集成验证形成可靠系统。整体可靠性并不能只由单个单元可靠性推导。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依据：创始人本次提供的细胞级 AI 比喻；core/tools.mjs:16-24; host.mjs:26-70</a:t>
            </a:r>
          </a:p>
          <a:p xmlns:a="http://schemas.openxmlformats.org/drawingml/2006/main">
            <a:r>
              <a:t>图像：内置 ImageGen 生成的抽象架构比喻，并非生物学结构或实物照片。标题与文字保持原生可编辑。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本页为两种架构思路的概念对比，不将所有竞品归为单一模式。左侧表示持续扩大单个 AI 的职责，右侧表示 e 的 specialist architecture。资料、文件、模板、表单是当前 specialist 职责示例，不是声称每个微任务都有独立 agent。Minimal scope、SOP、工具权限与测试让单元更容易约束，但整体可靠性仍依赖调度、信息交接和系统测试。可靠性为目标，没有已验证的零错误率或速度数值。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依据：core/tools.mjs:16-24,729-737; core/actions.mjs:31-44; core/tools.mjs:16-24; host.mjs:26-70</a:t>
            </a:r>
          </a:p>
          <a:p xmlns:a="http://schemas.openxmlformats.org/drawingml/2006/main">
            <a:r>
              <a:t>图像：内置 ImageGen 生成的抽象架构比喻，并非生物学结构或实物照片。标题与文字保持原生可编辑。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本页表达产品的差异化设计选择，避免把一般 AI 都只做模板当作经市场研究证实的事实。公司上下文存在数据与配置中，后续任务可继续用。流程与权限是系统设计选择。不能保证任意任务、任意公司都能自动接入，也不能宣称自动创建任意数据库。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必须明确 today vs future。Repo 文档定义 MVP/working demo，host 单一操作员/default company。数据库 tenant-aware 不等于当前支持完整团队用户权限或 tenant switching。MyInvois 只有预备字段，未提交整合。自主判断文档类型、自动扩展 schema、任意问题分析属于待验证方向。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依据：checker/index.mjs:48-50; ONBOARDING.md; README.md; 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这是建议的试点设计，不是已存在的套餐、价格、期限或客户成果。选 quotation/invoice 或 form intake 其中一条，以现有文件与少量真实记录开始，在 owner 确认后运行。验收比较准备时间、返工、字段完整性和追踪便利程度，不宣称特定节省百分比。多成员使用取决于后续权限能力。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这是投资讨论框架，不是经验证的商业表现。切入场景是常见文件与数据采集，扩展依赖 specialist 和公司上下文。待验证项包括 onboarding 成本、真实任务可靠性、持续使用、付费意愿。没有 supplied traction、收入、市场规模、募资额、成本或估值，不能虚构。本 deck 是产品与技术命题介绍，并不是完整融资财务 deck。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结尾给两种听众一个清楚的下一步。客户：选一条真实流程做试点。投资者：共同评估 repeat workflow adoption 和实际交付可靠性。产品 slogan 保留创始人原文。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来源附录便于 Q&amp;A。所有代码依据均为本地 repo，非 public website。演示截图数据仅展示界面。产品理念来自创始人本次对话。自动 onboarding、任意 schema 和 team access 不混同现有实现。资料截至 2026-10-01。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</a:t>
            </a:r>
          </a:p>
          <a:p xmlns:a="http://schemas.openxmlformats.org/drawingml/2006/main">
            <a:r>
              <a:t>core/documents.mjs:210-339,353-392,467-493,504-549,568-602; core/actions.mjs:31-114</a:t>
            </a:r>
          </a:p>
          <a:p xmlns:a="http://schemas.openxmlformats.org/drawingml/2006/main">
            <a:r>
              <a:t>core/forms.mjs:418-481,552-574,754-797,830-884,991-1060,1084-1178</a:t>
            </a:r>
          </a:p>
          <a:p xmlns:a="http://schemas.openxmlformats.org/drawingml/2006/main">
            <a:r>
              <a:t>core/dashboard.mjs:23-128; preview/crm-desktop.png</a:t>
            </a:r>
          </a:p>
          <a:p xmlns:a="http://schemas.openxmlformats.org/drawingml/2006/main">
            <a:r>
              <a:t>ONBOARDING.md; core/company.mjs; README.md</a:t>
            </a:r>
          </a:p>
          <a:p xmlns:a="http://schemas.openxmlformats.org/drawingml/2006/main">
            <a:r>
              <a:t>checker/index.mjs:48-50; ONBOARDING.md;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0bda5acfee4a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6a8fad736e459e" /><Relationship Type="http://schemas.openxmlformats.org/officeDocument/2006/relationships/slideLayout" Target="/ppt/slideLayouts/slideLayout1.xml" Id="R6c05be26496342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05be26496342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a8d1d19ee4064" /><Relationship Type="http://schemas.openxmlformats.org/officeDocument/2006/relationships/image" Target="/ppt/media/image.png" Id="Rce555b3c417b4794" /><Relationship Type="http://schemas.openxmlformats.org/officeDocument/2006/relationships/notesSlide" Target="/ppt/notesSlides/notesSlide1.xml" Id="R513ac137e8ea47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c4c3a989840d2" /><Relationship Type="http://schemas.openxmlformats.org/officeDocument/2006/relationships/notesSlide" Target="/ppt/notesSlides/notesSlide2.xml" Id="R393054cd65834e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05f262e224a57" /><Relationship Type="http://schemas.openxmlformats.org/officeDocument/2006/relationships/notesSlide" Target="/ppt/notesSlides/notesSlide3.xml" Id="R7a551120bd3843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4b326fcf04735" /><Relationship Type="http://schemas.openxmlformats.org/officeDocument/2006/relationships/notesSlide" Target="/ppt/notesSlides/notesSlide4.xml" Id="Rf1840583b4fd41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a667299924ed6" /><Relationship Type="http://schemas.openxmlformats.org/officeDocument/2006/relationships/notesSlide" Target="/ppt/notesSlides/notesSlide5.xml" Id="Rc06a6106d6204e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592aa5f354113" /><Relationship Type="http://schemas.openxmlformats.org/officeDocument/2006/relationships/image" Target="/ppt/media/image2.png" Id="R3c9f870c0a174238" /><Relationship Type="http://schemas.openxmlformats.org/officeDocument/2006/relationships/notesSlide" Target="/ppt/notesSlides/notesSlide6.xml" Id="R0074cb5e1f4f40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d529cc07e4f29" /><Relationship Type="http://schemas.openxmlformats.org/officeDocument/2006/relationships/notesSlide" Target="/ppt/notesSlides/notesSlide7.xml" Id="R43d6d5deae7944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d783d1ae94b93" /><Relationship Type="http://schemas.openxmlformats.org/officeDocument/2006/relationships/image" Target="/ppt/media/image3.png" Id="Rea38777afdd54fe5" /><Relationship Type="http://schemas.openxmlformats.org/officeDocument/2006/relationships/notesSlide" Target="/ppt/notesSlides/notesSlide8.xml" Id="R1ea274cc6c944d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45733ef074b20" /><Relationship Type="http://schemas.openxmlformats.org/officeDocument/2006/relationships/notesSlide" Target="/ppt/notesSlides/notesSlide9.xml" Id="R21343b1b654e42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525e027d04d33" /><Relationship Type="http://schemas.openxmlformats.org/officeDocument/2006/relationships/image" Target="/ppt/media/image4.png" Id="Ra3234350ad7b4d91" /><Relationship Type="http://schemas.openxmlformats.org/officeDocument/2006/relationships/notesSlide" Target="/ppt/notesSlides/notesSlide10.xml" Id="Rc7e1f7f418a845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ba7d656d844fd" /><Relationship Type="http://schemas.openxmlformats.org/officeDocument/2006/relationships/notesSlide" Target="/ppt/notesSlides/notesSlide11.xml" Id="R050845a148644f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b60d235774d69" /><Relationship Type="http://schemas.openxmlformats.org/officeDocument/2006/relationships/image" Target="/ppt/media/image5.png" Id="Rc2db8b808a6f4474" /><Relationship Type="http://schemas.openxmlformats.org/officeDocument/2006/relationships/notesSlide" Target="/ppt/notesSlides/notesSlide12.xml" Id="R48a196c0a3ba47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0f37858e74bce" /><Relationship Type="http://schemas.openxmlformats.org/officeDocument/2006/relationships/image" Target="/ppt/media/image6.png" Id="R84a5fc50b8954055" /><Relationship Type="http://schemas.openxmlformats.org/officeDocument/2006/relationships/notesSlide" Target="/ppt/notesSlides/notesSlide13.xml" Id="R7ddfcad53e734f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53884b6ca49d8" /><Relationship Type="http://schemas.openxmlformats.org/officeDocument/2006/relationships/notesSlide" Target="/ppt/notesSlides/notesSlide14.xml" Id="Re9ac5de5328742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bbd9bd4eb4480" /><Relationship Type="http://schemas.openxmlformats.org/officeDocument/2006/relationships/notesSlide" Target="/ppt/notesSlides/notesSlide15.xml" Id="R52846d662f47474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455b2882348e5" /><Relationship Type="http://schemas.openxmlformats.org/officeDocument/2006/relationships/notesSlide" Target="/ppt/notesSlides/notesSlide16.xml" Id="R10ce7a9a20c94b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c8bdb2e294b9e" /><Relationship Type="http://schemas.openxmlformats.org/officeDocument/2006/relationships/notesSlide" Target="/ppt/notesSlides/notesSlide17.xml" Id="R81bf6015679a4b2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06500fa5747e4" /><Relationship Type="http://schemas.openxmlformats.org/officeDocument/2006/relationships/notesSlide" Target="/ppt/notesSlides/notesSlide18.xml" Id="R0c980178da3847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6d103f4cd4d39" /><Relationship Type="http://schemas.openxmlformats.org/officeDocument/2006/relationships/notesSlide" Target="/ppt/notesSlides/notesSlide19.xml" Id="Ra91c120c117b49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5E894-F12B-4D6A-ABBA-C11AE9C7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5BA8C-35C8-4BF9-BEB7-76B369BD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9854C-B15E-4310-9891-7B5CDC34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by eternalgy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61A10-84D5-4FF3-AAE3-EA15A764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为团队打造的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931D3-600E-4FCD-A1F2-C8282FDC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55b3c417b4794"/>
          <a:stretch xmlns:a="http://schemas.openxmlformats.org/drawingml/2006/main"/>
        </p:blipFill>
        <p:spPr>
          <a:xfrm xmlns:a="http://schemas.openxmlformats.org/drawingml/2006/main">
            <a:off x="8382000" y="1524000"/>
            <a:ext cx="276225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26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07D17-0762-404D-8DF6-020FB157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团队工作，需要共同的公司上下文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2388D-1DF8-4EA5-AF11-27113A3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707E4-9009-469E-82AA-19029D17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成员知道的事，</a:t>
            </a:r>
          </a:p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应成为 e 工作的依据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646B0-EF0A-4757-9872-2FD1AF49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公司资料散落在旧文件与成员经验中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重复解释背景，重复录入资料，交接依赖个人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团队需要延续前一次工作的记录与规则</a:t>
            </a:r>
          </a:p>
        </p:txBody>
      </p:sp>
    </p:spTree>
    <p:extLst>
      <p:ext uri="{BB962C8B-B14F-4D97-AF65-F5344CB8AC3E}">
        <p14:creationId xmlns:p14="http://schemas.microsoft.com/office/powerpoint/2010/main" val="755147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C1144-17D2-42E5-8583-68E40FC7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变现的水坝原理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B1BD9-B703-4E2D-8E86-B7A62117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82E5C-67A8-4A0F-8E9C-C937A364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能力像水源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使用门槛像一道坝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38FB5-DB2A-4CE1-AEC3-B76C98F4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搭建门槛       使用门槛       稳定门槛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5DA16-A14A-427A-920D-B4AF655D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变现的最后一里路：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公司搭得起，成员用得上，工作交付值得信任</a:t>
            </a:r>
          </a:p>
        </p:txBody>
      </p:sp>
    </p:spTree>
    <p:extLst>
      <p:ext uri="{BB962C8B-B14F-4D97-AF65-F5344CB8AC3E}">
        <p14:creationId xmlns:p14="http://schemas.microsoft.com/office/powerpoint/2010/main" val="517328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6CF93-608F-4D0E-8E44-41F9254B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e 围绕三道门槛设计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D48DF-3C52-4AF9-A9E0-4CE07395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04DFF-F97F-460C-8239-AF444973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搭建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F77DA-CCD8-465A-A99A-35317601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分享公司资料，配置已有流程与业务结构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3F8DC-D108-4920-A488-665E1272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579AC-6C52-44B6-A834-17EA6373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432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聊天就是入口，像交代内部 admin clerk 一样交代工作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7DAA6-F3A7-4963-A468-B26BA142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5DF4F-43B6-41E3-AAEB-65ACF92A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529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细胞级专职 AI 各守职责，以 SOP、权限与测试约束流程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FFB31-7C4C-4B70-A834-902CEC7B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设计目标：更快搭建、更少学习负担、更一致的交付</a:t>
            </a:r>
          </a:p>
        </p:txBody>
      </p:sp>
    </p:spTree>
    <p:extLst>
      <p:ext uri="{BB962C8B-B14F-4D97-AF65-F5344CB8AC3E}">
        <p14:creationId xmlns:p14="http://schemas.microsoft.com/office/powerpoint/2010/main" val="855204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03FC2-999F-45EF-A4C8-6C75A4E5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6EC86-D32D-4DCF-B34B-116C8E71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756B6-626B-48D5-9556-9268846C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知道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81E6D-9C7A-470E-87F2-359BCA22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公司是谁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客户与商品是什么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文件怎样做，流程怎样走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2C125-1E7D-4E49-8930-4A42B1FE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1C81C-88C1-49DB-A825-F0907999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按公司资料准备文件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发现缺项，先询问再处理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把成果与业务记录连接起来</a:t>
            </a:r>
          </a:p>
        </p:txBody>
      </p:sp>
    </p:spTree>
    <p:extLst>
      <p:ext uri="{BB962C8B-B14F-4D97-AF65-F5344CB8AC3E}">
        <p14:creationId xmlns:p14="http://schemas.microsoft.com/office/powerpoint/2010/main" val="4461556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4BC4A-6DCA-4B4C-AE93-21BF0E6D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像新同事一样，先了解公司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FD5CD-6CCF-44EF-AB97-78936382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3C208-B73A-4054-8EE3-6423B24A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09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旧文件与公司资料</a:t>
            </a:r>
          </a:p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成为入职材料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7B804-7348-4FAA-B5C6-7565D0D1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Invoice / Quotation</a:t>
            </a:r>
          </a:p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Company Profile / 官网内容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5F5D6-9775-4A29-B181-9A821566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238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读取资料，提取核心信息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用户确认后保存公司设定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预览模板，核对实际工作结果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f870c0a174238"/>
          <a:stretch xmlns:a="http://schemas.openxmlformats.org/drawingml/2006/main"/>
        </p:blipFill>
        <p:spPr>
          <a:xfrm xmlns:a="http://schemas.openxmlformats.org/drawingml/2006/main">
            <a:off x="8117765" y="1695450"/>
            <a:ext cx="3081171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60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FC8C9-6827-43EE-9A50-FDD82C9A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天下武功，殊途同归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F5530-FC8E-49FF-8469-FC7ADC95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BC9D0-BA2A-4567-B57D-0CB856F1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不同公司的工作，</a:t>
            </a:r>
          </a:p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共享许多相同的业务结构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929AE-C9DA-44DE-9DE3-CF715870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客户与联系人      产品与服务      业务文件</a:t>
            </a:r>
          </a:p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表单与提交记录    公司设定与流程规则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E8E97-A7DA-4239-B5B3-57B0BB43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e 用常用数据结构承接这些工作，再适应公司的字段、模板与流程</a:t>
            </a:r>
          </a:p>
        </p:txBody>
      </p:sp>
    </p:spTree>
    <p:extLst>
      <p:ext uri="{BB962C8B-B14F-4D97-AF65-F5344CB8AC3E}">
        <p14:creationId xmlns:p14="http://schemas.microsoft.com/office/powerpoint/2010/main" val="10906225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AEFD79-756F-47C3-B24E-B0F417AB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同一个开票请求，两种处理方式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5014F-CEF7-4059-99F8-3BA0C9C4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3BF0A-B1C0-4279-9E01-84F62A44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“Create 1 invoice for Acme…”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801D0-ADA6-457B-B9D4-4F0A8181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单次文件生成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8777afdd54fe5"/>
          <a:stretch xmlns:a="http://schemas.openxmlformats.org/drawingml/2006/main"/>
        </p:blipFill>
        <p:spPr>
          <a:xfrm xmlns:a="http://schemas.openxmlformats.org/drawingml/2006/main">
            <a:off x="1321510" y="3000375"/>
            <a:ext cx="1728954" cy="2447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4B079-DE9C-48E8-A0E7-B6BFC0F0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340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 PDF Invoice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6136C-8502-4012-AE81-A02B04F8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39152-8FFA-448C-934A-E86EE58F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764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e：按业务流程处理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8C9FE-8DCF-4B7A-B199-1D21DD28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48500" y="3476625"/>
            <a:ext cx="13811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1F95B-4FF8-450F-A2CF-27A34A6E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29625" y="3476625"/>
            <a:ext cx="13811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BE242-A2F4-4269-99AE-8C81DE4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500" y="4143375"/>
            <a:ext cx="13811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A2737-08C5-4646-A9CC-FAC8A63D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29625" y="4143375"/>
            <a:ext cx="13811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34564-F8AD-4369-8D68-56E3E812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AD3D7-7AE6-48A7-B39D-850D20F9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530" y="3068955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9BDBA-6AF1-4E2B-98E3-5FE5A857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130" y="3267075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FBC75-56F8-491D-B34C-250171AA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9875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8D96C-16F3-421B-B233-A606D779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068955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FC04F-B854-4D5B-978C-3118385C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80" y="3267075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3FDA1-82E1-4ED1-94F8-C63EDF34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30941-10B7-495C-AC70-66FB5797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530" y="45643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DCEDF-0DE0-437E-96EC-7600DF17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130" y="4762500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SOP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工作规范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FA8ADB-AFFF-4C1D-B09D-ABAADFBE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05300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AD848-8235-4529-9164-3ABD4F78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5643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D1D765-1C7F-41AF-857D-D5A331F5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80" y="4762500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Template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435369-8D2D-41EC-B1BC-295D914D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43275"/>
            <a:ext cx="1714500" cy="1714500"/>
          </a:xfrm>
          <a:custGeom xmlns:a="http://schemas.openxmlformats.org/drawingml/2006/main">
            <a:pathLst>
              <a:path w="1714500" h="1714500">
                <a:moveTo>
                  <a:pt x="857250" y="17145"/>
                </a:moveTo>
                <a:lnTo>
                  <a:pt x="966906" y="24332"/>
                </a:lnTo>
                <a:lnTo>
                  <a:pt x="1036967" y="186538"/>
                </a:lnTo>
                <a:lnTo>
                  <a:pt x="1122975" y="215733"/>
                </a:lnTo>
                <a:lnTo>
                  <a:pt x="1277303" y="129698"/>
                </a:lnTo>
                <a:lnTo>
                  <a:pt x="1368674" y="190750"/>
                </a:lnTo>
                <a:lnTo>
                  <a:pt x="1348246" y="366254"/>
                </a:lnTo>
                <a:lnTo>
                  <a:pt x="1408133" y="434543"/>
                </a:lnTo>
                <a:lnTo>
                  <a:pt x="1584802" y="437198"/>
                </a:lnTo>
                <a:lnTo>
                  <a:pt x="1633406" y="535756"/>
                </a:lnTo>
                <a:lnTo>
                  <a:pt x="1527962" y="677533"/>
                </a:lnTo>
                <a:lnTo>
                  <a:pt x="1545682" y="766616"/>
                </a:lnTo>
                <a:lnTo>
                  <a:pt x="1697355" y="857250"/>
                </a:lnTo>
                <a:lnTo>
                  <a:pt x="1690168" y="966906"/>
                </a:lnTo>
                <a:lnTo>
                  <a:pt x="1527962" y="1036967"/>
                </a:lnTo>
                <a:lnTo>
                  <a:pt x="1498767" y="1122975"/>
                </a:lnTo>
                <a:lnTo>
                  <a:pt x="1584802" y="1277303"/>
                </a:lnTo>
                <a:lnTo>
                  <a:pt x="1523750" y="1368674"/>
                </a:lnTo>
                <a:lnTo>
                  <a:pt x="1348246" y="1348246"/>
                </a:lnTo>
                <a:lnTo>
                  <a:pt x="1279957" y="1408133"/>
                </a:lnTo>
                <a:lnTo>
                  <a:pt x="1277303" y="1584802"/>
                </a:lnTo>
                <a:lnTo>
                  <a:pt x="1178744" y="1633406"/>
                </a:lnTo>
                <a:lnTo>
                  <a:pt x="1036967" y="1527962"/>
                </a:lnTo>
                <a:lnTo>
                  <a:pt x="947884" y="1545682"/>
                </a:lnTo>
                <a:lnTo>
                  <a:pt x="857250" y="1697355"/>
                </a:lnTo>
                <a:lnTo>
                  <a:pt x="747594" y="1690168"/>
                </a:lnTo>
                <a:lnTo>
                  <a:pt x="677533" y="1527962"/>
                </a:lnTo>
                <a:lnTo>
                  <a:pt x="591525" y="1498767"/>
                </a:lnTo>
                <a:lnTo>
                  <a:pt x="437197" y="1584802"/>
                </a:lnTo>
                <a:lnTo>
                  <a:pt x="345826" y="1523750"/>
                </a:lnTo>
                <a:lnTo>
                  <a:pt x="366254" y="1348246"/>
                </a:lnTo>
                <a:lnTo>
                  <a:pt x="306367" y="1279957"/>
                </a:lnTo>
                <a:lnTo>
                  <a:pt x="129698" y="1277303"/>
                </a:lnTo>
                <a:lnTo>
                  <a:pt x="81094" y="1178744"/>
                </a:lnTo>
                <a:lnTo>
                  <a:pt x="186538" y="1036967"/>
                </a:lnTo>
                <a:lnTo>
                  <a:pt x="168818" y="947884"/>
                </a:lnTo>
                <a:lnTo>
                  <a:pt x="17145" y="857250"/>
                </a:lnTo>
                <a:lnTo>
                  <a:pt x="24332" y="747594"/>
                </a:lnTo>
                <a:lnTo>
                  <a:pt x="186538" y="677533"/>
                </a:lnTo>
                <a:lnTo>
                  <a:pt x="215733" y="591525"/>
                </a:lnTo>
                <a:lnTo>
                  <a:pt x="129698" y="437197"/>
                </a:lnTo>
                <a:lnTo>
                  <a:pt x="190750" y="345826"/>
                </a:lnTo>
                <a:lnTo>
                  <a:pt x="366254" y="366254"/>
                </a:lnTo>
                <a:lnTo>
                  <a:pt x="434543" y="306367"/>
                </a:lnTo>
                <a:lnTo>
                  <a:pt x="437197" y="129698"/>
                </a:lnTo>
                <a:lnTo>
                  <a:pt x="535756" y="81094"/>
                </a:lnTo>
                <a:lnTo>
                  <a:pt x="677533" y="186538"/>
                </a:lnTo>
                <a:lnTo>
                  <a:pt x="766616" y="168818"/>
                </a:lnTo>
                <a:close/>
              </a:path>
            </a:pathLst>
          </a:cu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0F57EC-8645-4D04-A808-66A57731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365" y="3634740"/>
            <a:ext cx="1131570" cy="1131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359A43-E9B0-4459-857C-1D58F634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1915" y="3857625"/>
            <a:ext cx="147447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8CBF27-9A16-4B3D-B2F6-9BA2909B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9531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查记录、补缺项、发行 PDF、保存关联、追踪付款</a:t>
            </a:r>
          </a:p>
        </p:txBody>
      </p:sp>
    </p:spTree>
    <p:extLst>
      <p:ext uri="{BB962C8B-B14F-4D97-AF65-F5344CB8AC3E}">
        <p14:creationId xmlns:p14="http://schemas.microsoft.com/office/powerpoint/2010/main" val="13830194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1EB35-2B40-41DD-81AD-68504D1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Form 收集数据，e 延续后面的工作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5B4C3-B840-49C6-9105-89B1BBC5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9E627-4716-41D9-8D7E-8965C14F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工程报告 / 客户订单 / 问卷 / 每日打卡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81F8C-12F7-4EB6-9E91-D0725646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143125" cy="16192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6F124-E30D-43FC-A91E-7C178438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Form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收集与校验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09ED7-8CA2-40B2-BCC3-F1EE86E4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00375"/>
            <a:ext cx="2143125" cy="1619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758F7-C6FE-4CCE-91BB-FFC2097E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773B2-D151-4B6D-85B3-5B524AC2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0375"/>
            <a:ext cx="2143125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FE3B0-F172-404B-BFF3-EB4DC6E8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专职 AI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审阅与处理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9D673-1051-4ED0-BD6C-52B6E574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143125" cy="16192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EC04F-E514-4D38-8C19-07294503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工作成果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 / 摘要 / CSV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828925" y="3810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4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715000" y="3810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8" idx="6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01075" y="381000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274E3-49B1-4DE3-B959-1EBC18A9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先把信息收进来，再关联客户、文件与下一步工作</a:t>
            </a:r>
          </a:p>
        </p:txBody>
      </p:sp>
    </p:spTree>
    <p:extLst>
      <p:ext uri="{BB962C8B-B14F-4D97-AF65-F5344CB8AC3E}">
        <p14:creationId xmlns:p14="http://schemas.microsoft.com/office/powerpoint/2010/main" val="21352821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A8203-D75A-4A2A-993A-3BE1B6C2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业务记录，让团队看见工作状态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F448C-E6AF-4635-80CB-BDDFB0A0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8510F-18F2-40BD-BDB7-6CAE7DD5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238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哪些款项未收？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invoice 已逾期？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quotation 待跟进？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89D5C-9C9B-4D8E-8DB7-CC1A5B26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42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文件背后的数据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可以汇总成业务概览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34350ad7b4d91"/>
          <a:stretch xmlns:a="http://schemas.openxmlformats.org/drawingml/2006/main"/>
        </p:blipFill>
        <p:spPr>
          <a:xfrm xmlns:a="http://schemas.openxmlformats.org/drawingml/2006/main">
            <a:off x="6858624" y="1771650"/>
            <a:ext cx="4666002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6FCC1-8A93-4924-838F-CDBBAC5D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857875"/>
            <a:ext cx="461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现有界面预览，图中金额与数量为演示数据</a:t>
            </a:r>
          </a:p>
        </p:txBody>
      </p:sp>
    </p:spTree>
    <p:extLst>
      <p:ext uri="{BB962C8B-B14F-4D97-AF65-F5344CB8AC3E}">
        <p14:creationId xmlns:p14="http://schemas.microsoft.com/office/powerpoint/2010/main" val="13977256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94AEAC-BD46-437B-B766-E41613E1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 Orchestrator，一组专职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23531-9C41-4E44-9CD4-12647412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D9DF1-0837-4FA9-9EA8-EDDD2FA9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400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64409-8CA1-4D9D-BBBB-BC75F1DE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52600"/>
            <a:ext cx="3848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  <a:p xmlns:a="http://schemas.openxmlformats.org/drawingml/2006/main">
            <a:pPr algn="ctr">
              <a:def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rPr>
              <a:t>理解需求，安排工作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47643-A233-47AB-A26E-D7B6C218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0555C-67D0-4DA9-AE36-CD01460A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3B990-CA06-4EC6-B000-C9FF3B96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166CF-B01D-479A-A35A-466E8B68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759BF-A13A-4880-BC4A-D33E17D2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7B01E-48F9-416D-8A9C-9104F581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47508-C862-409C-8363-2DA4CC67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69359-4918-49B5-9605-ABC46A45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55B7E-0C83-472B-B1AB-280C83A2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3D992-5A0A-4899-B2EA-B613CF21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B2796-D1A2-45FF-B072-1F44D248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519C9-4868-43FE-A6E3-C9EA40B6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51A87-A02F-4B40-BF7A-AD8872F4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5E3CF-45DD-4B68-ABB7-E2F962C9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9AEED-7E80-4F04-9548-DEB621B4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5F5620-82EA-4800-B709-CC239381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50358-C476-4A9C-B0E9-4707990B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3D2B6-FE8D-4DFC-B5A2-F16EABEA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74809-E673-4273-98A4-B68A41EF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0BB0D8-A103-4DF2-8589-31BDCDA5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87EEDF-3744-4495-9725-71A978A4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66FEE8-4853-4B5D-B3D6-C48FDD66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B3391F-BF12-4C20-8CA8-27F352DD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746A1E-1ED3-4461-A76B-22A32EFB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769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每位 specialist 只使用获授权的工具，共享同一套业务记录</a:t>
            </a:r>
          </a:p>
        </p:txBody>
      </p:sp>
    </p:spTree>
    <p:extLst>
      <p:ext uri="{BB962C8B-B14F-4D97-AF65-F5344CB8AC3E}">
        <p14:creationId xmlns:p14="http://schemas.microsoft.com/office/powerpoint/2010/main" val="20921678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b8b808a6f447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7EA4F-D3C5-4E3E-BA9B-1A17555F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Stupid = Smart：细胞级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77132-9F8E-4D63-B706-001AD3A3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F8FAB-817D-4792-9E94-FA8E0A30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04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聪明的人，</a:t>
            </a:r>
          </a:p>
          <a:p xmlns:a="http://schemas.openxmlformats.org/drawingml/2006/main">
            <a:pPr>
              <a:defRPr sz="36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需要每个细胞都聪明吗？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64297-1C33-44DD-9C65-160555FA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“聪明的红血球？”</a:t>
            </a:r>
          </a:p>
          <a:p xmlns:a="http://schemas.openxmlformats.org/drawingml/2006/main">
            <a:pPr>
              <a:defRPr sz="25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“聪明的大肠细胞？”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CECCD-6B62-43FE-8590-0EBCF61F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整体的能力，来自分工与协作</a:t>
            </a:r>
          </a:p>
        </p:txBody>
      </p:sp>
    </p:spTree>
    <p:extLst>
      <p:ext uri="{BB962C8B-B14F-4D97-AF65-F5344CB8AC3E}">
        <p14:creationId xmlns:p14="http://schemas.microsoft.com/office/powerpoint/2010/main" val="1379318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5fc50b895405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AB0E3-AAF5-40B7-AA0A-25FBF805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聪明的系统，可以由简单的单元组成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107D9-327F-4CB1-BA7F-8247267B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AFA3A-68D7-415F-94B8-F4A32E02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668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扩大一个 AI 的职责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8608B-ED8A-4253-BE93-A8DB8AA3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668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e：组合细胞级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2BC17-3B94-49E6-9076-6DA8150B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95600"/>
            <a:ext cx="257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一个 AI</a:t>
            </a:r>
          </a:p>
          <a:p xmlns:a="http://schemas.openxmlformats.org/drawingml/2006/main">
            <a:pPr algn="ctr">
              <a:defRPr sz="23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包办所有工作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53537-64D5-48B9-BDB3-F9BE70B7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2861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786B5-74E0-445B-A2E6-DB7D4918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152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F1EAE-9F54-4C3F-9C35-53EB600E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52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D3324-AC79-43D8-ADE4-F9019C0E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1957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A1D00-DB6A-43F4-9AB7-DD8FCF9F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1957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26DA0-E1EF-4F4F-A211-D1F2D8DE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52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BF9D6-AE02-4702-935E-FB4BE21A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97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职责越广，验证组合越多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B0B6E-7853-4573-99D9-F7EF7F6F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819775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每个单元：明确任务、SOP、权限与测试</a:t>
            </a:r>
          </a:p>
        </p:txBody>
      </p:sp>
    </p:spTree>
    <p:extLst>
      <p:ext uri="{BB962C8B-B14F-4D97-AF65-F5344CB8AC3E}">
        <p14:creationId xmlns:p14="http://schemas.microsoft.com/office/powerpoint/2010/main" val="21407188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ACC8D-2859-4DD1-85BB-B2E04B0E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公司上下文，连接每一次工作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D003E-CC43-4356-85EB-B0953D46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EEA08-8E91-483B-A18E-EA69C128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公司资料决定内容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8AF8B-873C-48DC-8AF2-BADE25BB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公司名称、客户、价格与付款条件来自已保存记录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3EBAA-F1A9-4EBD-BBA6-D603F244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公司规则决定流程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30C87-6DA1-48F7-AC29-73064B2A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哪些字段必须补齐、何时发行、谁能使用哪些工具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D7498-3AD8-4D01-ABA2-B365500F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这套上下文可以延续到下一张文件与下一次任务</a:t>
            </a:r>
          </a:p>
        </p:txBody>
      </p:sp>
    </p:spTree>
    <p:extLst>
      <p:ext uri="{BB962C8B-B14F-4D97-AF65-F5344CB8AC3E}">
        <p14:creationId xmlns:p14="http://schemas.microsoft.com/office/powerpoint/2010/main" val="6669185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D8204-0085-4393-8F83-EB5097D5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Document Intelligence 是当前切入点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1E8DD-191E-41A9-91AF-121A7BDF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B08EE-C1DE-4709-BC54-F9E70699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现有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FFF26-A32C-4691-AFDA-7B29554C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客户、商品与文档流程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付款记录与业务概览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表单、模板与公司规则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数据库按 tenant 分隔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CDF71-B672-4027-9D6C-9164EDFB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下一步产品方向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4FC93-B753-404D-8599-0C0F741A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多人账号与团队权限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更多重复业务流程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更自动化的资料 onboarding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更广泛的业务问答分析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E4F6A-9E57-4770-81BD-2BB80C36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当前 host：单一操作员、默认公司。MyInvois 尚未整合提交。</a:t>
            </a:r>
          </a:p>
        </p:txBody>
      </p:sp>
    </p:spTree>
    <p:extLst>
      <p:ext uri="{BB962C8B-B14F-4D97-AF65-F5344CB8AC3E}">
        <p14:creationId xmlns:p14="http://schemas.microsoft.com/office/powerpoint/2010/main" val="14534879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E9372-499C-4A6D-AE4B-00B257C1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客户试点：先完成一条真实工作流程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4C02C-B907-4C5B-A7A1-47D79665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C6EEB-0F5A-42E0-AA09-52539B6A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已有文件与规则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CE5EC-1645-45BE-BDE8-5FECD88C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用你的 quotation、invoice、客户与商品资料配置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F44AC-A877-4FA9-8ACE-DD39F9AB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真实工作与明确验收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FA0C3-7CFE-482E-9D7B-6CFCA347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完成一次准备、发行与付款记录，或一次表单采集与处理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比较准备时间、返工次数和数据完整性</a:t>
            </a:r>
          </a:p>
        </p:txBody>
      </p:sp>
    </p:spTree>
    <p:extLst>
      <p:ext uri="{BB962C8B-B14F-4D97-AF65-F5344CB8AC3E}">
        <p14:creationId xmlns:p14="http://schemas.microsoft.com/office/powerpoint/2010/main" val="1805791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E56EF-16A2-4871-8D15-C8F9A35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投资命题：从重复工作验证团队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8B680-3405-45DD-AEFC-3945867B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28708-D552-4F6F-95F8-3137A31C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切入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63332-5031-4391-B898-FDF6EC73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Invoice、quotation 与表单等重复工作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30F36-1293-4202-B74C-6C2139F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扩展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20A21-9639-406A-B044-BD9F53CE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9925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围绕共同公司上下文，增加可验证的 specialist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09D40-2CA4-4EE0-B170-0071DB41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3CB9C-E9CF-4C67-BFAF-09C8560E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三道门槛是否降低，是否带来持续使用与付费意愿</a:t>
            </a:r>
          </a:p>
        </p:txBody>
      </p:sp>
    </p:spTree>
    <p:extLst>
      <p:ext uri="{BB962C8B-B14F-4D97-AF65-F5344CB8AC3E}">
        <p14:creationId xmlns:p14="http://schemas.microsoft.com/office/powerpoint/2010/main" val="20170653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2D7DD-2132-4DE6-9864-6D466AEF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1CA05-E8FD-42BE-8E3E-35A8165E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E22D2-8B5C-441D-8EEA-A7107D80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</a:t>
            </a:r>
          </a:p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4E3D5-352F-4A7C-951E-A72E36C2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客户：带一条真实工作流程来试点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投资者：一起验证团队 AI 的产品路径</a:t>
            </a:r>
          </a:p>
        </p:txBody>
      </p:sp>
    </p:spTree>
    <p:extLst>
      <p:ext uri="{BB962C8B-B14F-4D97-AF65-F5344CB8AC3E}">
        <p14:creationId xmlns:p14="http://schemas.microsoft.com/office/powerpoint/2010/main" val="8665332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CF744-2FF4-401A-8BD4-EBEBDA86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资料与产品边界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72715-02F2-45D6-AC3E-83BEE3E5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C7316-006A-4CDF-B922-92A3A186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产品理念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AF494-05E2-4B2C-BE88-3C79739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288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创始人提供的六个核心理念与团队 AI 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759DC-8A9E-4E7C-AB56-54C7254A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实现依据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B55FD-DA4E-4D74-9D76-D01E7FE3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7715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README.md / ONBOARDING.md / host.mjs</a:t>
            </a:r>
          </a:p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core/tools.mjs / documents.mjs / forms.mjs / dashboard.mjs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047CA-BCB1-4F46-9464-0994E4F0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7A930-A0C2-4FEB-A64D-65CF1A89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771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代码与现有预览支持功能说明，不代表部署验收或客户业绩</a:t>
            </a:r>
          </a:p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截图为演示数据，可靠性和商业指标需在试点中验证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7AD40-4321-467B-B4DE-A88F412B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资料日期：2026-10-01</a:t>
            </a:r>
          </a:p>
        </p:txBody>
      </p:sp>
    </p:spTree>
    <p:extLst>
      <p:ext uri="{BB962C8B-B14F-4D97-AF65-F5344CB8AC3E}">
        <p14:creationId xmlns:p14="http://schemas.microsoft.com/office/powerpoint/2010/main" val="1306060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2026-10-01T08:22:48.4710000Z</dcterms:created>
  <dcterms:modified xsi:type="dcterms:W3CDTF">2026-10-01T08:22:48.4710000Z</dcterms:modified>
</coreProperties>
</file>