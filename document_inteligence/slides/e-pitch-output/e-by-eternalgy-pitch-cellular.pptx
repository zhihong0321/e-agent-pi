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372c159be648c2" /><Relationship Type="http://schemas.openxmlformats.org/officeDocument/2006/relationships/extended-properties" Target="/docProps/app.xml" Id="Ra681f3d6b4344e32" /><Relationship Type="http://schemas.openxmlformats.org/officeDocument/2006/relationships/officeDocument" Target="/ppt/presentation.xml" Id="R887f2a4a8f53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6718a6807b4209"/>
  </p:sldMasterIdLst>
  <p:notesMasterIdLst>
    <p:notesMasterId xmlns:r="http://schemas.openxmlformats.org/officeDocument/2006/relationships" r:id="Rafbd72a1b14e4278"/>
  </p:notesMasterIdLst>
  <p:sldIdLst>
    <p:sldId xmlns:r="http://schemas.openxmlformats.org/officeDocument/2006/relationships" id="256" r:id="Re8d8404f4597413f"/>
    <p:sldId xmlns:r="http://schemas.openxmlformats.org/officeDocument/2006/relationships" id="257" r:id="Rc0b9316da6504c61"/>
    <p:sldId xmlns:r="http://schemas.openxmlformats.org/officeDocument/2006/relationships" id="258" r:id="R66a06355ba78439e"/>
    <p:sldId xmlns:r="http://schemas.openxmlformats.org/officeDocument/2006/relationships" id="259" r:id="Rbb113eb9160d465e"/>
    <p:sldId xmlns:r="http://schemas.openxmlformats.org/officeDocument/2006/relationships" id="260" r:id="R54092b39d1a24f40"/>
    <p:sldId xmlns:r="http://schemas.openxmlformats.org/officeDocument/2006/relationships" id="261" r:id="Re96a2b76e7cd4d82"/>
    <p:sldId xmlns:r="http://schemas.openxmlformats.org/officeDocument/2006/relationships" id="262" r:id="R819f349c90cf4b1a"/>
    <p:sldId xmlns:r="http://schemas.openxmlformats.org/officeDocument/2006/relationships" id="263" r:id="R28799361d6814f3a"/>
    <p:sldId xmlns:r="http://schemas.openxmlformats.org/officeDocument/2006/relationships" id="264" r:id="R332f5f7ad94047cd"/>
    <p:sldId xmlns:r="http://schemas.openxmlformats.org/officeDocument/2006/relationships" id="265" r:id="R290cb9c462d54ebb"/>
    <p:sldId xmlns:r="http://schemas.openxmlformats.org/officeDocument/2006/relationships" id="266" r:id="Rcdc9b1d819b845b5"/>
    <p:sldId xmlns:r="http://schemas.openxmlformats.org/officeDocument/2006/relationships" id="267" r:id="R3ec31665ffcb43f1"/>
    <p:sldId xmlns:r="http://schemas.openxmlformats.org/officeDocument/2006/relationships" id="268" r:id="R00a14e26ce084f53"/>
    <p:sldId xmlns:r="http://schemas.openxmlformats.org/officeDocument/2006/relationships" id="269" r:id="Rfc0558398e794713"/>
    <p:sldId xmlns:r="http://schemas.openxmlformats.org/officeDocument/2006/relationships" id="270" r:id="R4411261660c741db"/>
    <p:sldId xmlns:r="http://schemas.openxmlformats.org/officeDocument/2006/relationships" id="271" r:id="R87546ba66a0741eb"/>
    <p:sldId xmlns:r="http://schemas.openxmlformats.org/officeDocument/2006/relationships" id="272" r:id="Rc99f165541ae4a7f"/>
    <p:sldId xmlns:r="http://schemas.openxmlformats.org/officeDocument/2006/relationships" id="273" r:id="R34877128ce5d4d95"/>
    <p:sldId xmlns:r="http://schemas.openxmlformats.org/officeDocument/2006/relationships" id="274" r:id="Ra4749ca1234644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e3db84753c4d1d" /><Relationship Type="http://schemas.openxmlformats.org/officeDocument/2006/relationships/slideMaster" Target="/ppt/slideMasters/slideMaster1.xml" Id="R456718a6807b4209" /><Relationship Type="http://schemas.openxmlformats.org/officeDocument/2006/relationships/notesMaster" Target="/ppt/notesMasters/notesMaster1.xml" Id="Rafbd72a1b14e4278" /><Relationship Type="http://schemas.openxmlformats.org/officeDocument/2006/relationships/presProps" Target="/ppt/presProps.xml" Id="Re2877b7a5fe14bba" /><Relationship Type="http://schemas.openxmlformats.org/officeDocument/2006/relationships/tableStyles" Target="/ppt/tableStyles.xml" Id="R646c34eff91b4c7d" /><Relationship Type="http://schemas.openxmlformats.org/officeDocument/2006/relationships/slide" Target="/ppt/slides/slide1.xml" Id="Re8d8404f4597413f" /><Relationship Type="http://schemas.openxmlformats.org/officeDocument/2006/relationships/slide" Target="/ppt/slides/slide2.xml" Id="Rc0b9316da6504c61" /><Relationship Type="http://schemas.openxmlformats.org/officeDocument/2006/relationships/slide" Target="/ppt/slides/slide3.xml" Id="R66a06355ba78439e" /><Relationship Type="http://schemas.openxmlformats.org/officeDocument/2006/relationships/slide" Target="/ppt/slides/slide4.xml" Id="Rbb113eb9160d465e" /><Relationship Type="http://schemas.openxmlformats.org/officeDocument/2006/relationships/slide" Target="/ppt/slides/slide5.xml" Id="R54092b39d1a24f40" /><Relationship Type="http://schemas.openxmlformats.org/officeDocument/2006/relationships/slide" Target="/ppt/slides/slide6.xml" Id="Re96a2b76e7cd4d82" /><Relationship Type="http://schemas.openxmlformats.org/officeDocument/2006/relationships/slide" Target="/ppt/slides/slide7.xml" Id="R819f349c90cf4b1a" /><Relationship Type="http://schemas.openxmlformats.org/officeDocument/2006/relationships/slide" Target="/ppt/slides/slide8.xml" Id="R28799361d6814f3a" /><Relationship Type="http://schemas.openxmlformats.org/officeDocument/2006/relationships/slide" Target="/ppt/slides/slide9.xml" Id="R332f5f7ad94047cd" /><Relationship Type="http://schemas.openxmlformats.org/officeDocument/2006/relationships/slide" Target="/ppt/slides/slide10.xml" Id="R290cb9c462d54ebb" /><Relationship Type="http://schemas.openxmlformats.org/officeDocument/2006/relationships/slide" Target="/ppt/slides/slide11.xml" Id="Rcdc9b1d819b845b5" /><Relationship Type="http://schemas.openxmlformats.org/officeDocument/2006/relationships/slide" Target="/ppt/slides/slide12.xml" Id="R3ec31665ffcb43f1" /><Relationship Type="http://schemas.openxmlformats.org/officeDocument/2006/relationships/slide" Target="/ppt/slides/slide13.xml" Id="R00a14e26ce084f53" /><Relationship Type="http://schemas.openxmlformats.org/officeDocument/2006/relationships/slide" Target="/ppt/slides/slide14.xml" Id="Rfc0558398e794713" /><Relationship Type="http://schemas.openxmlformats.org/officeDocument/2006/relationships/slide" Target="/ppt/slides/slide15.xml" Id="R4411261660c741db" /><Relationship Type="http://schemas.openxmlformats.org/officeDocument/2006/relationships/slide" Target="/ppt/slides/slide16.xml" Id="R87546ba66a0741eb" /><Relationship Type="http://schemas.openxmlformats.org/officeDocument/2006/relationships/slide" Target="/ppt/slides/slide17.xml" Id="Rc99f165541ae4a7f" /><Relationship Type="http://schemas.openxmlformats.org/officeDocument/2006/relationships/slide" Target="/ppt/slides/slide18.xml" Id="R34877128ce5d4d95" /><Relationship Type="http://schemas.openxmlformats.org/officeDocument/2006/relationships/slide" Target="/ppt/slides/slide19.xml" Id="Ra4749ca1234644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9cbfa454a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1d90828af24dbf" /><Relationship Type="http://schemas.openxmlformats.org/officeDocument/2006/relationships/notesMaster" Target="/ppt/notesMasters/notesMaster1.xml" Id="R31a9158b362f4c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24cdafec9a4fa9" /><Relationship Type="http://schemas.openxmlformats.org/officeDocument/2006/relationships/notesMaster" Target="/ppt/notesMasters/notesMaster1.xml" Id="R7d36b222828a47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641090e6a841aa" /><Relationship Type="http://schemas.openxmlformats.org/officeDocument/2006/relationships/notesMaster" Target="/ppt/notesMasters/notesMaster1.xml" Id="R162729e2f7ea4a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0983b78a24d4b" /><Relationship Type="http://schemas.openxmlformats.org/officeDocument/2006/relationships/notesMaster" Target="/ppt/notesMasters/notesMaster1.xml" Id="R424645f6a3c6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11ef7fa0834480" /><Relationship Type="http://schemas.openxmlformats.org/officeDocument/2006/relationships/notesMaster" Target="/ppt/notesMasters/notesMaster1.xml" Id="R5637108373e249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653acfecff45a0" /><Relationship Type="http://schemas.openxmlformats.org/officeDocument/2006/relationships/notesMaster" Target="/ppt/notesMasters/notesMaster1.xml" Id="R2306f654bfe04f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467756639c4c95" /><Relationship Type="http://schemas.openxmlformats.org/officeDocument/2006/relationships/notesMaster" Target="/ppt/notesMasters/notesMaster1.xml" Id="R36b567ab8de843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d956c1849b445e" /><Relationship Type="http://schemas.openxmlformats.org/officeDocument/2006/relationships/notesMaster" Target="/ppt/notesMasters/notesMaster1.xml" Id="Rbff2e5f6d7fc4b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aeb28eec734940" /><Relationship Type="http://schemas.openxmlformats.org/officeDocument/2006/relationships/notesMaster" Target="/ppt/notesMasters/notesMaster1.xml" Id="Rd33726cfb7fb41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d5672901124a6c" /><Relationship Type="http://schemas.openxmlformats.org/officeDocument/2006/relationships/notesMaster" Target="/ppt/notesMasters/notesMaster1.xml" Id="R69eb48012ac04b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98ed21ce824f58" /><Relationship Type="http://schemas.openxmlformats.org/officeDocument/2006/relationships/notesMaster" Target="/ppt/notesMasters/notesMaster1.xml" Id="R722dba7018cf44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e78ba719e34a10" /><Relationship Type="http://schemas.openxmlformats.org/officeDocument/2006/relationships/notesMaster" Target="/ppt/notesMasters/notesMaster1.xml" Id="Rceb7ca5df9864a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6d97c5a4b443db" /><Relationship Type="http://schemas.openxmlformats.org/officeDocument/2006/relationships/notesMaster" Target="/ppt/notesMasters/notesMaster1.xml" Id="Rcf2a85ad29cf48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4561d0301b40e3" /><Relationship Type="http://schemas.openxmlformats.org/officeDocument/2006/relationships/notesMaster" Target="/ppt/notesMasters/notesMaster1.xml" Id="Rf8823cacded449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b702d7978744cc" /><Relationship Type="http://schemas.openxmlformats.org/officeDocument/2006/relationships/notesMaster" Target="/ppt/notesMasters/notesMaster1.xml" Id="R14f96dfda25f4f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83e90655024628" /><Relationship Type="http://schemas.openxmlformats.org/officeDocument/2006/relationships/notesMaster" Target="/ppt/notesMasters/notesMaster1.xml" Id="Rad5b1ca50c484c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18fb23af864f0b" /><Relationship Type="http://schemas.openxmlformats.org/officeDocument/2006/relationships/notesMaster" Target="/ppt/notesMasters/notesMaster1.xml" Id="R8e7f282a4a4a4d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12deeae93848bb" /><Relationship Type="http://schemas.openxmlformats.org/officeDocument/2006/relationships/notesMaster" Target="/ppt/notesMasters/notesMaster1.xml" Id="R23b6f0cbac6f489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60cfdbc7244e6d" /><Relationship Type="http://schemas.openxmlformats.org/officeDocument/2006/relationships/notesMaster" Target="/ppt/notesMasters/notesMaster1.xml" Id="R5120e89f02ba4c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 by Eternalgy 是为团队打造的 AI。核心理念是把 AI 的工作能力与公司的资料、设定和工作流程绑定。本阶段产品以 Document Intelligence 为切入点。团队定位描述产品方向，当前 host 仍为单一操作员、默认公司。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痛点是公司信息常分散在旧文件、表单与不同成员手里。我们提出的产品命题是：每一次 AI 工作都应使用同一套经过确认的公司资料和规则。这是创始人的问题定义，不是对全部竞品的事实判断。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水坝原理是商业化比喻，而非经外部研究证实的行业结论：大模型能力像水源，使用门槛像拦水的坝。最后一里路是让公司实际搭建、成员实际使用并持续可靠完成工作。三个门槛为搭建、使用和稳定。这里的水源并无具体 model 性能比较，避免未经核实的模型名称与前沿基准。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快速搭建是目标，依靠公司资料 onboarding、常用业务数据结构和流程知识，并仍需要用户确认。零使用门槛是创始人的设计目标，具体实现为聊天入口和内勤助理使用方式，并非已验证的零培训或无限制可用性。稳定门槛由 scope、SOP、工具权限、数据库约束和测试来降低，不代表 harness 已达到零错误。细胞/器官比喻解释可组合性，整体还需要 orchestration、交接与集成验证。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core/tools.mjs:16-24; host.mjs:26-70;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e 知道：公司的身份、客户与商品、模板、付款条件和流程规则。让 e 工作：查找记录、询问缺项、完成文件、保存关联数据。这里的公司理解指明确保存并在任务中调用的业务上下文，不是模型自动训练。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保留创始人的拟人学习比喻。用已有 invoice、quotation、company profile 和官网内容作为背景材料，提取信息后请用户确认，写入公司资料并预览模板。当前没有在此 repo 新增独立 OCR 或爬虫服务。官网与文件的可读性取决于 host 工具，不能承诺只看几张文件就完全自动完成设置。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创始人的判断是：很多公司虽有不同的行业语言，常见业务底层仍涉及客户、商品、文件、数据采集和工作规则。e 当前预置常用业务 schema，可通过字段、模板和 readiness rules 做公司配置。这不是任意自动设计数据库或支持所有行业的承诺。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本页以单次文件生成方式与 e 的业务流程方式做概念对比，并非声称全部其他 AI 只会 PDF。齿轮代表相互配合的现有结构：Schema 是预置的业务数据模型，DB 保存记录，Workflow 管理文档生命周期，SOP 与工具授权约束 specialist，Template 渲染文件。齿轮是概念关系图，不表示运行时物理依赖或自动创建任意 schema。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 Form Designer 可建立与发布表单，Form Clerk 可 review、标记 spam、summary 与 export。带语义绑定的客户表单和 order form 可进入客户记录及报价草稿流程。工程日报和每日打卡属于可配置采集场景，不代表完整工单、考勤或薪资系统。任意问题分析是方向，当前以已有统计、摘要和导出工具为准。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依据：core/forms.mjs:418-481,552-574,754-797,830-884,991-1060,1084-1178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图像来自 repo 中的 CRM dashboard preview，数值为演示数据，不能解读为 Eternalgy 的真实经营表现或客户业绩。代码实现了 outstanding、overdue、billed/collected、quotation pipeline 与 recent documents 等指标。本页用 UI 图像展示输出示例，避免宣称已验证的收益。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依据：core/dashboard.mjs:23-128; preview/crm-desktop.png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接收需求并派发给 specialist。当前 DI registry 有七个 specialist。Record 与 Document agent 用于主要业务，Forms 与 Intake 用于采集和处理，Onboarding、Templates 和 DB 用于公司设置。所有 agent 共享业务记录，但工具按角色授权。Orchestrator 的外围实现属于 UIv2 host，不把当前子目录说成独立完整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细胞比喻：聪明的人是否要求每个细胞都像人一样聪明？用红血球和大肠细胞作修辞，引出分工与组织产生整体能力。图像为抽象系统示意，不是人体结构或细胞生物学说明，不对细胞是否具有认知能力作科学断言。e 的目标是把 specialist 限制在可检查的明确任务中，再通过 orchestration 和集成验证形成可靠系统。整体可靠性并不能只由单个单元可靠性推导。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依据：创始人本次提供的细胞级 AI 比喻；core/tools.mjs:16-24;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本页为两种架构思路的概念对比，不将所有竞品归为单一模式。左侧表示持续扩大单个 AI 的职责，右侧表示 e 的 specialist architecture。资料、文件、模板、表单是当前 specialist 职责示例，不是声称每个微任务都有独立 agent。Minimal scope、SOP、工具权限与测试让单元更容易约束，但整体可靠性仍依赖调度、信息交接和系统测试。可靠性为目标，没有已验证的零错误率或速度数值。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依据：core/tools.mjs:16-24,729-737; core/actions.mjs:31-44;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本页表达产品的差异化设计选择，避免把一般 AI 都只做模板当作经市场研究证实的事实。公司上下文存在数据与配置中，后续任务可继续用。流程与权限是系统设计选择。不能保证任意任务、任意公司都能自动接入，也不能宣称自动创建任意数据库。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必须明确 today vs future。Repo 文档定义 MVP/working demo，host 单一操作员/default company。数据库 tenant-aware 不等于当前支持完整团队用户权限或 tenant switching。MyInvois 只有预备字段，未提交整合。自主判断文档类型、自动扩展 schema、任意问题分析属于待验证方向。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依据：checker/index.mjs:48-50; ONBOARDING.md; README.md; 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这是建议的试点设计，不是已存在的套餐、价格、期限或客户成果。选 quotation/invoice 或 form intake 其中一条，以现有文件与少量真实记录开始，在 owner 确认后运行。验收比较准备时间、返工、字段完整性和追踪便利程度，不宣称特定节省百分比。多成员使用取决于后续权限能力。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这是投资讨论框架，不是经验证的商业表现。切入场景是常见文件与数据采集，扩展依赖 specialist 和公司上下文。待验证项包括 onboarding 成本、真实任务可靠性、持续使用、付费意愿。没有 supplied traction、收入、市场规模、募资额、成本或估值，不能虚构。本 deck 是产品与技术命题介绍，并不是完整融资财务 deck。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结尾给两种听众一个清楚的下一步。客户：选一条真实流程做试点。投资者：共同评估 repeat workflow adoption 和实际交付可靠性。产品 slogan 保留创始人原文。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来源附录便于 Q&amp;A。所有代码依据均为本地 repo，非 public website。演示截图数据仅展示界面。产品理念来自创始人本次对话。自动 onboarding、任意 schema 和 team access 不混同现有实现。资料截至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core/forms.mjs:418-481,552-574,754-797,830-884,991-1060,1084-1178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ONBOARDING.md; core/company.mjs; README.md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d132ce7d94b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20bcea39934ad5" /><Relationship Type="http://schemas.openxmlformats.org/officeDocument/2006/relationships/slideLayout" Target="/ppt/slideLayouts/slideLayout1.xml" Id="Rd4d68603705a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d68603705a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d300ea700439a" /><Relationship Type="http://schemas.openxmlformats.org/officeDocument/2006/relationships/image" Target="/ppt/media/image.png" Id="Rd272fbfc97b64fa8" /><Relationship Type="http://schemas.openxmlformats.org/officeDocument/2006/relationships/notesSlide" Target="/ppt/notesSlides/notesSlide1.xml" Id="R70378da87d8d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edc1e722642ac" /><Relationship Type="http://schemas.openxmlformats.org/officeDocument/2006/relationships/notesSlide" Target="/ppt/notesSlides/notesSlide2.xml" Id="R5ce79a2e63234a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01dcf03094dd5" /><Relationship Type="http://schemas.openxmlformats.org/officeDocument/2006/relationships/notesSlide" Target="/ppt/notesSlides/notesSlide3.xml" Id="R2c7a844f57a24f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61f800445412a" /><Relationship Type="http://schemas.openxmlformats.org/officeDocument/2006/relationships/notesSlide" Target="/ppt/notesSlides/notesSlide4.xml" Id="R2c56a4168e2e47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08fdd298d487b" /><Relationship Type="http://schemas.openxmlformats.org/officeDocument/2006/relationships/notesSlide" Target="/ppt/notesSlides/notesSlide5.xml" Id="R51580bf9554e4a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391097fb94d25" /><Relationship Type="http://schemas.openxmlformats.org/officeDocument/2006/relationships/image" Target="/ppt/media/image2.png" Id="Rbfdc8a84f4a34163" /><Relationship Type="http://schemas.openxmlformats.org/officeDocument/2006/relationships/notesSlide" Target="/ppt/notesSlides/notesSlide6.xml" Id="R97842abe9e2044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7df794a014369" /><Relationship Type="http://schemas.openxmlformats.org/officeDocument/2006/relationships/notesSlide" Target="/ppt/notesSlides/notesSlide7.xml" Id="R4a5c7dd8c3f045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f7924f48d4210" /><Relationship Type="http://schemas.openxmlformats.org/officeDocument/2006/relationships/image" Target="/ppt/media/image3.png" Id="Rcfbb2375f46349de" /><Relationship Type="http://schemas.openxmlformats.org/officeDocument/2006/relationships/notesSlide" Target="/ppt/notesSlides/notesSlide8.xml" Id="R46ca08b57e9541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50f58716541bb" /><Relationship Type="http://schemas.openxmlformats.org/officeDocument/2006/relationships/notesSlide" Target="/ppt/notesSlides/notesSlide9.xml" Id="R71846017a9844a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7240f485749d5" /><Relationship Type="http://schemas.openxmlformats.org/officeDocument/2006/relationships/image" Target="/ppt/media/image4.png" Id="R6b0c4c35d8a94636" /><Relationship Type="http://schemas.openxmlformats.org/officeDocument/2006/relationships/notesSlide" Target="/ppt/notesSlides/notesSlide10.xml" Id="R68d6b98f62ad4f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6da9c96f84de9" /><Relationship Type="http://schemas.openxmlformats.org/officeDocument/2006/relationships/notesSlide" Target="/ppt/notesSlides/notesSlide11.xml" Id="R21c10fb7f6914d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f4b0310394d68" /><Relationship Type="http://schemas.openxmlformats.org/officeDocument/2006/relationships/notesSlide" Target="/ppt/notesSlides/notesSlide12.xml" Id="Ra1c6ef380ae541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13a96dae140cc" /><Relationship Type="http://schemas.openxmlformats.org/officeDocument/2006/relationships/notesSlide" Target="/ppt/notesSlides/notesSlide13.xml" Id="Rf4eaa58f89ae41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666da8a3b49af" /><Relationship Type="http://schemas.openxmlformats.org/officeDocument/2006/relationships/notesSlide" Target="/ppt/notesSlides/notesSlide14.xml" Id="R123408ed12794f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23f32ffdf4320" /><Relationship Type="http://schemas.openxmlformats.org/officeDocument/2006/relationships/notesSlide" Target="/ppt/notesSlides/notesSlide15.xml" Id="R5cd2d16ab8e54a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33d70d3c9409b" /><Relationship Type="http://schemas.openxmlformats.org/officeDocument/2006/relationships/notesSlide" Target="/ppt/notesSlides/notesSlide16.xml" Id="R5d612bbec7a141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a67c4a10b46af" /><Relationship Type="http://schemas.openxmlformats.org/officeDocument/2006/relationships/notesSlide" Target="/ppt/notesSlides/notesSlide17.xml" Id="R1bbb65eabc7741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780a205b841f9" /><Relationship Type="http://schemas.openxmlformats.org/officeDocument/2006/relationships/notesSlide" Target="/ppt/notesSlides/notesSlide18.xml" Id="R67b51d0b11884c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186017d004fce" /><Relationship Type="http://schemas.openxmlformats.org/officeDocument/2006/relationships/notesSlide" Target="/ppt/notesSlides/notesSlide19.xml" Id="R66b2934bea9947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EDD1C-BBD6-441D-A82E-EF3D35E9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FD84F-4534-49CA-BE3E-390A1C9E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265C5-660F-40E2-9D06-3F4D219D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by eternalgy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9FB72-E7F9-45DA-A6E9-6BE03CF8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96214-E758-4D1B-A23D-AA36988A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2fbfc97b64fa8"/>
          <a:stretch xmlns:a="http://schemas.openxmlformats.org/drawingml/2006/main"/>
        </p:blipFill>
        <p:spPr>
          <a:xfrm xmlns:a="http://schemas.openxmlformats.org/drawingml/2006/main">
            <a:off x="8382000" y="1524000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03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B20E3-81CE-49AA-A05E-27EFB8A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DC9D0-A745-46D3-B70F-7777CB7C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70320-03FA-4E23-9A68-F34DA82C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成员知道的事，</a:t>
            </a:r>
          </a:p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应成为 e 工作的依据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92B31-410D-4238-AF1B-B55E0239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公司资料散落在旧文件与成员经验中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重复解释背景，重复录入资料，交接依赖个人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团队需要延续前一次工作的记录与规则</a:t>
            </a:r>
          </a:p>
        </p:txBody>
      </p:sp>
    </p:spTree>
    <p:extLst>
      <p:ext uri="{BB962C8B-B14F-4D97-AF65-F5344CB8AC3E}">
        <p14:creationId xmlns:p14="http://schemas.microsoft.com/office/powerpoint/2010/main" val="364154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CBA27-4C14-447C-914D-62B37AA2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变现的水坝原理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0BD86-D15B-427D-B95E-F8148FE5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AC963-A2B3-401B-8722-1E68C8CF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能力像水源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使用门槛像一道坝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BFED4-3229-432D-BF41-DA621F8C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搭建门槛       使用门槛       稳定门槛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BFBF3-B396-4D64-8D97-EE26B300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变现的最后一里路：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公司搭得起，成员用得上，工作交付值得信任</a:t>
            </a:r>
          </a:p>
        </p:txBody>
      </p:sp>
    </p:spTree>
    <p:extLst>
      <p:ext uri="{BB962C8B-B14F-4D97-AF65-F5344CB8AC3E}">
        <p14:creationId xmlns:p14="http://schemas.microsoft.com/office/powerpoint/2010/main" val="369955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16F16-A6DA-49E9-BB86-0F3F7D3E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e 围绕三道门槛设计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3616C-5648-4E3D-95E5-BE6E5235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CF601-F415-4F50-83E9-851FCBBB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C31D1-A2ED-4876-9B26-FC796208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分享公司资料，配置已有流程与业务结构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D71CD-01A3-4744-8393-3E5C5E9F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7FE06-622D-4CE1-A381-099313C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聊天就是入口，像交代内部 admin clerk 一样交代工作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291D4-D783-45C2-9216-50ED0655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3CAB7-F5C0-448B-8484-15FD160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细胞级专职 AI 各守职责，以 SOP、权限与测试约束流程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C9C78-019F-4887-B0FD-031D420B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设计目标：更快搭建、更少学习负担、更一致的交付</a:t>
            </a:r>
          </a:p>
        </p:txBody>
      </p:sp>
    </p:spTree>
    <p:extLst>
      <p:ext uri="{BB962C8B-B14F-4D97-AF65-F5344CB8AC3E}">
        <p14:creationId xmlns:p14="http://schemas.microsoft.com/office/powerpoint/2010/main" val="991754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B53AC-C794-4BA6-8CBE-975B1903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85BC3-6736-4662-A0D2-327AB813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B9C84-AF62-4071-8086-D24A139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7FE02-A176-4724-9886-74D73DBD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文件怎样做，流程怎样走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74873-1877-46AA-AB19-CD9EA70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D0365-6A4B-4CD2-87F7-8CDA4A89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按公司资料准备文件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发现缺项，先询问再处理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把成果与业务记录连接起来</a:t>
            </a:r>
          </a:p>
        </p:txBody>
      </p:sp>
    </p:spTree>
    <p:extLst>
      <p:ext uri="{BB962C8B-B14F-4D97-AF65-F5344CB8AC3E}">
        <p14:creationId xmlns:p14="http://schemas.microsoft.com/office/powerpoint/2010/main" val="718473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02341-E904-4BF5-AF70-6F3FC773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39F14-A073-45C7-B51F-DF689830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779AF-B7E4-4D5E-8767-3024B3E2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旧文件与公司资料</a:t>
            </a:r>
          </a:p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成为入职材料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49FD0-516A-4577-9D8C-6A3FEB8A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Invoice / Quotation</a:t>
            </a:r>
          </a:p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Company Profile / 官网内容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B3ECF-D0B4-4A70-BF14-C154B3F2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读取资料，提取核心信息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用户确认后保存公司设定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预览模板，核对实际工作结果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c8a84f4a34163"/>
          <a:stretch xmlns:a="http://schemas.openxmlformats.org/drawingml/2006/main"/>
        </p:blipFill>
        <p:spPr>
          <a:xfrm xmlns:a="http://schemas.openxmlformats.org/drawingml/2006/main">
            <a:off x="8117765" y="1695450"/>
            <a:ext cx="3081171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27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15600-DC6A-4B25-A71F-E712F727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ED204-F8FC-4A1B-8501-465BEAEC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D9E32-A48A-4300-B9C3-2E5C9DB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不同公司的工作，</a:t>
            </a:r>
          </a:p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共享许多相同的业务结构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68825-579E-490B-8F3E-11CB5DE1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客户与联系人      产品与服务      业务文件</a:t>
            </a:r>
          </a:p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表单与提交记录    公司设定与流程规则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4D057-1D19-4141-B6A3-8B253CD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e 用常用数据结构承接这些工作，再适应公司的字段、模板与流程</a:t>
            </a:r>
          </a:p>
        </p:txBody>
      </p:sp>
    </p:spTree>
    <p:extLst>
      <p:ext uri="{BB962C8B-B14F-4D97-AF65-F5344CB8AC3E}">
        <p14:creationId xmlns:p14="http://schemas.microsoft.com/office/powerpoint/2010/main" val="2086825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CB1207-CAA9-491A-83C1-C739110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F8868-1E78-4BCF-9BC6-C6EB69D6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1A9C3-ECE1-46EA-A366-9AE0C508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A9FBC-BD33-4578-85AC-58638E57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单次文件生成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b2375f46349de"/>
          <a:stretch xmlns:a="http://schemas.openxmlformats.org/drawingml/2006/main"/>
        </p:blipFill>
        <p:spPr>
          <a:xfrm xmlns:a="http://schemas.openxmlformats.org/drawingml/2006/main">
            <a:off x="1321510" y="3000375"/>
            <a:ext cx="1728954" cy="2447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93BFB-DBED-40F4-85C5-961833AC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340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D8412-B14B-4B6A-A313-8B5588C8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CD567-B161-4FF6-B3CB-321CADFA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764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e：按业务流程处理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04E0F-FCCF-4550-8D98-2ACE9D48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0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44699-6DB6-406F-A70D-FD41D1A0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9625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61F01-9904-464E-91DD-0C398743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0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8A96F-543B-4C28-A3CB-3EE22D07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29625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40F59-FFD6-4040-9B40-1F986AB9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C08B7-17C6-4F51-AC04-9572B9BB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21D4F-8C6C-4734-8F1F-0FB1C156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5E6A3-7C89-4A77-865A-F3BCB50D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AA0BC-E74F-475B-BF3F-9637924F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068955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E6E65-FF00-4621-B864-B5D13709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3267075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B6A1E-65EE-4DF5-98A2-470C189B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AC03F-09C1-443C-9C45-3A78E178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C91F5-4DC3-4C85-BF7B-F8C468A0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67B71-61D7-436F-92FE-C5656817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05300"/>
            <a:ext cx="1524000" cy="1524000"/>
          </a:xfrm>
          <a:custGeom xmlns:a="http://schemas.openxmlformats.org/drawingml/2006/main">
            <a:pathLst>
              <a:path w="1524000" h="1524000">
                <a:moveTo>
                  <a:pt x="762000" y="15240"/>
                </a:moveTo>
                <a:lnTo>
                  <a:pt x="859472" y="21629"/>
                </a:lnTo>
                <a:lnTo>
                  <a:pt x="921748" y="165811"/>
                </a:lnTo>
                <a:lnTo>
                  <a:pt x="998200" y="191763"/>
                </a:lnTo>
                <a:lnTo>
                  <a:pt x="1135380" y="115287"/>
                </a:lnTo>
                <a:lnTo>
                  <a:pt x="1216599" y="169555"/>
                </a:lnTo>
                <a:lnTo>
                  <a:pt x="1198440" y="325560"/>
                </a:lnTo>
                <a:lnTo>
                  <a:pt x="1251674" y="386260"/>
                </a:lnTo>
                <a:lnTo>
                  <a:pt x="1408713" y="388620"/>
                </a:lnTo>
                <a:lnTo>
                  <a:pt x="1451916" y="476227"/>
                </a:lnTo>
                <a:lnTo>
                  <a:pt x="1358189" y="602252"/>
                </a:lnTo>
                <a:lnTo>
                  <a:pt x="1373940" y="681437"/>
                </a:lnTo>
                <a:lnTo>
                  <a:pt x="1508760" y="762000"/>
                </a:lnTo>
                <a:lnTo>
                  <a:pt x="1502371" y="859472"/>
                </a:lnTo>
                <a:lnTo>
                  <a:pt x="1358189" y="921748"/>
                </a:lnTo>
                <a:lnTo>
                  <a:pt x="1332237" y="998200"/>
                </a:lnTo>
                <a:lnTo>
                  <a:pt x="1408713" y="1135380"/>
                </a:lnTo>
                <a:lnTo>
                  <a:pt x="1354445" y="1216599"/>
                </a:lnTo>
                <a:lnTo>
                  <a:pt x="1198440" y="1198440"/>
                </a:lnTo>
                <a:lnTo>
                  <a:pt x="1137740" y="1251674"/>
                </a:lnTo>
                <a:lnTo>
                  <a:pt x="1135380" y="1408713"/>
                </a:lnTo>
                <a:lnTo>
                  <a:pt x="1047773" y="1451916"/>
                </a:lnTo>
                <a:lnTo>
                  <a:pt x="921748" y="1358189"/>
                </a:lnTo>
                <a:lnTo>
                  <a:pt x="842563" y="1373940"/>
                </a:lnTo>
                <a:lnTo>
                  <a:pt x="762000" y="1508760"/>
                </a:lnTo>
                <a:lnTo>
                  <a:pt x="664528" y="1502371"/>
                </a:lnTo>
                <a:lnTo>
                  <a:pt x="602252" y="1358189"/>
                </a:lnTo>
                <a:lnTo>
                  <a:pt x="525800" y="1332237"/>
                </a:lnTo>
                <a:lnTo>
                  <a:pt x="388620" y="1408713"/>
                </a:lnTo>
                <a:lnTo>
                  <a:pt x="307401" y="1354445"/>
                </a:lnTo>
                <a:lnTo>
                  <a:pt x="325560" y="1198440"/>
                </a:lnTo>
                <a:lnTo>
                  <a:pt x="272326" y="1137740"/>
                </a:lnTo>
                <a:lnTo>
                  <a:pt x="115287" y="1135380"/>
                </a:lnTo>
                <a:lnTo>
                  <a:pt x="72084" y="1047773"/>
                </a:lnTo>
                <a:lnTo>
                  <a:pt x="165811" y="921748"/>
                </a:lnTo>
                <a:lnTo>
                  <a:pt x="150060" y="842563"/>
                </a:lnTo>
                <a:lnTo>
                  <a:pt x="15240" y="762000"/>
                </a:lnTo>
                <a:lnTo>
                  <a:pt x="21629" y="664528"/>
                </a:lnTo>
                <a:lnTo>
                  <a:pt x="165811" y="602252"/>
                </a:lnTo>
                <a:lnTo>
                  <a:pt x="191763" y="525800"/>
                </a:lnTo>
                <a:lnTo>
                  <a:pt x="115287" y="388620"/>
                </a:lnTo>
                <a:lnTo>
                  <a:pt x="169555" y="307401"/>
                </a:lnTo>
                <a:lnTo>
                  <a:pt x="325560" y="325560"/>
                </a:lnTo>
                <a:lnTo>
                  <a:pt x="386260" y="272326"/>
                </a:lnTo>
                <a:lnTo>
                  <a:pt x="388620" y="115287"/>
                </a:lnTo>
                <a:lnTo>
                  <a:pt x="476227" y="72084"/>
                </a:lnTo>
                <a:lnTo>
                  <a:pt x="602252" y="165811"/>
                </a:lnTo>
                <a:lnTo>
                  <a:pt x="681437" y="150060"/>
                </a:lnTo>
                <a:close/>
              </a:path>
            </a:pathLst>
          </a:cu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9B105-E851-4676-BED4-4DAB1C6A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5643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1FCFF-B747-4975-BD21-086BDFF6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80" y="4762500"/>
            <a:ext cx="13106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44185-0AFA-4795-8928-24DE02E3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43275"/>
            <a:ext cx="1714500" cy="1714500"/>
          </a:xfrm>
          <a:custGeom xmlns:a="http://schemas.openxmlformats.org/drawingml/2006/main">
            <a:pathLst>
              <a:path w="1714500" h="1714500">
                <a:moveTo>
                  <a:pt x="857250" y="17145"/>
                </a:moveTo>
                <a:lnTo>
                  <a:pt x="966906" y="24332"/>
                </a:lnTo>
                <a:lnTo>
                  <a:pt x="1036967" y="186538"/>
                </a:lnTo>
                <a:lnTo>
                  <a:pt x="1122975" y="215733"/>
                </a:lnTo>
                <a:lnTo>
                  <a:pt x="1277303" y="129698"/>
                </a:lnTo>
                <a:lnTo>
                  <a:pt x="1368674" y="190750"/>
                </a:lnTo>
                <a:lnTo>
                  <a:pt x="1348246" y="366254"/>
                </a:lnTo>
                <a:lnTo>
                  <a:pt x="1408133" y="434543"/>
                </a:lnTo>
                <a:lnTo>
                  <a:pt x="1584802" y="437198"/>
                </a:lnTo>
                <a:lnTo>
                  <a:pt x="1633406" y="535756"/>
                </a:lnTo>
                <a:lnTo>
                  <a:pt x="1527962" y="677533"/>
                </a:lnTo>
                <a:lnTo>
                  <a:pt x="1545682" y="766616"/>
                </a:lnTo>
                <a:lnTo>
                  <a:pt x="1697355" y="857250"/>
                </a:lnTo>
                <a:lnTo>
                  <a:pt x="1690168" y="966906"/>
                </a:lnTo>
                <a:lnTo>
                  <a:pt x="1527962" y="1036967"/>
                </a:lnTo>
                <a:lnTo>
                  <a:pt x="1498767" y="1122975"/>
                </a:lnTo>
                <a:lnTo>
                  <a:pt x="1584802" y="1277303"/>
                </a:lnTo>
                <a:lnTo>
                  <a:pt x="1523750" y="1368674"/>
                </a:lnTo>
                <a:lnTo>
                  <a:pt x="1348246" y="1348246"/>
                </a:lnTo>
                <a:lnTo>
                  <a:pt x="1279957" y="1408133"/>
                </a:lnTo>
                <a:lnTo>
                  <a:pt x="1277303" y="1584802"/>
                </a:lnTo>
                <a:lnTo>
                  <a:pt x="1178744" y="1633406"/>
                </a:lnTo>
                <a:lnTo>
                  <a:pt x="1036967" y="1527962"/>
                </a:lnTo>
                <a:lnTo>
                  <a:pt x="947884" y="1545682"/>
                </a:lnTo>
                <a:lnTo>
                  <a:pt x="857250" y="1697355"/>
                </a:lnTo>
                <a:lnTo>
                  <a:pt x="747594" y="1690168"/>
                </a:lnTo>
                <a:lnTo>
                  <a:pt x="677533" y="1527962"/>
                </a:lnTo>
                <a:lnTo>
                  <a:pt x="591525" y="1498767"/>
                </a:lnTo>
                <a:lnTo>
                  <a:pt x="437197" y="1584802"/>
                </a:lnTo>
                <a:lnTo>
                  <a:pt x="345826" y="1523750"/>
                </a:lnTo>
                <a:lnTo>
                  <a:pt x="366254" y="1348246"/>
                </a:lnTo>
                <a:lnTo>
                  <a:pt x="306367" y="1279957"/>
                </a:lnTo>
                <a:lnTo>
                  <a:pt x="129698" y="1277303"/>
                </a:lnTo>
                <a:lnTo>
                  <a:pt x="81094" y="1178744"/>
                </a:lnTo>
                <a:lnTo>
                  <a:pt x="186538" y="1036967"/>
                </a:lnTo>
                <a:lnTo>
                  <a:pt x="168818" y="947884"/>
                </a:lnTo>
                <a:lnTo>
                  <a:pt x="17145" y="857250"/>
                </a:lnTo>
                <a:lnTo>
                  <a:pt x="24332" y="747594"/>
                </a:lnTo>
                <a:lnTo>
                  <a:pt x="186538" y="677533"/>
                </a:lnTo>
                <a:lnTo>
                  <a:pt x="215733" y="591525"/>
                </a:lnTo>
                <a:lnTo>
                  <a:pt x="129698" y="437197"/>
                </a:lnTo>
                <a:lnTo>
                  <a:pt x="190750" y="345826"/>
                </a:lnTo>
                <a:lnTo>
                  <a:pt x="366254" y="366254"/>
                </a:lnTo>
                <a:lnTo>
                  <a:pt x="434543" y="306367"/>
                </a:lnTo>
                <a:lnTo>
                  <a:pt x="437197" y="129698"/>
                </a:lnTo>
                <a:lnTo>
                  <a:pt x="535756" y="81094"/>
                </a:lnTo>
                <a:lnTo>
                  <a:pt x="677533" y="186538"/>
                </a:lnTo>
                <a:lnTo>
                  <a:pt x="766616" y="168818"/>
                </a:lnTo>
                <a:close/>
              </a:path>
            </a:pathLst>
          </a:cu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28A45-7FAF-4C48-83D8-4EBAC20F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365" y="3634740"/>
            <a:ext cx="1131570" cy="1131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F4F7AE-6E22-48FE-8A1E-62A21AE4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915" y="3857625"/>
            <a:ext cx="147447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1AA9F8-32F0-40C6-9990-9E157A89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531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查记录、补缺项、发行 PDF、保存关联、追踪付款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1900018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D4FA2-EFB4-4B4A-BF61-FDFBE6C1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Form 收集数据，e 延续后面的工作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F90A4-22AA-44DB-9051-DADF8968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307A7-AA60-4965-BE37-5AF44F93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D9F68-EC1B-4778-9B17-67DBDBBD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15338-7292-4A07-9ABB-1EE6A892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A6F96-0C27-4E32-BA40-104D6BAA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143125" cy="1619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51116-B215-4A83-8146-7F57B747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6D7B8-44DA-4AB8-ADC6-2B533B4E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2143125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5BDA9-6252-46F0-8D94-EAF04DA5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19EDA-EF9B-42E7-BD06-55783590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94295-6E28-43FD-9FF3-B29235F9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76575"/>
            <a:ext cx="1990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828925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4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715000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6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01075" y="38100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55639-F168-434B-B501-BE5329DA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先把信息收进来，再关联客户、文件与下一步工作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648091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B42A7-94C4-4CFC-9492-37F4C20B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业务记录，让团队看见工作状态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3A388-53D0-48CF-88AD-7FF259AC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B2B96-76EC-4505-94CF-A880367C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238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哪些款项未收？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invoice 已逾期？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quotation 待跟进？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F13E5-AAEE-45E2-BF9D-F83A98A5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文件背后的数据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可以汇总成业务概览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c4c35d8a94636"/>
          <a:stretch xmlns:a="http://schemas.openxmlformats.org/drawingml/2006/main"/>
        </p:blipFill>
        <p:spPr>
          <a:xfrm xmlns:a="http://schemas.openxmlformats.org/drawingml/2006/main">
            <a:off x="6858624" y="1771650"/>
            <a:ext cx="466600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8616B-1C16-4A95-B7F9-F10ED3B8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5787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现有界面预览，图中金额与数量为演示数据</a:t>
            </a:r>
          </a:p>
        </p:txBody>
      </p:sp>
    </p:spTree>
    <p:extLst>
      <p:ext uri="{BB962C8B-B14F-4D97-AF65-F5344CB8AC3E}">
        <p14:creationId xmlns:p14="http://schemas.microsoft.com/office/powerpoint/2010/main" val="19192315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A39822-ECDA-4400-878A-B78E85AA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B24E7-FFD7-4314-8341-4B541689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FDA2F-B7AE-4EDC-A230-04FD57AA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18443-120E-489F-9E33-89C43E5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848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理解需求，安排工作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B1623-4D75-42A3-A6C5-3C498A02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BFEAD-78B9-443B-9514-B241A651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D2466-7916-46D2-9087-DA1B3293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5D1DB-BD48-4FEF-8A67-703CFD3F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98585-45D5-4EEB-B0F0-C11E560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8C1D8-2A0C-4850-857A-431D8F2D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2A083-2877-4635-A93A-39F9A779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2890D-4220-406A-A7B7-BE63D924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2B84F-0545-4508-9787-8D9C0D6B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77A24-B151-461C-B3A4-17A1F066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5BD8F-8B46-41A1-A294-994FA2A7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7E125-9DE0-4A36-A32D-963ADDA6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D54F6-5B53-49E6-AF6C-95FF777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A191B-3CB3-418B-A966-30E94A38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5C6FC-24D9-4390-8D3B-9F482523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B2734-9AE1-44F8-ADF7-FBC11DD8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538C8-327E-42CD-81CB-47A75360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2AF8D-BA13-4CAB-85A6-32F4874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F086C-CFF3-4680-99AE-D3A7AB36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AAE58-7A6A-4225-A44D-D8610CDE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58749-34AB-4204-BC46-A38752E7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908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95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237E2E-58B3-48C9-B8CE-A5CD568C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14478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C12E1-183F-4A0F-8C1E-A68B8ABC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52850"/>
            <a:ext cx="1295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73036E-EEDF-4CDE-87C5-935A0398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每位 specialist 只使用获授权的工具，共享同一套业务记录</a:t>
            </a:r>
          </a:p>
        </p:txBody>
      </p:sp>
    </p:spTree>
    <p:extLst>
      <p:ext uri="{BB962C8B-B14F-4D97-AF65-F5344CB8AC3E}">
        <p14:creationId xmlns:p14="http://schemas.microsoft.com/office/powerpoint/2010/main" val="228891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C9EB9-1D4E-41AF-A7DC-AFE602C4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Stupid = Smart：细胞级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CE544-7106-42F0-8591-80254F83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8D7AD-4486-4561-9E8F-EC89E7AF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聪明的人，</a:t>
            </a:r>
          </a:p>
          <a:p xmlns:a="http://schemas.openxmlformats.org/drawingml/2006/main">
            <a:pPr>
              <a:def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需要每个细胞都聪明吗？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548B9-1EBC-4C57-9411-5FE1EDD4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“聪明的红血球？”</a:t>
            </a:r>
          </a:p>
          <a:p xmlns:a="http://schemas.openxmlformats.org/drawingml/2006/main">
            <a:pPr>
              <a:def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“聪明的大肠细胞？”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86BD2-93F5-4430-9414-9349B3DB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190875" cy="3190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B6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D023A-95F4-44C0-B7FB-0F954369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981075" cy="981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D04E1-0F4C-4717-B3DE-53D08340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337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DFD5C-E39F-4F2B-86AE-80BCF3CC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24175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DE4FE-A383-4EA6-914D-015A2F8D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861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DC96A-CCD6-4C10-AADD-9BB6D825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005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5E43B-2498-42B8-94B1-17861A27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0005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7907A-31CA-4EC3-95A9-271503DF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91025"/>
            <a:ext cx="981075" cy="981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28575">
            <a:solidFill>
              <a:srgbClr val="F5F7F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2A114-E456-4EC0-B48A-DCC59342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不同单元，各司其职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4945A-285E-4CC3-B9CB-24623405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整体的能力，来自分工与协作</a:t>
            </a:r>
          </a:p>
        </p:txBody>
      </p:sp>
    </p:spTree>
    <p:extLst>
      <p:ext uri="{BB962C8B-B14F-4D97-AF65-F5344CB8AC3E}">
        <p14:creationId xmlns:p14="http://schemas.microsoft.com/office/powerpoint/2010/main" val="18620462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C044B-2271-47EC-BEB7-5FDEFEC5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聪明的系统，可以由简单的单元组成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AF346-10AF-4DFC-BD98-E4C59633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A9131-C4A5-436C-AF27-830EDEC6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扩大一个 AI 的职责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1F474-A140-49E2-9D96-A819B514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71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e：组合细胞级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A6153-9566-41C7-A190-424B45DB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7432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4D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F45C6-9AC4-4214-AD12-9923ACA8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19400"/>
            <a:ext cx="22288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一个 AI</a:t>
            </a:r>
          </a:p>
          <a:p xmlns:a="http://schemas.openxmlformats.org/drawingml/2006/main">
            <a:pPr algn="ctr">
              <a:def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包办所有工作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11183-10F6-44C7-A69B-D796EFF8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资料、文件、模板、表单…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6108C-4D01-4DF8-9664-C50C16CD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052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20530-A178-4817-90B7-E7AC63A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457200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B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EB7F3-2B98-40F4-853D-02D50C36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67625" y="3248025"/>
            <a:ext cx="12382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AC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83788-A4FD-4F12-9092-109C1A4F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05875" y="3248025"/>
            <a:ext cx="12382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AC9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EA341-BC93-47E7-8934-9D0878BC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67625" y="4067175"/>
            <a:ext cx="123825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AC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DA2D0-1265-4B85-A820-2C958D7D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05875" y="4067175"/>
            <a:ext cx="123825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AC9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5E5B8-3C9F-4DF7-B090-1BCCD6F6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4BB7B-C07E-4ADF-8532-8E598F06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89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F7EF9-7391-4F32-A8B1-A09379A6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B5151-29C4-4D00-82CC-7B5D7CAD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89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1CFD9-B59F-475A-9933-BC49E593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54613-8BE3-4E43-9C60-12C98EDE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89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77F81-F7D7-4103-82A7-7BDF68A1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810E1-97F3-4151-AB7B-57F18950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19600"/>
            <a:ext cx="895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EAF01-039A-460A-8B50-C12786E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575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D8215-7F72-45CA-BC0C-FFD8EA80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33775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33F0BB-2C67-47B0-9822-389AFA62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81675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每个单元：明确任务、SOP、权限与测试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EB3AB-DE89-44CA-8015-8805A0CB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小范围，可检查</a:t>
            </a:r>
          </a:p>
        </p:txBody>
      </p:sp>
    </p:spTree>
    <p:extLst>
      <p:ext uri="{BB962C8B-B14F-4D97-AF65-F5344CB8AC3E}">
        <p14:creationId xmlns:p14="http://schemas.microsoft.com/office/powerpoint/2010/main" val="14822247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32546-C2DC-4B88-A406-6AC2AABF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公司上下文，连接每一次工作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D68AC-B001-48AD-8393-77EC3B80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DB5CE-D2B5-48A9-88E9-552EE1E7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公司资料决定内容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6E697-D240-4FE3-B193-74938761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公司名称、客户、价格与付款条件来自已保存记录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8CD5A-236D-4183-94FC-7C362B29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公司规则决定流程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33154-F21A-4186-9ADC-9E80189A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哪些字段必须补齐、何时发行、谁能使用哪些工具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CF199-FD7D-42BA-8A6C-7734F2D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这套上下文可以延续到下一张文件与下一次任务</a:t>
            </a:r>
          </a:p>
        </p:txBody>
      </p:sp>
    </p:spTree>
    <p:extLst>
      <p:ext uri="{BB962C8B-B14F-4D97-AF65-F5344CB8AC3E}">
        <p14:creationId xmlns:p14="http://schemas.microsoft.com/office/powerpoint/2010/main" val="1267416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9AF16-E371-4753-8EBF-FDE15A38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87E46-F12D-404F-ADDC-13C86609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7AA29-02DC-4D62-9AC6-8CD6D6D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E6220-A65A-4ABB-95A6-7782AF7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客户、商品与文档流程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付款记录与业务概览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表单、模板与公司规则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数据库按 tenant 分隔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E5F6C-AEF8-4E51-A15C-FE7C0B24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下一步产品方向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CB525-97B8-44B6-89C0-5E8E45DA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更多重复业务流程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更广泛的业务问答分析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57CF7-FD2F-472B-80C9-858BE408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5630073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08604-A216-41DD-B6BE-107B823E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客户试点：先完成一条真实工作流程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47199-2F93-45E3-A27A-AD857CA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CA1AB-D09D-4D8F-8C6A-669A9B72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已有文件与规则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AAF33-23DF-42C8-BCC1-85975742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用你的 quotation、invoice、客户与商品资料配置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0C0FA-CF39-4DE3-96F0-A7E373D8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真实工作与明确验收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725CA-A50B-4D51-BE23-1B55A14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完成一次准备、发行与付款记录，或一次表单采集与处理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比较准备时间、返工次数和数据完整性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20683177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70277-7488-4D94-AE47-B587F92E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投资命题：从重复工作验证团队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34D52-2CFE-44BE-B9AC-8DF5905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D8176-92D8-48BB-86A3-54EAF81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B8796-4A89-4396-808D-3F04A05C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Invoice、quotation 与表单等重复工作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24180-28B4-4329-B88F-3E3790C8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BFDA2-CA93-4327-BB7F-DA892536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围绕共同公司上下文，增加可验证的 specialist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6ABB7-AAFE-458C-825C-687B283E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B3AD6-3F82-4A8B-ABD5-E9C68506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三道门槛是否降低，是否带来持续使用与付费意愿</a:t>
            </a:r>
          </a:p>
        </p:txBody>
      </p:sp>
    </p:spTree>
    <p:extLst>
      <p:ext uri="{BB962C8B-B14F-4D97-AF65-F5344CB8AC3E}">
        <p14:creationId xmlns:p14="http://schemas.microsoft.com/office/powerpoint/2010/main" val="19187943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FB5DD-C2CB-42AA-97B3-7F903D78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24127-9BE4-4551-9CC9-15F3F37A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A5E02-3453-415A-9AD3-CA349B9C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7DF31-CDC5-4F4F-8E96-4C04CFDB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投资者：一起验证团队 AI 的产品路径</a:t>
            </a:r>
          </a:p>
        </p:txBody>
      </p:sp>
    </p:spTree>
    <p:extLst>
      <p:ext uri="{BB962C8B-B14F-4D97-AF65-F5344CB8AC3E}">
        <p14:creationId xmlns:p14="http://schemas.microsoft.com/office/powerpoint/2010/main" val="11881535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2C89F-9D8A-4B8F-8A6A-4F084E34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E3AFB-C15F-4CA0-9996-0B9AAB9F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FB1A6-623E-4CD2-82CD-27D5C87D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产品理念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BEFC4-7A86-4D1D-8869-5DAE03B5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C713F-4DA8-4ECB-A747-8EC27D78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F48A5-C377-4C58-A574-FEF30C37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771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5B4C6-F43E-4A48-9AC5-24D42D37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A28B6-7BF0-42B2-9730-3591C51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代码与现有预览支持功能说明，不代表部署验收或客户业绩</a:t>
            </a:r>
          </a:p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截图为演示数据，可靠性和商业指标需在试点中验证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6C82C-D7C3-4BD3-9CCE-664A04E3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329201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2026-10-01T08:08:08.8410000Z</dcterms:created>
  <dcterms:modified xsi:type="dcterms:W3CDTF">2026-10-01T08:08:08.8410000Z</dcterms:modified>
</coreProperties>
</file>