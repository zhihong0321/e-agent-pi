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c5dbf90a9241ed" /><Relationship Type="http://schemas.openxmlformats.org/officeDocument/2006/relationships/extended-properties" Target="/docProps/app.xml" Id="Re0da10397c754a06" /><Relationship Type="http://schemas.openxmlformats.org/officeDocument/2006/relationships/officeDocument" Target="/ppt/presentation.xml" Id="Rcac86816259e43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049f2e704047f7"/>
  </p:sldMasterIdLst>
  <p:notesMasterIdLst>
    <p:notesMasterId xmlns:r="http://schemas.openxmlformats.org/officeDocument/2006/relationships" r:id="R9b615c5453be4a73"/>
  </p:notesMasterIdLst>
  <p:sldIdLst>
    <p:sldId xmlns:r="http://schemas.openxmlformats.org/officeDocument/2006/relationships" id="256" r:id="R5f831f33e398413a"/>
    <p:sldId xmlns:r="http://schemas.openxmlformats.org/officeDocument/2006/relationships" id="257" r:id="Ra56537fb841f433a"/>
    <p:sldId xmlns:r="http://schemas.openxmlformats.org/officeDocument/2006/relationships" id="258" r:id="R56d9336530014d6f"/>
    <p:sldId xmlns:r="http://schemas.openxmlformats.org/officeDocument/2006/relationships" id="259" r:id="R65c2206a19b643cc"/>
    <p:sldId xmlns:r="http://schemas.openxmlformats.org/officeDocument/2006/relationships" id="260" r:id="R582637c0cdf8453a"/>
    <p:sldId xmlns:r="http://schemas.openxmlformats.org/officeDocument/2006/relationships" id="261" r:id="R704ef5fe55754817"/>
    <p:sldId xmlns:r="http://schemas.openxmlformats.org/officeDocument/2006/relationships" id="262" r:id="R16049e2e4acc4090"/>
    <p:sldId xmlns:r="http://schemas.openxmlformats.org/officeDocument/2006/relationships" id="263" r:id="R0e663c913448438c"/>
    <p:sldId xmlns:r="http://schemas.openxmlformats.org/officeDocument/2006/relationships" id="264" r:id="Rd25de66057e54bc3"/>
    <p:sldId xmlns:r="http://schemas.openxmlformats.org/officeDocument/2006/relationships" id="265" r:id="R98f7a67907524cbd"/>
    <p:sldId xmlns:r="http://schemas.openxmlformats.org/officeDocument/2006/relationships" id="266" r:id="Rcc14668c75204645"/>
    <p:sldId xmlns:r="http://schemas.openxmlformats.org/officeDocument/2006/relationships" id="267" r:id="R4a9c926fed214919"/>
    <p:sldId xmlns:r="http://schemas.openxmlformats.org/officeDocument/2006/relationships" id="268" r:id="Raf5e722615aa4c50"/>
    <p:sldId xmlns:r="http://schemas.openxmlformats.org/officeDocument/2006/relationships" id="269" r:id="R4d4ea24845784801"/>
    <p:sldId xmlns:r="http://schemas.openxmlformats.org/officeDocument/2006/relationships" id="270" r:id="R02861010f4e5418d"/>
    <p:sldId xmlns:r="http://schemas.openxmlformats.org/officeDocument/2006/relationships" id="271" r:id="R6085f75d601941c2"/>
    <p:sldId xmlns:r="http://schemas.openxmlformats.org/officeDocument/2006/relationships" id="272" r:id="Re901584fa7a14287"/>
    <p:sldId xmlns:r="http://schemas.openxmlformats.org/officeDocument/2006/relationships" id="273" r:id="Re2f0354ff42c4cc5"/>
    <p:sldId xmlns:r="http://schemas.openxmlformats.org/officeDocument/2006/relationships" id="274" r:id="R2682a822dd1d47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f6571c95e14b16" /><Relationship Type="http://schemas.openxmlformats.org/officeDocument/2006/relationships/slideMaster" Target="/ppt/slideMasters/slideMaster1.xml" Id="Rd5049f2e704047f7" /><Relationship Type="http://schemas.openxmlformats.org/officeDocument/2006/relationships/notesMaster" Target="/ppt/notesMasters/notesMaster1.xml" Id="R9b615c5453be4a73" /><Relationship Type="http://schemas.openxmlformats.org/officeDocument/2006/relationships/presProps" Target="/ppt/presProps.xml" Id="Rf03bbe4648674729" /><Relationship Type="http://schemas.openxmlformats.org/officeDocument/2006/relationships/tableStyles" Target="/ppt/tableStyles.xml" Id="R0ad6b60a68ab4240" /><Relationship Type="http://schemas.openxmlformats.org/officeDocument/2006/relationships/slide" Target="/ppt/slides/slide1.xml" Id="R5f831f33e398413a" /><Relationship Type="http://schemas.openxmlformats.org/officeDocument/2006/relationships/slide" Target="/ppt/slides/slide2.xml" Id="Ra56537fb841f433a" /><Relationship Type="http://schemas.openxmlformats.org/officeDocument/2006/relationships/slide" Target="/ppt/slides/slide3.xml" Id="R56d9336530014d6f" /><Relationship Type="http://schemas.openxmlformats.org/officeDocument/2006/relationships/slide" Target="/ppt/slides/slide4.xml" Id="R65c2206a19b643cc" /><Relationship Type="http://schemas.openxmlformats.org/officeDocument/2006/relationships/slide" Target="/ppt/slides/slide5.xml" Id="R582637c0cdf8453a" /><Relationship Type="http://schemas.openxmlformats.org/officeDocument/2006/relationships/slide" Target="/ppt/slides/slide6.xml" Id="R704ef5fe55754817" /><Relationship Type="http://schemas.openxmlformats.org/officeDocument/2006/relationships/slide" Target="/ppt/slides/slide7.xml" Id="R16049e2e4acc4090" /><Relationship Type="http://schemas.openxmlformats.org/officeDocument/2006/relationships/slide" Target="/ppt/slides/slide8.xml" Id="R0e663c913448438c" /><Relationship Type="http://schemas.openxmlformats.org/officeDocument/2006/relationships/slide" Target="/ppt/slides/slide9.xml" Id="Rd25de66057e54bc3" /><Relationship Type="http://schemas.openxmlformats.org/officeDocument/2006/relationships/slide" Target="/ppt/slides/slide10.xml" Id="R98f7a67907524cbd" /><Relationship Type="http://schemas.openxmlformats.org/officeDocument/2006/relationships/slide" Target="/ppt/slides/slide11.xml" Id="Rcc14668c75204645" /><Relationship Type="http://schemas.openxmlformats.org/officeDocument/2006/relationships/slide" Target="/ppt/slides/slide12.xml" Id="R4a9c926fed214919" /><Relationship Type="http://schemas.openxmlformats.org/officeDocument/2006/relationships/slide" Target="/ppt/slides/slide13.xml" Id="Raf5e722615aa4c50" /><Relationship Type="http://schemas.openxmlformats.org/officeDocument/2006/relationships/slide" Target="/ppt/slides/slide14.xml" Id="R4d4ea24845784801" /><Relationship Type="http://schemas.openxmlformats.org/officeDocument/2006/relationships/slide" Target="/ppt/slides/slide15.xml" Id="R02861010f4e5418d" /><Relationship Type="http://schemas.openxmlformats.org/officeDocument/2006/relationships/slide" Target="/ppt/slides/slide16.xml" Id="R6085f75d601941c2" /><Relationship Type="http://schemas.openxmlformats.org/officeDocument/2006/relationships/slide" Target="/ppt/slides/slide17.xml" Id="Re901584fa7a14287" /><Relationship Type="http://schemas.openxmlformats.org/officeDocument/2006/relationships/slide" Target="/ppt/slides/slide18.xml" Id="Re2f0354ff42c4cc5" /><Relationship Type="http://schemas.openxmlformats.org/officeDocument/2006/relationships/slide" Target="/ppt/slides/slide19.xml" Id="R2682a822dd1d47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7d6bf0918246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ea9c33b2a3496c" /><Relationship Type="http://schemas.openxmlformats.org/officeDocument/2006/relationships/notesMaster" Target="/ppt/notesMasters/notesMaster1.xml" Id="R2b0116a37ea04e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5259a751e7454d" /><Relationship Type="http://schemas.openxmlformats.org/officeDocument/2006/relationships/notesMaster" Target="/ppt/notesMasters/notesMaster1.xml" Id="Re9a4edf4fa8b42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60e56273e8414f" /><Relationship Type="http://schemas.openxmlformats.org/officeDocument/2006/relationships/notesMaster" Target="/ppt/notesMasters/notesMaster1.xml" Id="R143e9fb575484f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6ebe7c92174c90" /><Relationship Type="http://schemas.openxmlformats.org/officeDocument/2006/relationships/notesMaster" Target="/ppt/notesMasters/notesMaster1.xml" Id="R5004fb68513d46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23444d69d24b8d" /><Relationship Type="http://schemas.openxmlformats.org/officeDocument/2006/relationships/notesMaster" Target="/ppt/notesMasters/notesMaster1.xml" Id="R2173884b93244e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adac7a0ded4466" /><Relationship Type="http://schemas.openxmlformats.org/officeDocument/2006/relationships/notesMaster" Target="/ppt/notesMasters/notesMaster1.xml" Id="Re8baa22ded2543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651e0915e94032" /><Relationship Type="http://schemas.openxmlformats.org/officeDocument/2006/relationships/notesMaster" Target="/ppt/notesMasters/notesMaster1.xml" Id="R3bec280dc2474d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8fbae1b24846d9" /><Relationship Type="http://schemas.openxmlformats.org/officeDocument/2006/relationships/notesMaster" Target="/ppt/notesMasters/notesMaster1.xml" Id="R186efc5bf03544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65871eaa66437d" /><Relationship Type="http://schemas.openxmlformats.org/officeDocument/2006/relationships/notesMaster" Target="/ppt/notesMasters/notesMaster1.xml" Id="R81317eee161044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3410a1826946dc" /><Relationship Type="http://schemas.openxmlformats.org/officeDocument/2006/relationships/notesMaster" Target="/ppt/notesMasters/notesMaster1.xml" Id="R4aa40f1f2e1e41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f8022c29074028" /><Relationship Type="http://schemas.openxmlformats.org/officeDocument/2006/relationships/notesMaster" Target="/ppt/notesMasters/notesMaster1.xml" Id="R6bcc7121d9f243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4e6f3c74cf49c1" /><Relationship Type="http://schemas.openxmlformats.org/officeDocument/2006/relationships/notesMaster" Target="/ppt/notesMasters/notesMaster1.xml" Id="R91151e6ea0b04d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fee664dd6b440b" /><Relationship Type="http://schemas.openxmlformats.org/officeDocument/2006/relationships/notesMaster" Target="/ppt/notesMasters/notesMaster1.xml" Id="R7c189a3d9e1345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caee962099463c" /><Relationship Type="http://schemas.openxmlformats.org/officeDocument/2006/relationships/notesMaster" Target="/ppt/notesMasters/notesMaster1.xml" Id="R1fd42bf3e4134e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d65602c43b48b8" /><Relationship Type="http://schemas.openxmlformats.org/officeDocument/2006/relationships/notesMaster" Target="/ppt/notesMasters/notesMaster1.xml" Id="R06c402ec38034b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a162b91bc04ef0" /><Relationship Type="http://schemas.openxmlformats.org/officeDocument/2006/relationships/notesMaster" Target="/ppt/notesMasters/notesMaster1.xml" Id="R5d1a00834c664d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abb43740944609" /><Relationship Type="http://schemas.openxmlformats.org/officeDocument/2006/relationships/notesMaster" Target="/ppt/notesMasters/notesMaster1.xml" Id="R1e71ee47ed5f46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416e33e9f8b4ad9" /><Relationship Type="http://schemas.openxmlformats.org/officeDocument/2006/relationships/notesMaster" Target="/ppt/notesMasters/notesMaster1.xml" Id="R71c70e037c8a46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b12955a3c046fc" /><Relationship Type="http://schemas.openxmlformats.org/officeDocument/2006/relationships/notesMaster" Target="/ppt/notesMasters/notesMaster1.xml" Id="Ra336f2dc2de042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开场：e by Eternalgy 是为团队打造的 AI。核心理念是把 AI 的工作能力与公司的资料、设定和工作流程绑定。本阶段产品以 Document Intelligence 为切入点。团队定位描述产品方向，当前 host 仍为单一操作员、默认公司。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痛点是公司信息常分散在旧文件、表单与不同成员手里。我们提出的产品命题是：每一次 AI 工作都应使用同一套经过确认的公司资料和规则。这是创始人的问题定义，不是对全部竞品的事实判断。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水坝原理是商业化比喻，而非经外部研究证实的行业结论：大模型能力像水源，使用门槛像拦水的坝。最后一里路是让公司实际搭建、成员实际使用并持续可靠完成工作。三个门槛为搭建、使用和稳定。这里的水源并无具体 model 性能比较，避免未经核实的模型名称与前沿基准。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快速搭建是目标，依靠公司资料 onboarding、常用业务数据结构和流程知识，并仍需要用户确认。零使用门槛是创始人的设计目标，具体实现为聊天入口和内勤助理使用方式，并非已验证的零培训或无限制可用性。稳定门槛由 scope、SOP、工具权限、数据库约束和测试来降低，不代表 harness 已达到零错误。细胞/器官比喻解释可组合性，整体还需要 orchestration、交接与集成验证。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core/tools.mjs:16-24; host.mjs:26-70;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e 知道：公司的身份、客户与商品、模板、付款条件和流程规则。让 e 工作：查找记录、询问缺项、完成文件、保存关联数据。这里的公司理解指明确保存并在任务中调用的业务上下文，不是模型自动训练。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保留创始人的拟人学习比喻。用已有 invoice、quotation、company profile 和官网内容作为背景材料，提取信息后请用户确认，写入公司资料并预览模板。当前没有在此 repo 新增独立 OCR 或爬虫服务。官网与文件的可读性取决于 host 工具，不能承诺只看几张文件就完全自动完成设置。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创始人的判断是：很多公司虽有不同的行业语言，常见业务底层仍涉及客户、商品、文件、数据采集和工作规则。e 当前预置常用业务 schema，可通过字段、模板和 readiness rules 做公司配置。这不是任意自动设计数据库或支持所有行业的承诺。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本页以单次文件生成方式与 e 的业务流程方式做概念对比，并非声称全部其他 AI 只会 PDF。齿轮代表相互配合的现有结构：Schema 是预置的业务数据模型，DB 保存记录，Workflow 管理文档生命周期，SOP 与工具授权约束 specialist，Template 渲染文件。齿轮是概念关系图，不表示运行时物理依赖或自动创建任意 schema。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 Form Designer 可建立与发布表单，Form Clerk 可 review、标记 spam、summary 与 export。带语义绑定的客户表单和 order form 可进入客户记录及报价草稿流程。工程日报和每日打卡属于可配置采集场景，不代表完整工单、考勤或薪资系统。任意问题分析是方向，当前以已有统计、摘要和导出工具为准。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依据：core/forms.mjs:418-481,552-574,754-797,830-884,991-1060,1084-1178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图像来自 repo 中的 CRM dashboard preview，数值为演示数据，不能解读为 Eternalgy 的真实经营表现或客户业绩。代码实现了 outstanding、overdue、billed/collected、quotation pipeline 与 recent documents 等指标。本页用 UI 图像展示输出示例，避免宣称已验证的收益。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依据：core/dashboard.mjs:23-128; preview/crm-desktop.png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Orchestrator 接收需求并派发给 specialist。当前 DI registry 有七个 specialist。Record 与 Document agent 用于主要业务，Forms 与 Intake 用于采集和处理，Onboarding、Templates 和 DB 用于公司设置。所有 agent 共享业务记录，但工具按角色授权。Orchestrator 的外围实现属于 UIv2 host，不把当前子目录说成独立完整 host。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细胞比喻：聪明的人是否要求每个细胞都像人一样聪明？用红血球和大肠细胞作修辞，引出分工与组织产生整体能力。图像为抽象系统示意，不是人体结构或细胞生物学说明，不对细胞是否具有认知能力作科学断言。e 的目标是把 specialist 限制在可检查的明确任务中，再通过 orchestration 和集成验证形成可靠系统。整体可靠性并不能只由单个单元可靠性推导。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依据：创始人本次提供的细胞级 AI 比喻；core/tools.mjs:16-24;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本页为两种架构思路的概念对比，不将所有竞品归为单一模式。左侧表示持续扩大单个 AI 的职责，右侧表示 e 的 specialist architecture。资料、文件、模板、表单是当前 specialist 职责示例，不是声称每个微任务都有独立 agent。Minimal scope、SOP、工具权限与测试让单元更容易约束，但整体可靠性仍依赖调度、信息交接和系统测试。可靠性为目标，没有已验证的零错误率或速度数值。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依据：core/tools.mjs:16-24,729-737; core/actions.mjs:31-44;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本页表达产品的差异化设计选择，避免把一般 AI 都只做模板当作经市场研究证实的事实。公司上下文存在数据与配置中，后续任务可继续用。流程与权限是系统设计选择。不能保证任意任务、任意公司都能自动接入，也不能宣称自动创建任意数据库。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必须明确 today vs future。Repo 文档定义 MVP/working demo，host 单一操作员/default company。数据库 tenant-aware 不等于当前支持完整团队用户权限或 tenant switching。MyInvois 只有预备字段，未提交整合。自主判断文档类型、自动扩展 schema、任意问题分析属于待验证方向。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依据：checker/index.mjs:48-50; ONBOARDING.md; README.md; 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这是建议的试点设计，不是已存在的套餐、价格、期限或客户成果。选 quotation/invoice 或 form intake 其中一条，以现有文件与少量真实记录开始，在 owner 确认后运行。验收比较准备时间、返工、字段完整性和追踪便利程度，不宣称特定节省百分比。多成员使用取决于后续权限能力。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这是投资讨论框架，不是经验证的商业表现。切入场景是常见文件与数据采集，扩展依赖 specialist 和公司上下文。待验证项包括 onboarding 成本、真实任务可靠性、持续使用、付费意愿。没有 supplied traction、收入、市场规模、募资额、成本或估值，不能虚构。本 deck 是产品与技术命题介绍，并不是完整融资财务 deck。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结尾给两种听众一个清楚的下一步。客户：选一条真实流程做试点。投资者：共同评估 repeat workflow adoption 和实际交付可靠性。产品 slogan 保留创始人原文。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来源附录便于 Q&amp;A。所有代码依据均为本地 repo，非 public website。演示截图数据仅展示界面。产品理念来自创始人本次对话。自动 onboarding、任意 schema 和 team access 不混同现有实现。资料截至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core/forms.mjs:418-481,552-574,754-797,830-884,991-1060,1084-1178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ONBOARDING.md; core/company.mjs; README.md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dbaf6fb1244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af92e82bee4cf1" /><Relationship Type="http://schemas.openxmlformats.org/officeDocument/2006/relationships/slideLayout" Target="/ppt/slideLayouts/slideLayout1.xml" Id="R93b4981e569446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4981e569446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f14fc670b468b" /><Relationship Type="http://schemas.openxmlformats.org/officeDocument/2006/relationships/image" Target="/ppt/media/image.png" Id="Rce035033b1674eb5" /><Relationship Type="http://schemas.openxmlformats.org/officeDocument/2006/relationships/notesSlide" Target="/ppt/notesSlides/notesSlide1.xml" Id="R966111bcfed640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bb50004134ebf" /><Relationship Type="http://schemas.openxmlformats.org/officeDocument/2006/relationships/notesSlide" Target="/ppt/notesSlides/notesSlide2.xml" Id="Rbc68e3e48d7244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79b69060647c4" /><Relationship Type="http://schemas.openxmlformats.org/officeDocument/2006/relationships/notesSlide" Target="/ppt/notesSlides/notesSlide3.xml" Id="R4538deca9b6e4c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c4b137fcc4b05" /><Relationship Type="http://schemas.openxmlformats.org/officeDocument/2006/relationships/notesSlide" Target="/ppt/notesSlides/notesSlide4.xml" Id="R376256caa7e748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c7177a61e436b" /><Relationship Type="http://schemas.openxmlformats.org/officeDocument/2006/relationships/notesSlide" Target="/ppt/notesSlides/notesSlide5.xml" Id="Raf65b92ffefb47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c0ff065d44c26" /><Relationship Type="http://schemas.openxmlformats.org/officeDocument/2006/relationships/image" Target="/ppt/media/image2.png" Id="Rd94a39c1d9c243c6" /><Relationship Type="http://schemas.openxmlformats.org/officeDocument/2006/relationships/notesSlide" Target="/ppt/notesSlides/notesSlide6.xml" Id="R1ffdcb06c61648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458e42c1643d0" /><Relationship Type="http://schemas.openxmlformats.org/officeDocument/2006/relationships/notesSlide" Target="/ppt/notesSlides/notesSlide7.xml" Id="Rf5be75bbf6a749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dc2594f10498f" /><Relationship Type="http://schemas.openxmlformats.org/officeDocument/2006/relationships/image" Target="/ppt/media/image3.png" Id="R48404e51f8b84029" /><Relationship Type="http://schemas.openxmlformats.org/officeDocument/2006/relationships/notesSlide" Target="/ppt/notesSlides/notesSlide8.xml" Id="R0febae24e0e340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b96598de64002" /><Relationship Type="http://schemas.openxmlformats.org/officeDocument/2006/relationships/notesSlide" Target="/ppt/notesSlides/notesSlide9.xml" Id="Rcd6a2cd9093844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e3dd25e7f4c7d" /><Relationship Type="http://schemas.openxmlformats.org/officeDocument/2006/relationships/image" Target="/ppt/media/image4.png" Id="Rebb8291fe57840e1" /><Relationship Type="http://schemas.openxmlformats.org/officeDocument/2006/relationships/notesSlide" Target="/ppt/notesSlides/notesSlide10.xml" Id="R811071f5721b4d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23e8c6bef4a75" /><Relationship Type="http://schemas.openxmlformats.org/officeDocument/2006/relationships/notesSlide" Target="/ppt/notesSlides/notesSlide11.xml" Id="Re4b017f6c3924d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461b5a06a4fea" /><Relationship Type="http://schemas.openxmlformats.org/officeDocument/2006/relationships/notesSlide" Target="/ppt/notesSlides/notesSlide12.xml" Id="R4e15c271c9e74c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fc134984643d3" /><Relationship Type="http://schemas.openxmlformats.org/officeDocument/2006/relationships/notesSlide" Target="/ppt/notesSlides/notesSlide13.xml" Id="R810b03a1310c4d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c90dc50bf4a66" /><Relationship Type="http://schemas.openxmlformats.org/officeDocument/2006/relationships/notesSlide" Target="/ppt/notesSlides/notesSlide14.xml" Id="R0e8ad704ac8b48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c20993a174b1b" /><Relationship Type="http://schemas.openxmlformats.org/officeDocument/2006/relationships/notesSlide" Target="/ppt/notesSlides/notesSlide15.xml" Id="R2193fd9e108f47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cc6f39cfe4bde" /><Relationship Type="http://schemas.openxmlformats.org/officeDocument/2006/relationships/notesSlide" Target="/ppt/notesSlides/notesSlide16.xml" Id="Rdc6ff385db6b41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57e4af4bd4ca8" /><Relationship Type="http://schemas.openxmlformats.org/officeDocument/2006/relationships/notesSlide" Target="/ppt/notesSlides/notesSlide17.xml" Id="R2d12e2cf9b024f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3cdffe0c746be" /><Relationship Type="http://schemas.openxmlformats.org/officeDocument/2006/relationships/notesSlide" Target="/ppt/notesSlides/notesSlide18.xml" Id="R5419c73863f24c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8979c5e8c43e6" /><Relationship Type="http://schemas.openxmlformats.org/officeDocument/2006/relationships/notesSlide" Target="/ppt/notesSlides/notesSlide19.xml" Id="R2673e90dddd04b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D7F00-D327-47DE-924B-CE4DBD1D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1308C-E007-4A99-B2FE-0773D7DE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D5117-9097-45E4-B768-ABBE3BBD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by eternalgy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D9D55-376B-482F-80B5-A10FAC2B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C881A-36F6-4C18-8BE2-408BB3F4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35033b1674eb5"/>
          <a:stretch xmlns:a="http://schemas.openxmlformats.org/drawingml/2006/main"/>
        </p:blipFill>
        <p:spPr>
          <a:xfrm xmlns:a="http://schemas.openxmlformats.org/drawingml/2006/main">
            <a:off x="8382000" y="1524000"/>
            <a:ext cx="2762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26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32ADD-23CE-433C-BAD0-BDAE81F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637FF-3B8F-41AF-B9D6-F5AE7DE3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A297A-4EF2-4D02-98A6-47C1CDD6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成员知道的事，</a:t>
            </a:r>
          </a:p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应成为 e 工作的依据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EB061-4BA2-4B89-B527-EE652063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公司资料散落在旧文件与成员经验中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重复解释背景，重复录入资料，交接依赖个人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团队需要延续前一次工作的记录与规则</a:t>
            </a:r>
          </a:p>
        </p:txBody>
      </p:sp>
    </p:spTree>
    <p:extLst>
      <p:ext uri="{BB962C8B-B14F-4D97-AF65-F5344CB8AC3E}">
        <p14:creationId xmlns:p14="http://schemas.microsoft.com/office/powerpoint/2010/main" val="968013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5C02B-CAC6-4852-B51F-DE38A783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变现的水坝原理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16F0F-85B6-4413-B6A7-EF13839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E612B-DA16-41E3-BE14-87CB95D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能力像水源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使用门槛像一道坝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F1B44-8B2B-400C-ABA6-53080A0C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搭建门槛       使用门槛       稳定门槛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F1A46-6B19-4520-9047-49893CA6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变现的最后一里路：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公司搭得起，成员用得上，工作交付值得信任</a:t>
            </a:r>
          </a:p>
        </p:txBody>
      </p:sp>
    </p:spTree>
    <p:extLst>
      <p:ext uri="{BB962C8B-B14F-4D97-AF65-F5344CB8AC3E}">
        <p14:creationId xmlns:p14="http://schemas.microsoft.com/office/powerpoint/2010/main" val="586021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6531C-A43A-4EE5-9B5B-73E28742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e 围绕三道门槛设计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5F757-077F-4C9B-82F2-5CB9015E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DF372-DCEB-45F1-92C4-D9232AFE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搭建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A0ECF-35E7-4D05-847E-84258A08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分享公司资料，配置已有流程与业务结构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AFE1F-3C38-4DA9-B878-EE4D136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AFF9C-31B8-4F32-90E7-3BC68621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43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聊天就是入口，像交代内部 admin clerk 一样交代工作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EC435-1C65-4F3F-BBD1-034EA742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8CFBF-1E8C-459E-A0C0-B5443DD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细胞级专职 AI 各守职责，以 SOP、权限与测试约束流程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A2083-88F7-4DFC-BF20-49AB5447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设计目标：更快搭建、更少学习负担、更一致的交付</a:t>
            </a:r>
          </a:p>
        </p:txBody>
      </p:sp>
    </p:spTree>
    <p:extLst>
      <p:ext uri="{BB962C8B-B14F-4D97-AF65-F5344CB8AC3E}">
        <p14:creationId xmlns:p14="http://schemas.microsoft.com/office/powerpoint/2010/main" val="1471704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3BC50-EAD4-4645-8EC3-48BAB4AE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52747-BD67-4F70-8000-C94D061D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5EF6E-466E-4EB4-B289-E1608D90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E73D3-A85F-43F7-8234-B4460B94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文件怎样做，流程怎样走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9AD51-F588-4A5C-938D-2C8AF36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5DFCB-8EC0-46DA-9BB7-095BE7D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按公司资料准备文件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发现缺项，先询问再处理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把成果与业务记录连接起来</a:t>
            </a:r>
          </a:p>
        </p:txBody>
      </p:sp>
    </p:spTree>
    <p:extLst>
      <p:ext uri="{BB962C8B-B14F-4D97-AF65-F5344CB8AC3E}">
        <p14:creationId xmlns:p14="http://schemas.microsoft.com/office/powerpoint/2010/main" val="1071308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FE443-AB37-4C63-8E29-80660EBC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A30F-FCD8-487D-9094-DD0B3C46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B13B8-A105-4D9B-AF95-D920CC65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09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旧文件与公司资料</a:t>
            </a:r>
          </a:p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成为入职材料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5BC7C-54E7-4702-A2A6-2C509000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Invoice / Quotation</a:t>
            </a:r>
          </a:p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Company Profile / 官网内容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B29B2-DEF5-48B6-A0CE-6AD0152C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238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读取资料，提取核心信息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用户确认后保存公司设定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预览模板，核对实际工作结果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a39c1d9c243c6"/>
          <a:stretch xmlns:a="http://schemas.openxmlformats.org/drawingml/2006/main"/>
        </p:blipFill>
        <p:spPr>
          <a:xfrm xmlns:a="http://schemas.openxmlformats.org/drawingml/2006/main">
            <a:off x="8117765" y="1695450"/>
            <a:ext cx="3081171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4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04074-F50B-4E90-841B-9D15E933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4A1EC-A432-44CB-936E-84815E5C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92FE4-E830-4615-8CD0-BB8C7CF2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不同公司的工作，</a:t>
            </a:r>
          </a:p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共享许多相同的业务结构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35D6B-71F6-4678-AD07-52942389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客户与联系人      产品与服务      业务文件</a:t>
            </a:r>
          </a:p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表单与提交记录    公司设定与流程规则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47955-DC7F-4EEA-81D8-C9AE7827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e 用常用数据结构承接这些工作，再适应公司的字段、模板与流程</a:t>
            </a:r>
          </a:p>
        </p:txBody>
      </p:sp>
    </p:spTree>
    <p:extLst>
      <p:ext uri="{BB962C8B-B14F-4D97-AF65-F5344CB8AC3E}">
        <p14:creationId xmlns:p14="http://schemas.microsoft.com/office/powerpoint/2010/main" val="1638574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A71157-3198-474C-9AD1-C5DDA056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A6471-4F10-43B1-9A54-856B19FA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19CF5-1C7B-46FB-8833-5F1CBB0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96292-F92B-4156-B4B4-5927F3B5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单次文件生成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04e51f8b84029"/>
          <a:stretch xmlns:a="http://schemas.openxmlformats.org/drawingml/2006/main"/>
        </p:blipFill>
        <p:spPr>
          <a:xfrm xmlns:a="http://schemas.openxmlformats.org/drawingml/2006/main">
            <a:off x="1321510" y="3000375"/>
            <a:ext cx="1728954" cy="2447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8C346-7FF0-407A-9C3E-EA44F43C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340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2C1A7-18AC-4AF3-B179-57BB74C1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14C89-7920-4325-B67F-49ACB584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764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e：按业务流程处理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C7003-94F4-49F0-91C9-D88C0112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48500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9D001-FCC6-4B45-B833-8CB9027A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9625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C3A93-7A35-4214-9EC5-C64CB10B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0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D8BB8-60B8-44B7-ABF1-A0D9C3DB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29625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EF897-176A-4C5B-977F-420F96DB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ED980-2B34-435E-8946-C353BFC3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3068955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3E7DA-4A2D-4F76-B4C6-273DCCC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3267075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ED6BC-347F-4BF6-AD4E-92087DF8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CFD0A-2EC3-4568-B21A-AC1C0A09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068955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69056-6C59-4364-AD4D-5BC2E15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3267075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190C8-27B3-4AD4-89B4-F108E63D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A27F5-2634-4DF4-BF4A-9E9A01DF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45643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6720B-6FE0-4EDB-AADB-9FA14D3C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4762500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BC302-F607-453D-A0F3-DE8B021B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05300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05912-853C-4943-81E3-2FD18BC1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5643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86891-B878-4038-B131-2DEF4FB8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4762500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56DAA-51B0-4638-BC45-68E8B5B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43275"/>
            <a:ext cx="1714500" cy="1714500"/>
          </a:xfrm>
          <a:custGeom xmlns:a="http://schemas.openxmlformats.org/drawingml/2006/main">
            <a:pathLst>
              <a:path w="1714500" h="1714500">
                <a:moveTo>
                  <a:pt x="857250" y="17145"/>
                </a:moveTo>
                <a:lnTo>
                  <a:pt x="966906" y="24332"/>
                </a:lnTo>
                <a:lnTo>
                  <a:pt x="1036967" y="186538"/>
                </a:lnTo>
                <a:lnTo>
                  <a:pt x="1122975" y="215733"/>
                </a:lnTo>
                <a:lnTo>
                  <a:pt x="1277303" y="129698"/>
                </a:lnTo>
                <a:lnTo>
                  <a:pt x="1368674" y="190750"/>
                </a:lnTo>
                <a:lnTo>
                  <a:pt x="1348246" y="366254"/>
                </a:lnTo>
                <a:lnTo>
                  <a:pt x="1408133" y="434543"/>
                </a:lnTo>
                <a:lnTo>
                  <a:pt x="1584802" y="437198"/>
                </a:lnTo>
                <a:lnTo>
                  <a:pt x="1633406" y="535756"/>
                </a:lnTo>
                <a:lnTo>
                  <a:pt x="1527962" y="677533"/>
                </a:lnTo>
                <a:lnTo>
                  <a:pt x="1545682" y="766616"/>
                </a:lnTo>
                <a:lnTo>
                  <a:pt x="1697355" y="857250"/>
                </a:lnTo>
                <a:lnTo>
                  <a:pt x="1690168" y="966906"/>
                </a:lnTo>
                <a:lnTo>
                  <a:pt x="1527962" y="1036967"/>
                </a:lnTo>
                <a:lnTo>
                  <a:pt x="1498767" y="1122975"/>
                </a:lnTo>
                <a:lnTo>
                  <a:pt x="1584802" y="1277303"/>
                </a:lnTo>
                <a:lnTo>
                  <a:pt x="1523750" y="1368674"/>
                </a:lnTo>
                <a:lnTo>
                  <a:pt x="1348246" y="1348246"/>
                </a:lnTo>
                <a:lnTo>
                  <a:pt x="1279957" y="1408133"/>
                </a:lnTo>
                <a:lnTo>
                  <a:pt x="1277303" y="1584802"/>
                </a:lnTo>
                <a:lnTo>
                  <a:pt x="1178744" y="1633406"/>
                </a:lnTo>
                <a:lnTo>
                  <a:pt x="1036967" y="1527962"/>
                </a:lnTo>
                <a:lnTo>
                  <a:pt x="947884" y="1545682"/>
                </a:lnTo>
                <a:lnTo>
                  <a:pt x="857250" y="1697355"/>
                </a:lnTo>
                <a:lnTo>
                  <a:pt x="747594" y="1690168"/>
                </a:lnTo>
                <a:lnTo>
                  <a:pt x="677533" y="1527962"/>
                </a:lnTo>
                <a:lnTo>
                  <a:pt x="591525" y="1498767"/>
                </a:lnTo>
                <a:lnTo>
                  <a:pt x="437197" y="1584802"/>
                </a:lnTo>
                <a:lnTo>
                  <a:pt x="345826" y="1523750"/>
                </a:lnTo>
                <a:lnTo>
                  <a:pt x="366254" y="1348246"/>
                </a:lnTo>
                <a:lnTo>
                  <a:pt x="306367" y="1279957"/>
                </a:lnTo>
                <a:lnTo>
                  <a:pt x="129698" y="1277303"/>
                </a:lnTo>
                <a:lnTo>
                  <a:pt x="81094" y="1178744"/>
                </a:lnTo>
                <a:lnTo>
                  <a:pt x="186538" y="1036967"/>
                </a:lnTo>
                <a:lnTo>
                  <a:pt x="168818" y="947884"/>
                </a:lnTo>
                <a:lnTo>
                  <a:pt x="17145" y="857250"/>
                </a:lnTo>
                <a:lnTo>
                  <a:pt x="24332" y="747594"/>
                </a:lnTo>
                <a:lnTo>
                  <a:pt x="186538" y="677533"/>
                </a:lnTo>
                <a:lnTo>
                  <a:pt x="215733" y="591525"/>
                </a:lnTo>
                <a:lnTo>
                  <a:pt x="129698" y="437197"/>
                </a:lnTo>
                <a:lnTo>
                  <a:pt x="190750" y="345826"/>
                </a:lnTo>
                <a:lnTo>
                  <a:pt x="366254" y="366254"/>
                </a:lnTo>
                <a:lnTo>
                  <a:pt x="434543" y="306367"/>
                </a:lnTo>
                <a:lnTo>
                  <a:pt x="437197" y="129698"/>
                </a:lnTo>
                <a:lnTo>
                  <a:pt x="535756" y="81094"/>
                </a:lnTo>
                <a:lnTo>
                  <a:pt x="677533" y="186538"/>
                </a:lnTo>
                <a:lnTo>
                  <a:pt x="766616" y="168818"/>
                </a:lnTo>
                <a:close/>
              </a:path>
            </a:pathLst>
          </a:cu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AD922-8E06-4028-9CC4-96C501FB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365" y="3634740"/>
            <a:ext cx="1131570" cy="1131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0243E-4354-4BF6-A520-84E0C5A0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915" y="3857625"/>
            <a:ext cx="147447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307B1-7A88-4183-B94D-B7950AD3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531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查记录、补缺项、发行 PDF、保存关联、追踪付款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13259382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3DEF4-E6F9-493D-9248-ACD90413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Form 收集数据，e 延续后面的工作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FBC3B-410A-4C78-8565-777F8E4D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FD3FF-D396-4405-B450-CA8CB25C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3217D-6956-48AB-AD73-481B124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DB9AA-B306-48AC-9F7A-B559154D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9F465-C64F-4123-AA54-7FC073A9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2143125" cy="1619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E24DE-5C27-4284-838C-497933B4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BFD8C-4356-47EB-94A2-1E1817DA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2143125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7123B-1C72-4DDA-AAAD-5FCE9997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C931D-2973-4AB7-AD24-04522D37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594F5-8B57-45CB-AA9E-3EF118F4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828925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4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715000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8" idx="6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01075" y="381000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51C58-C483-461B-8E27-B93AD95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先把信息收进来，再关联客户、文件与下一步工作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3161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E5323-AA83-4B0D-92FD-A10AF5DF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业务记录，让团队看见工作状态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DABB1-4F2C-441B-9E4A-BF661BD5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CA1CB-E4A4-4CDC-A376-20E3D893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238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哪些款项未收？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invoice 已逾期？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quotation 待跟进？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51935-E8D8-47DD-87FC-8C0BFE84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文件背后的数据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可以汇总成业务概览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8291fe57840e1"/>
          <a:stretch xmlns:a="http://schemas.openxmlformats.org/drawingml/2006/main"/>
        </p:blipFill>
        <p:spPr>
          <a:xfrm xmlns:a="http://schemas.openxmlformats.org/drawingml/2006/main">
            <a:off x="6858624" y="1771650"/>
            <a:ext cx="4666002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B4C9C-4C9E-4634-9DB6-B2463FD1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57875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现有界面预览，图中金额与数量为演示数据</a:t>
            </a:r>
          </a:p>
        </p:txBody>
      </p:sp>
    </p:spTree>
    <p:extLst>
      <p:ext uri="{BB962C8B-B14F-4D97-AF65-F5344CB8AC3E}">
        <p14:creationId xmlns:p14="http://schemas.microsoft.com/office/powerpoint/2010/main" val="20568303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15270-2B7E-4B11-A610-5D0EFC1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25C37-B1BD-4545-8535-E7ECA934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E5F90-28E6-49C5-9873-DB54B07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C3536-19A6-4D3C-9457-B87043F6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848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理解需求，安排工作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0431C-1AA6-427A-B8C6-431DC02D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D5C5B-64F7-4E28-8844-3210574A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4DA1C-6F47-4967-9180-A5F86A58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2932E-6F9D-423C-AA24-D83CD508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97089-E418-467B-A53E-A7790174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4E454-02CC-44C0-801C-959E0C70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99910-3EE5-4803-A4CA-F35C98D7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DCC69-7A51-43E2-A48D-EA474463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F0FAB-E4EC-4EA6-9477-7FA764F9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B3FD7-F8B5-430D-9E37-BAC8F76B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E2912-93DB-4577-8037-3CD5A19B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2B3EB-7051-4CD3-A565-313A3DED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68CC0-A1D4-4D66-A91B-B2CC2E98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B0147-4325-4516-972C-22240A89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ED95D-3A83-4EAC-8DA9-6BDA955C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F6439-AF42-4FA8-90A0-C9AFF294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76591-98C7-48B3-9A4B-E853DF42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692ED-D19D-4D97-A57E-CAE6E18E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9C272-C91A-4DD8-A83E-04AC4D97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48DE6-ED0C-45D7-A72F-41351F23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591F44-CF18-404F-9D5B-521E34A3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3C0913-6748-4F20-AC9F-98EF94D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1FA97-22F0-460C-880E-1F417EEA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BF9DD6-8604-4C75-880C-50A1387D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每位 specialist 只使用获授权的工具，共享同一套业务记录</a:t>
            </a:r>
          </a:p>
        </p:txBody>
      </p:sp>
    </p:spTree>
    <p:extLst>
      <p:ext uri="{BB962C8B-B14F-4D97-AF65-F5344CB8AC3E}">
        <p14:creationId xmlns:p14="http://schemas.microsoft.com/office/powerpoint/2010/main" val="2656061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C0BB0-EAFC-4133-B214-63F0A234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Stupid = Smart：细胞级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8C6F7-59EF-42C6-AA65-6581978C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916EE-D397-4403-899E-307EDC82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聪明的人，</a:t>
            </a:r>
          </a:p>
          <a:p xmlns:a="http://schemas.openxmlformats.org/drawingml/2006/main">
            <a:pPr>
              <a:def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需要每个细胞都聪明吗？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DF0EB-AA1E-471C-9807-945FACAD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“聪明的红血球？”</a:t>
            </a:r>
          </a:p>
          <a:p xmlns:a="http://schemas.openxmlformats.org/drawingml/2006/main">
            <a:pPr>
              <a:def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“聪明的大肠细胞？”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10D81-A08E-47B5-A98A-6B5A443D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524250" cy="3524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B6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C68D4-D917-4DC0-85B1-C76C3950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981075" cy="981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D1EB1-C208-4A51-A2AD-C773E520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337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1D47E-EF88-40AB-956C-527B52C9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24175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53A54-6697-407D-97D1-EDEF3CB7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861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6DA31-E6CC-4981-A9C4-DC364EB1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005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02743-82C7-4E28-BCEE-B5F54388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0005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C1410-2B92-4A95-BBE8-9C4606BD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91025"/>
            <a:ext cx="981075" cy="981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011A9-9632-4398-B64F-F55C4BB6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不同单元，各司其职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DBF02-46F2-4503-81D5-52B10E16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整体的能力，来自分工与协作</a:t>
            </a:r>
          </a:p>
        </p:txBody>
      </p:sp>
    </p:spTree>
    <p:extLst>
      <p:ext uri="{BB962C8B-B14F-4D97-AF65-F5344CB8AC3E}">
        <p14:creationId xmlns:p14="http://schemas.microsoft.com/office/powerpoint/2010/main" val="18627932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961059-BD49-49F9-833D-A37AEECB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聪明的系统，可以由简单的单元组成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73353-4CE9-4212-977D-52AC49A5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149DB-9D3F-429B-B2F3-D6C65158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扩大一个 AI 的职责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220E7-6C09-4EB1-8DCB-1DD0077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716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e：组合细胞级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2F07F-D31C-4D4A-A62C-16A1F2A7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7432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4D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8DA80-A523-4B89-B8E5-5510E2E0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19400"/>
            <a:ext cx="2228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一个 AI</a:t>
            </a:r>
          </a:p>
          <a:p xmlns:a="http://schemas.openxmlformats.org/drawingml/2006/main">
            <a:pPr algn="ctr">
              <a:def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包办所有工作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810D5-7551-4059-819A-442735B3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资料、文件、模板、表单…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C9170-D749-4BDC-8002-F050F0FB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052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C59DF-39E4-4191-B58E-E9203407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457200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B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1F387-79E8-40C4-B6FE-45FA2818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67625" y="3248025"/>
            <a:ext cx="123825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AC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B7351-5B8A-4B9F-8C83-26B016EE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05875" y="3248025"/>
            <a:ext cx="123825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AC9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ED0A6-FCAE-4F37-8D2B-1D6923A4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67625" y="4067175"/>
            <a:ext cx="123825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AC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F1002-0C12-4D99-8187-5B257BDA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05875" y="4067175"/>
            <a:ext cx="123825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AC9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E5574-9DF2-4E9B-BBCB-1F0C3FFD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D6B06-F294-4086-9783-7DE40AB2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89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85227-9605-4ACA-B145-037D8070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B2639-8F36-41FF-8383-5706A785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89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DE6A4-9D47-49BD-84DE-8DA7E056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434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435E5-3759-4D48-AFB7-23C252C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89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8F142-9053-4260-988F-02F2A931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C79C4-3453-4B1F-9742-5730D76B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19600"/>
            <a:ext cx="89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07931-05DA-4EF4-AE14-BE7398E8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4575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35C41-9FFF-42FE-B2B2-BD746650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33775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0ED38F-98BF-4AA9-A83B-FF7EC5A0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81675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每个单元：明确任务、SOP、权限与测试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85F3D-1933-4990-BF8B-3B18CC5E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职责越广，验证组合越多</a:t>
            </a:r>
          </a:p>
        </p:txBody>
      </p:sp>
    </p:spTree>
    <p:extLst>
      <p:ext uri="{BB962C8B-B14F-4D97-AF65-F5344CB8AC3E}">
        <p14:creationId xmlns:p14="http://schemas.microsoft.com/office/powerpoint/2010/main" val="19244521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04EB3-3820-42E5-A947-018A8F91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公司上下文，连接每一次工作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851E4-AF77-43AE-AF3C-5D60069F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5350F-A445-46DB-A93B-E81FD60E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公司资料决定内容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D3034-DFCB-4750-BAAB-7A2398A7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公司名称、客户、价格与付款条件来自已保存记录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488E8-D9D4-4FD2-8CDB-C28EA714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公司规则决定流程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3B7C0-D168-420D-8657-483CA215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哪些字段必须补齐、何时发行、谁能使用哪些工具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4D5B4-A62B-4CDE-9F6D-E7CC4475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这套上下文可以延续到下一张文件与下一次任务</a:t>
            </a:r>
          </a:p>
        </p:txBody>
      </p:sp>
    </p:spTree>
    <p:extLst>
      <p:ext uri="{BB962C8B-B14F-4D97-AF65-F5344CB8AC3E}">
        <p14:creationId xmlns:p14="http://schemas.microsoft.com/office/powerpoint/2010/main" val="16840493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E6413-1902-42F1-9BD4-13891B61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D0D9B-801A-4FD7-8982-B2D37DBE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0C772-C4DC-4588-A4E5-4443875F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13859-87A0-4487-AE1A-D3962AE3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客户、商品与文档流程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付款记录与业务概览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表单、模板与公司规则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数据库按 tenant 分隔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D819C-D7D2-40F0-8934-73827CB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下一步产品方向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71001-DA02-4421-AF17-39DEA832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更多重复业务流程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更广泛的业务问答分析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BD624-121C-4EDA-947C-705F641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11798491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56ECD-79D0-4FCF-843B-58D5D37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客户试点：先完成一条真实工作流程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8EFD9-A466-4C7D-B1E0-2F2E0D3E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38A88-59C0-427D-BBB0-5C914DED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已有文件与规则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82B81-B85E-4632-BDA4-863B511A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用你的 quotation、invoice、客户与商品资料配置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DF75B-F64A-4FB0-AB4A-D3930622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真实工作与明确验收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C73DF-6C28-418F-A016-F8328E78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完成一次准备、发行与付款记录，或一次表单采集与处理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比较准备时间、返工次数和数据完整性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8462708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3CAC3-E7DB-4A57-A6E6-19C538D4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投资命题：从重复工作验证团队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6158F-8E8D-4DF4-969E-EB6828F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E5D69-3FB7-4082-97BD-7A70EB19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切入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9167B-9E91-45AB-B184-8D8DB5C2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Invoice、quotation 与表单等重复工作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1588E-2E3C-4B2B-99BF-92B317D4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8AC2A-0282-4B18-B482-836AABF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围绕共同公司上下文，增加可验证的 specialist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69C2C-C5BC-4A88-8E8B-F1AFABF7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55B1E-B40D-40DC-A103-CF4788E6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三道门槛是否降低，是否带来持续使用与付费意愿</a:t>
            </a:r>
          </a:p>
        </p:txBody>
      </p:sp>
    </p:spTree>
    <p:extLst>
      <p:ext uri="{BB962C8B-B14F-4D97-AF65-F5344CB8AC3E}">
        <p14:creationId xmlns:p14="http://schemas.microsoft.com/office/powerpoint/2010/main" val="9459961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3C04E-F6C2-4634-8BB5-65718872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20238-591C-4BF6-975F-CFCAB800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B6F24-5F4F-4EC9-BBA3-153B2D8A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C790E-50C6-45B7-B260-DC6F54D3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投资者：一起验证团队 AI 的产品路径</a:t>
            </a:r>
          </a:p>
        </p:txBody>
      </p:sp>
    </p:spTree>
    <p:extLst>
      <p:ext uri="{BB962C8B-B14F-4D97-AF65-F5344CB8AC3E}">
        <p14:creationId xmlns:p14="http://schemas.microsoft.com/office/powerpoint/2010/main" val="14015085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34D6C-49D4-4FF0-AE3A-F5430B9C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C3895-C70B-4264-A4B5-5A2919E4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E0E0F-1164-4C50-B981-2A15AB63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产品理念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78604-F25F-4E50-9C00-794AACE3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5842E-2EB5-4393-8F8A-172EC8D2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2D82D-3EF8-42EB-A646-0B833E58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771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C6D3D-9C53-4324-9779-7B8FA1DC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2CA9B-A78C-49B1-A90B-97FA7ECA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771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代码与现有预览支持功能说明，不代表部署验收或客户业绩</a:t>
            </a:r>
          </a:p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截图为演示数据，可靠性和商业指标需在试点中验证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429C2-C3FC-43D0-9CE0-9578F078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468024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2026-10-01T08:09:10.9320000Z</dcterms:created>
  <dcterms:modified xsi:type="dcterms:W3CDTF">2026-10-01T08:09:10.9330000Z</dcterms:modified>
</coreProperties>
</file>