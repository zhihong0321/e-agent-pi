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f1d43c9e414723" /><Relationship Type="http://schemas.openxmlformats.org/officeDocument/2006/relationships/extended-properties" Target="/docProps/app.xml" Id="Rb46850b08eea4c6c" /><Relationship Type="http://schemas.openxmlformats.org/officeDocument/2006/relationships/officeDocument" Target="/ppt/presentation.xml" Id="R99778a27093d42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5e638757d141c5"/>
  </p:sldMasterIdLst>
  <p:notesMasterIdLst>
    <p:notesMasterId xmlns:r="http://schemas.openxmlformats.org/officeDocument/2006/relationships" r:id="R35ca16fa7f414730"/>
  </p:notesMasterIdLst>
  <p:sldIdLst>
    <p:sldId xmlns:r="http://schemas.openxmlformats.org/officeDocument/2006/relationships" id="256" r:id="R5440a558e5bd4a0e"/>
    <p:sldId xmlns:r="http://schemas.openxmlformats.org/officeDocument/2006/relationships" id="257" r:id="R612143cf103747b4"/>
    <p:sldId xmlns:r="http://schemas.openxmlformats.org/officeDocument/2006/relationships" id="258" r:id="R6b54f7bb09db4fe3"/>
    <p:sldId xmlns:r="http://schemas.openxmlformats.org/officeDocument/2006/relationships" id="259" r:id="R4f4fe9601236487f"/>
    <p:sldId xmlns:r="http://schemas.openxmlformats.org/officeDocument/2006/relationships" id="260" r:id="R8ccf54657be94a40"/>
    <p:sldId xmlns:r="http://schemas.openxmlformats.org/officeDocument/2006/relationships" id="261" r:id="Rbeacd588680e4389"/>
    <p:sldId xmlns:r="http://schemas.openxmlformats.org/officeDocument/2006/relationships" id="262" r:id="R5bbcb59c5e3249d9"/>
    <p:sldId xmlns:r="http://schemas.openxmlformats.org/officeDocument/2006/relationships" id="263" r:id="R4d04613e401347a3"/>
    <p:sldId xmlns:r="http://schemas.openxmlformats.org/officeDocument/2006/relationships" id="264" r:id="Rbdba0ecaaf5b46ce"/>
    <p:sldId xmlns:r="http://schemas.openxmlformats.org/officeDocument/2006/relationships" id="265" r:id="R74d37a4f8a6b4959"/>
    <p:sldId xmlns:r="http://schemas.openxmlformats.org/officeDocument/2006/relationships" id="266" r:id="R6e5c18f4fd8443c2"/>
    <p:sldId xmlns:r="http://schemas.openxmlformats.org/officeDocument/2006/relationships" id="267" r:id="Rf75cc5ec6f264d44"/>
    <p:sldId xmlns:r="http://schemas.openxmlformats.org/officeDocument/2006/relationships" id="268" r:id="Rb08fb2c304fe47dd"/>
    <p:sldId xmlns:r="http://schemas.openxmlformats.org/officeDocument/2006/relationships" id="269" r:id="Ra3778431d400429d"/>
    <p:sldId xmlns:r="http://schemas.openxmlformats.org/officeDocument/2006/relationships" id="270" r:id="Ra68c1ec4dc024b32"/>
    <p:sldId xmlns:r="http://schemas.openxmlformats.org/officeDocument/2006/relationships" id="271" r:id="Rc143880b5fdf4492"/>
    <p:sldId xmlns:r="http://schemas.openxmlformats.org/officeDocument/2006/relationships" id="272" r:id="Rb2d7c5a9271f4ad6"/>
    <p:sldId xmlns:r="http://schemas.openxmlformats.org/officeDocument/2006/relationships" id="273" r:id="R7bdf2d90880746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ed4b25c2c14420" /><Relationship Type="http://schemas.openxmlformats.org/officeDocument/2006/relationships/slideMaster" Target="/ppt/slideMasters/slideMaster1.xml" Id="R3c5e638757d141c5" /><Relationship Type="http://schemas.openxmlformats.org/officeDocument/2006/relationships/notesMaster" Target="/ppt/notesMasters/notesMaster1.xml" Id="R35ca16fa7f414730" /><Relationship Type="http://schemas.openxmlformats.org/officeDocument/2006/relationships/presProps" Target="/ppt/presProps.xml" Id="R3bfd4916bead46b4" /><Relationship Type="http://schemas.openxmlformats.org/officeDocument/2006/relationships/tableStyles" Target="/ppt/tableStyles.xml" Id="Rd3dd74d845094b19" /><Relationship Type="http://schemas.openxmlformats.org/officeDocument/2006/relationships/slide" Target="/ppt/slides/slide1.xml" Id="R5440a558e5bd4a0e" /><Relationship Type="http://schemas.openxmlformats.org/officeDocument/2006/relationships/slide" Target="/ppt/slides/slide2.xml" Id="R612143cf103747b4" /><Relationship Type="http://schemas.openxmlformats.org/officeDocument/2006/relationships/slide" Target="/ppt/slides/slide3.xml" Id="R6b54f7bb09db4fe3" /><Relationship Type="http://schemas.openxmlformats.org/officeDocument/2006/relationships/slide" Target="/ppt/slides/slide4.xml" Id="R4f4fe9601236487f" /><Relationship Type="http://schemas.openxmlformats.org/officeDocument/2006/relationships/slide" Target="/ppt/slides/slide5.xml" Id="R8ccf54657be94a40" /><Relationship Type="http://schemas.openxmlformats.org/officeDocument/2006/relationships/slide" Target="/ppt/slides/slide6.xml" Id="Rbeacd588680e4389" /><Relationship Type="http://schemas.openxmlformats.org/officeDocument/2006/relationships/slide" Target="/ppt/slides/slide7.xml" Id="R5bbcb59c5e3249d9" /><Relationship Type="http://schemas.openxmlformats.org/officeDocument/2006/relationships/slide" Target="/ppt/slides/slide8.xml" Id="R4d04613e401347a3" /><Relationship Type="http://schemas.openxmlformats.org/officeDocument/2006/relationships/slide" Target="/ppt/slides/slide9.xml" Id="Rbdba0ecaaf5b46ce" /><Relationship Type="http://schemas.openxmlformats.org/officeDocument/2006/relationships/slide" Target="/ppt/slides/slide10.xml" Id="R74d37a4f8a6b4959" /><Relationship Type="http://schemas.openxmlformats.org/officeDocument/2006/relationships/slide" Target="/ppt/slides/slide11.xml" Id="R6e5c18f4fd8443c2" /><Relationship Type="http://schemas.openxmlformats.org/officeDocument/2006/relationships/slide" Target="/ppt/slides/slide12.xml" Id="Rf75cc5ec6f264d44" /><Relationship Type="http://schemas.openxmlformats.org/officeDocument/2006/relationships/slide" Target="/ppt/slides/slide13.xml" Id="Rb08fb2c304fe47dd" /><Relationship Type="http://schemas.openxmlformats.org/officeDocument/2006/relationships/slide" Target="/ppt/slides/slide14.xml" Id="Ra3778431d400429d" /><Relationship Type="http://schemas.openxmlformats.org/officeDocument/2006/relationships/slide" Target="/ppt/slides/slide15.xml" Id="Ra68c1ec4dc024b32" /><Relationship Type="http://schemas.openxmlformats.org/officeDocument/2006/relationships/slide" Target="/ppt/slides/slide16.xml" Id="Rc143880b5fdf4492" /><Relationship Type="http://schemas.openxmlformats.org/officeDocument/2006/relationships/slide" Target="/ppt/slides/slide17.xml" Id="Rb2d7c5a9271f4ad6" /><Relationship Type="http://schemas.openxmlformats.org/officeDocument/2006/relationships/slide" Target="/ppt/slides/slide18.xml" Id="R7bdf2d90880746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3dac4fb51644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40f3ea03624489" /><Relationship Type="http://schemas.openxmlformats.org/officeDocument/2006/relationships/notesMaster" Target="/ppt/notesMasters/notesMaster1.xml" Id="R15c763c4810b45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7718e2cb154a40" /><Relationship Type="http://schemas.openxmlformats.org/officeDocument/2006/relationships/notesMaster" Target="/ppt/notesMasters/notesMaster1.xml" Id="R130acfca118345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14251519154b7e" /><Relationship Type="http://schemas.openxmlformats.org/officeDocument/2006/relationships/notesMaster" Target="/ppt/notesMasters/notesMaster1.xml" Id="R1150cbf4644a49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8c4a9546064c1c" /><Relationship Type="http://schemas.openxmlformats.org/officeDocument/2006/relationships/notesMaster" Target="/ppt/notesMasters/notesMaster1.xml" Id="R47da43d13d0446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0fb8b674694068" /><Relationship Type="http://schemas.openxmlformats.org/officeDocument/2006/relationships/notesMaster" Target="/ppt/notesMasters/notesMaster1.xml" Id="Rc1de7deee4fa49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d32f2d9a314d9f" /><Relationship Type="http://schemas.openxmlformats.org/officeDocument/2006/relationships/notesMaster" Target="/ppt/notesMasters/notesMaster1.xml" Id="Rcad9f1d8b50e40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3e1d4e6608498e" /><Relationship Type="http://schemas.openxmlformats.org/officeDocument/2006/relationships/notesMaster" Target="/ppt/notesMasters/notesMaster1.xml" Id="R532aee05179042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4a2b2b90654798" /><Relationship Type="http://schemas.openxmlformats.org/officeDocument/2006/relationships/notesMaster" Target="/ppt/notesMasters/notesMaster1.xml" Id="Rc2de84ced98645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d2734f6ce34730" /><Relationship Type="http://schemas.openxmlformats.org/officeDocument/2006/relationships/notesMaster" Target="/ppt/notesMasters/notesMaster1.xml" Id="R0ac1f5b6546f46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b514557dd44caf" /><Relationship Type="http://schemas.openxmlformats.org/officeDocument/2006/relationships/notesMaster" Target="/ppt/notesMasters/notesMaster1.xml" Id="R9ad6aa286f504f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60e4ad88de4522" /><Relationship Type="http://schemas.openxmlformats.org/officeDocument/2006/relationships/notesMaster" Target="/ppt/notesMasters/notesMaster1.xml" Id="R622a707bef6c42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c79496aa28459e" /><Relationship Type="http://schemas.openxmlformats.org/officeDocument/2006/relationships/notesMaster" Target="/ppt/notesMasters/notesMaster1.xml" Id="R971bd043b2204a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6853b3f7504fb6" /><Relationship Type="http://schemas.openxmlformats.org/officeDocument/2006/relationships/notesMaster" Target="/ppt/notesMasters/notesMaster1.xml" Id="R21bfb93bb92e45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3c65ad67cb40be" /><Relationship Type="http://schemas.openxmlformats.org/officeDocument/2006/relationships/notesMaster" Target="/ppt/notesMasters/notesMaster1.xml" Id="R4164035436ae43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e9a356b9b74289" /><Relationship Type="http://schemas.openxmlformats.org/officeDocument/2006/relationships/notesMaster" Target="/ppt/notesMasters/notesMaster1.xml" Id="R67c30dd8ba0d481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84de8019be48de" /><Relationship Type="http://schemas.openxmlformats.org/officeDocument/2006/relationships/notesMaster" Target="/ppt/notesMasters/notesMaster1.xml" Id="R064ac36460f4431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95e9b5f3c04d90" /><Relationship Type="http://schemas.openxmlformats.org/officeDocument/2006/relationships/notesMaster" Target="/ppt/notesMasters/notesMaster1.xml" Id="R347de73df66a41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89bbf44e3544e5f" /><Relationship Type="http://schemas.openxmlformats.org/officeDocument/2006/relationships/notesMaster" Target="/ppt/notesMasters/notesMaster1.xml" Id="R11d88bf0521843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开场：e by Eternalgy 是为团队打造的 AI。核心理念是把 AI 的工作能力与公司的资料、设定和工作流程绑定。本阶段产品以 Document Intelligence 为切入点。团队定位描述产品方向，当前 host 仍为单一操作员、默认公司。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痛点是公司信息常分散在旧文件、表单与不同成员手里。我们提出的产品命题是：每一次 AI 工作都应使用同一套经过确认的公司资料和规则。这是创始人的问题定义，不是对全部竞品的事实判断。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水坝原理是商业化比喻，而非经外部研究证实的行业结论：大模型能力像水源，使用门槛像拦水的坝。最后一里路是让公司实际搭建、成员实际使用并持续可靠完成工作。三个门槛为搭建、使用和稳定。这里的水源并无具体 model 性能比较，避免未经核实的模型名称与前沿基准。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快速搭建是目标，依靠公司资料 onboarding、常用业务数据结构和流程知识，并仍需要用户确认。零使用门槛是创始人的设计目标，具体实现为聊天入口和内勤助理使用方式，并非已验证的零培训或无限制可用性。稳定门槛由 scope、SOP、工具权限、数据库约束和测试来降低，不代表 harness 已达到零错误。细胞/器官比喻解释可组合性，整体还需要 orchestration、交接与集成验证。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README.md; core/tools.mjs:16-24; host.mjs:26-70; 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 e 知道：公司的身份、客户与商品、模板、付款条件和流程规则。让 e 工作：查找记录、询问缺项、完成文件、保存关联数据。这里的公司理解指明确保存并在任务中调用的业务上下文，不是模型自动训练。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README.md; core/documents.mjs:210-339,353-392,467-493,504-549,568-602; core/actions.mjs:31-114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保留创始人的拟人学习比喻。用已有 invoice、quotation、company profile 和官网内容作为背景材料，提取信息后请用户确认，写入公司资料并预览模板。当前没有在此 repo 新增独立 OCR 或爬虫服务。官网与文件的可读性取决于 host 工具，不能承诺只看几张文件就完全自动完成设置。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创始人的判断是：很多公司虽有不同的行业语言，常见业务底层仍涉及客户、商品、文件、数据采集和工作规则。e 当前预置常用业务 schema，可通过字段、模板和 readiness rules 做公司配置。这不是任意自动设计数据库或支持所有行业的承诺。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本页以单次文件生成方式与 e 的业务流程方式做概念对比，并非声称全部其他 AI 只会 PDF。齿轮代表相互配合的现有结构：Schema 是预置的业务数据模型，DB 保存记录，Workflow 管理文档生命周期，SOP 与工具授权约束 specialist，Template 渲染文件。齿轮是概念关系图，不表示运行时物理依赖或自动创建任意 schema。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core/actions.mjs:31-114; 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 Form Designer 可建立与发布表单，Form Clerk 可 review、标记 spam、summary 与 export。带语义绑定的客户表单和 order form 可进入客户记录及报价草稿流程。工程日报和每日打卡属于可配置采集场景，不代表完整工单、考勤或薪资系统。任意问题分析是方向，当前以已有统计、摘要和导出工具为准。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依据：core/forms.mjs:418-481,552-574,754-797,830-884,991-1060,1084-1178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图像来自 repo 中的 CRM dashboard preview，数值为演示数据，不能解读为 Eternalgy 的真实经营表现或客户业绩。代码实现了 outstanding、overdue、billed/collected、quotation pipeline 与 recent documents 等指标。本页用 UI 图像展示输出示例，避免宣称已验证的收益。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依据：core/dashboard.mjs:23-128; preview/crm-desktop.png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Orchestrator 接收需求并派发给 specialist。当前 DI registry 有七个 specialist。Record 与 Document agent 用于主要业务，Forms 与 Intake 用于采集和处理，Onboarding、Templates 和 DB 用于公司设置。所有 agent 共享业务记录，但工具按角色授权。Orchestrator 的外围实现属于 UIv2 host，不把当前子目录说成独立完整 host。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Stupid = Smart 保留创始人的表达。解释为：限制每个 agent 的任务范围，明确 SOP 和工具权限，减少难以测试的组合。可预测的结果是设计目标，当前没有可引用的成功率、延迟或一致性基准。可描述代码中的确定性拒绝，例如未补齐字段不能 issue、越权工具不能调用，但不能承诺模型从不失败。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依据：core/tools.mjs:729-737; core/actions.mjs:31-44; core/documents.mjs:467-475; checker/index.mjs:48-50; ONBOARDING.md;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本页表达产品的差异化设计选择，避免把一般 AI 都只做模板当作经市场研究证实的事实。公司上下文存在数据与配置中，后续任务可继续用。流程与权限是系统设计选择。不能保证任意任务、任意公司都能自动接入，也不能宣称自动创建任意数据库。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依据：core/documents.mjs:210-339,353-392,467-493,504-549,568-602; core/actions.mjs:31-114; core/tools.mjs:16-24; host.mjs:26-70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必须明确 today vs future。Repo 文档定义 MVP/working demo，host 单一操作员/default company。数据库 tenant-aware 不等于当前支持完整团队用户权限或 tenant switching。MyInvois 只有预备字段，未提交整合。自主判断文档类型、自动扩展 schema、任意问题分析属于待验证方向。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依据：checker/index.mjs:48-50; ONBOARDING.md; README.md; ONBOARDING.md; core/company.mjs;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这是建议的试点设计，不是已存在的套餐、价格、期限或客户成果。选 quotation/invoice 或 form intake 其中一条，以现有文件与少量真实记录开始，在 owner 确认后运行。验收比较准备时间、返工、字段完整性和追踪便利程度，不宣称特定节省百分比。多成员使用取决于后续权限能力。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这是投资讨论框架，不是经验证的商业表现。切入场景是常见文件与数据采集，扩展依赖 specialist 和公司上下文。待验证项包括 onboarding 成本、真实任务可靠性、持续使用、付费意愿。没有 supplied traction、收入、市场规模、募资额、成本或估值，不能虚构。本 deck 是产品与技术命题介绍，并不是完整融资财务 deck。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结尾给两种听众一个清楚的下一步。客户：选一条真实流程做试点。投资者：共同评估 repeat workflow adoption 和实际交付可靠性。产品 slogan 保留创始人原文。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依据：创始人于本次对话提供的产品理念。定位和愿景不代表已发布的全部能力。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来源附录便于 Q&amp;A。所有代码依据均为本地 repo，非 public website。演示截图数据仅展示界面。产品理念来自创始人本次对话。自动 onboarding、任意 schema 和 team access 不混同现有实现。资料截至 2026-10-01。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依据：core/tools.mjs:16-24; host.mjs:26-70</a:t>
            </a:r>
          </a:p>
          <a:p xmlns:a="http://schemas.openxmlformats.org/drawingml/2006/main">
            <a:r>
              <a:t>core/documents.mjs:210-339,353-392,467-493,504-549,568-602; core/actions.mjs:31-114</a:t>
            </a:r>
          </a:p>
          <a:p xmlns:a="http://schemas.openxmlformats.org/drawingml/2006/main">
            <a:r>
              <a:t>core/forms.mjs:418-481,552-574,754-797,830-884,991-1060,1084-1178</a:t>
            </a:r>
          </a:p>
          <a:p xmlns:a="http://schemas.openxmlformats.org/drawingml/2006/main">
            <a:r>
              <a:t>core/dashboard.mjs:23-128; preview/crm-desktop.png</a:t>
            </a:r>
          </a:p>
          <a:p xmlns:a="http://schemas.openxmlformats.org/drawingml/2006/main">
            <a:r>
              <a:t>ONBOARDING.md; core/company.mjs; README.md</a:t>
            </a:r>
          </a:p>
          <a:p xmlns:a="http://schemas.openxmlformats.org/drawingml/2006/main">
            <a:r>
              <a:t>checker/index.mjs:48-50; ONBOARDING.md; README.md</a:t>
            </a:r>
          </a:p>
          <a:p xmlns:a="http://schemas.openxmlformats.org/drawingml/2006/main">
            <a:r>
              <a:t>资料日期：2026-10-01。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88aaa263be42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91bfd6baa7414d" /><Relationship Type="http://schemas.openxmlformats.org/officeDocument/2006/relationships/slideLayout" Target="/ppt/slideLayouts/slideLayout1.xml" Id="R996fded5f4be4d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6fded5f4be4d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8499f7ca84477" /><Relationship Type="http://schemas.openxmlformats.org/officeDocument/2006/relationships/image" Target="/ppt/media/image.png" Id="Rccc4c6fe32a04c62" /><Relationship Type="http://schemas.openxmlformats.org/officeDocument/2006/relationships/notesSlide" Target="/ppt/notesSlides/notesSlide1.xml" Id="R7c38ac4546224e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eabd352f84f4d" /><Relationship Type="http://schemas.openxmlformats.org/officeDocument/2006/relationships/notesSlide" Target="/ppt/notesSlides/notesSlide2.xml" Id="Rff22d7eeb37c48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ad27f534f4cdd" /><Relationship Type="http://schemas.openxmlformats.org/officeDocument/2006/relationships/notesSlide" Target="/ppt/notesSlides/notesSlide3.xml" Id="R0c8325cb86ab44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3a9960e2e40c2" /><Relationship Type="http://schemas.openxmlformats.org/officeDocument/2006/relationships/notesSlide" Target="/ppt/notesSlides/notesSlide4.xml" Id="R600191168fa847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9c11fb6eb41a5" /><Relationship Type="http://schemas.openxmlformats.org/officeDocument/2006/relationships/notesSlide" Target="/ppt/notesSlides/notesSlide5.xml" Id="R59dee280be974e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1025db4544e85" /><Relationship Type="http://schemas.openxmlformats.org/officeDocument/2006/relationships/image" Target="/ppt/media/image2.png" Id="R5b94ceb55db245ae" /><Relationship Type="http://schemas.openxmlformats.org/officeDocument/2006/relationships/notesSlide" Target="/ppt/notesSlides/notesSlide6.xml" Id="R7f5c11ca719345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8ba9b094741b0" /><Relationship Type="http://schemas.openxmlformats.org/officeDocument/2006/relationships/notesSlide" Target="/ppt/notesSlides/notesSlide7.xml" Id="Rc574630032e14b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34838415947b0" /><Relationship Type="http://schemas.openxmlformats.org/officeDocument/2006/relationships/image" Target="/ppt/media/image3.png" Id="R20a642fb9c434808" /><Relationship Type="http://schemas.openxmlformats.org/officeDocument/2006/relationships/notesSlide" Target="/ppt/notesSlides/notesSlide8.xml" Id="R873ce2027f8144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3aaa4058d467e" /><Relationship Type="http://schemas.openxmlformats.org/officeDocument/2006/relationships/notesSlide" Target="/ppt/notesSlides/notesSlide9.xml" Id="R4506ce3f1bea42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6213953d44907" /><Relationship Type="http://schemas.openxmlformats.org/officeDocument/2006/relationships/image" Target="/ppt/media/image4.png" Id="R1ddd621e2a1248c8" /><Relationship Type="http://schemas.openxmlformats.org/officeDocument/2006/relationships/notesSlide" Target="/ppt/notesSlides/notesSlide10.xml" Id="R9baa3cf797654d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8c72677794287" /><Relationship Type="http://schemas.openxmlformats.org/officeDocument/2006/relationships/notesSlide" Target="/ppt/notesSlides/notesSlide11.xml" Id="Rb1caabebd16948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9b889d7334545" /><Relationship Type="http://schemas.openxmlformats.org/officeDocument/2006/relationships/notesSlide" Target="/ppt/notesSlides/notesSlide12.xml" Id="R517cbef9fa2940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6769ddf684673" /><Relationship Type="http://schemas.openxmlformats.org/officeDocument/2006/relationships/notesSlide" Target="/ppt/notesSlides/notesSlide13.xml" Id="R31d225c3039041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9adc964de47dd" /><Relationship Type="http://schemas.openxmlformats.org/officeDocument/2006/relationships/notesSlide" Target="/ppt/notesSlides/notesSlide14.xml" Id="Rce97f70325f043b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a67048a8b4a1d" /><Relationship Type="http://schemas.openxmlformats.org/officeDocument/2006/relationships/notesSlide" Target="/ppt/notesSlides/notesSlide15.xml" Id="Re3da2a06c20540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553e815d1425a" /><Relationship Type="http://schemas.openxmlformats.org/officeDocument/2006/relationships/notesSlide" Target="/ppt/notesSlides/notesSlide16.xml" Id="R967b0e74448b4b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fc2b4cb924ff1" /><Relationship Type="http://schemas.openxmlformats.org/officeDocument/2006/relationships/notesSlide" Target="/ppt/notesSlides/notesSlide17.xml" Id="R8c027d768a7c49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c4fc9e44543f5" /><Relationship Type="http://schemas.openxmlformats.org/officeDocument/2006/relationships/notesSlide" Target="/ppt/notesSlides/notesSlide18.xml" Id="R0898f43651fa49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9E662-7681-4BC1-B511-943E07A4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51B6D-CBE5-4CD7-A029-425C1B8F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531B0-5DAC-4E83-BE37-98925CE3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by eternalgy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1C585-C0C9-4A80-B50E-F6034694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7524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为团队打造的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2CAB6-36C7-4D7B-AF36-C960BA3B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4c6fe32a04c62"/>
          <a:stretch xmlns:a="http://schemas.openxmlformats.org/drawingml/2006/main"/>
        </p:blipFill>
        <p:spPr>
          <a:xfrm xmlns:a="http://schemas.openxmlformats.org/drawingml/2006/main">
            <a:off x="8382000" y="1524000"/>
            <a:ext cx="276225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498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823A8-03AD-4A7E-A9C8-447B810B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团队工作，需要共同的公司上下文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DE7C9-81C7-48AE-BFA9-6504316C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F2A0F-132B-4FEF-BE0A-D3173E81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成员知道的事，</a:t>
            </a:r>
          </a:p>
          <a:p xmlns:a="http://schemas.openxmlformats.org/drawingml/2006/main">
            <a:pPr>
              <a:def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应成为 e 工作的依据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8E473-11FC-4B3F-A26E-6E97371A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公司资料散落在旧文件与成员经验中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重复解释背景，重复录入资料，交接依赖个人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团队需要延续前一次工作的记录与规则</a:t>
            </a:r>
          </a:p>
        </p:txBody>
      </p:sp>
    </p:spTree>
    <p:extLst>
      <p:ext uri="{BB962C8B-B14F-4D97-AF65-F5344CB8AC3E}">
        <p14:creationId xmlns:p14="http://schemas.microsoft.com/office/powerpoint/2010/main" val="3840967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ED0F8-B121-4D87-8C8C-B9FA4581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变现的水坝原理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376EE-6615-4919-9989-AB008E68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29BCA-3997-4F4A-9247-3B694382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能力像水源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使用门槛像一道坝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6FD69-19E3-4CC7-A153-21185C7A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搭建门槛       使用门槛       稳定门槛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E4C10-114C-491A-B811-BECF7B65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57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变现的最后一里路：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公司搭得起，成员用得上，工作交付值得信任</a:t>
            </a:r>
          </a:p>
        </p:txBody>
      </p:sp>
    </p:spTree>
    <p:extLst>
      <p:ext uri="{BB962C8B-B14F-4D97-AF65-F5344CB8AC3E}">
        <p14:creationId xmlns:p14="http://schemas.microsoft.com/office/powerpoint/2010/main" val="21358831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50A7F-2026-419A-B894-E7B6F9DA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e 围绕三道门槛设计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A9B32-05B6-4E15-93F4-57114A44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431A0-0DED-443B-8875-B36B283F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搭建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1C79B-9C43-4FCB-9833-BBDC72FA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9526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分享公司资料，配置已有流程与业务结构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BF72C-C4DD-481F-98A0-A6D9DE92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使用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35262-5345-48F2-98D9-E4551D61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432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聊天就是入口，像交代内部 admin clerk 一样交代工作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176D4-2981-4AAA-A0C3-FF2BC337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666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稳定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6BC7C-ABC8-4512-B258-E24E8732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529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细胞级专职 AI 各守职责，以 SOP、权限与测试约束流程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AAA14-821A-4F19-B098-CBFF632A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设计目标：更快搭建、更少学习负担、更一致的交付</a:t>
            </a:r>
          </a:p>
        </p:txBody>
      </p:sp>
    </p:spTree>
    <p:extLst>
      <p:ext uri="{BB962C8B-B14F-4D97-AF65-F5344CB8AC3E}">
        <p14:creationId xmlns:p14="http://schemas.microsoft.com/office/powerpoint/2010/main" val="894062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FD326-DEA2-46C0-B07D-09BA4940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BEC0C-FB9E-4C10-9746-69B69D50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69ECE-1505-4F18-B599-9A80A6F3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知道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275E0-9E14-4731-91F0-4B072A7B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公司是谁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客户与商品是什么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文件怎样做，流程怎样走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450D6-70EB-4787-8AD1-49200766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让 e 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7FEB2-49BC-4E23-9C81-6E0A8FDA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5048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按公司资料准备文件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发现缺项，先询问再处理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把成果与业务记录连接起来</a:t>
            </a:r>
          </a:p>
        </p:txBody>
      </p:sp>
    </p:spTree>
    <p:extLst>
      <p:ext uri="{BB962C8B-B14F-4D97-AF65-F5344CB8AC3E}">
        <p14:creationId xmlns:p14="http://schemas.microsoft.com/office/powerpoint/2010/main" val="5591203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70272-4D1F-435D-8D8A-EB275CE0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像新同事一样，先了解公司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9C16E-9160-4996-8668-FA11F7EE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8CAFE-7C4A-4167-B57F-5E61C96D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609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旧文件与公司资料</a:t>
            </a:r>
          </a:p>
          <a:p xmlns:a="http://schemas.openxmlformats.org/drawingml/2006/main">
            <a:pPr>
              <a:def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成为入职材料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84E2A-9517-4EBB-A6C5-64313768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Invoice / Quotation</a:t>
            </a:r>
          </a:p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Company Profile / 官网内容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D05CC-A5AF-431C-B519-CE016AAC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6238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读取资料，提取核心信息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用户确认后保存公司设定</a:t>
            </a:r>
          </a:p>
          <a:p xmlns:a="http://schemas.openxmlformats.org/drawingml/2006/main">
            <a:pPr>
              <a:def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预览模板，核对实际工作结果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4ceb55db245ae"/>
          <a:stretch xmlns:a="http://schemas.openxmlformats.org/drawingml/2006/main"/>
        </p:blipFill>
        <p:spPr>
          <a:xfrm xmlns:a="http://schemas.openxmlformats.org/drawingml/2006/main">
            <a:off x="8117765" y="1695450"/>
            <a:ext cx="3081171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3424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B5CF1-CF38-4F99-BDE1-EFD4F9EC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天下武功，殊途同归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95F09-E0F9-4E9B-8DDC-84B58B62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76D4D-7EE5-4DC1-A4CB-F735EE04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不同公司的工作，</a:t>
            </a:r>
          </a:p>
          <a:p xmlns:a="http://schemas.openxmlformats.org/drawingml/2006/main">
            <a:pPr>
              <a:def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共享许多相同的业务结构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091A9-DA0F-4FCA-B822-3401430B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客户与联系人      产品与服务      业务文件</a:t>
            </a:r>
          </a:p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表单与提交记录    公司设定与流程规则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0E781-9CFA-44C9-BBC6-08BC4948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340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e 用常用数据结构承接这些工作，再适应公司的字段、模板与流程</a:t>
            </a:r>
          </a:p>
        </p:txBody>
      </p:sp>
    </p:spTree>
    <p:extLst>
      <p:ext uri="{BB962C8B-B14F-4D97-AF65-F5344CB8AC3E}">
        <p14:creationId xmlns:p14="http://schemas.microsoft.com/office/powerpoint/2010/main" val="2810697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ED3A41-5915-4509-8ADC-8F7419ED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同一个开票请求，两种处理方式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B58FC-8B3D-4AB1-A25D-4657DBA7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04A0E-9E11-4638-AC2C-581F4854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“Create 1 invoice for Acme…”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9636C-8D0D-47FA-8B7F-62E3564B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单次文件生成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642fb9c434808"/>
          <a:stretch xmlns:a="http://schemas.openxmlformats.org/drawingml/2006/main"/>
        </p:blipFill>
        <p:spPr>
          <a:xfrm xmlns:a="http://schemas.openxmlformats.org/drawingml/2006/main">
            <a:off x="1321510" y="3000375"/>
            <a:ext cx="1728954" cy="24479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BE761-E8A6-4AB1-B9FC-6A72E630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340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 PDF Invoice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C1D86-83E2-42E4-96EC-A4CAC50A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43350"/>
            <a:ext cx="95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9E5DC-AB0B-4CEB-AC4F-2D9E2784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76475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e：按业务流程处理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DB2A6-15CB-483F-B751-8415960E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48500" y="3476625"/>
            <a:ext cx="13811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85728-8FF7-4929-8DF5-47B3F994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29625" y="3476625"/>
            <a:ext cx="1381125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A7A90-C524-47F2-9BE7-269A9370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8500" y="4143375"/>
            <a:ext cx="13811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53A2B-0933-41D8-8269-A2654A24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29625" y="4143375"/>
            <a:ext cx="138112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E0D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CCBAB-6E85-49B5-9DA6-7D239A66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09875"/>
            <a:ext cx="1524000" cy="1524000"/>
          </a:xfrm>
          <a:prstGeom xmlns:a="http://schemas.openxmlformats.org/drawingml/2006/main" prst="gear6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D6459-F9E6-4125-9370-3FE66362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146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  <a:p xmlns:a="http://schemas.openxmlformats.org/drawingml/2006/main">
            <a:pPr algn="ctr">
              <a:def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数据结构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10B83-9B49-45B8-8E5C-4959002D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9875"/>
            <a:ext cx="1524000" cy="1524000"/>
          </a:xfrm>
          <a:prstGeom xmlns:a="http://schemas.openxmlformats.org/drawingml/2006/main" prst="gear6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91F0A-8768-406C-AA99-862DAC6D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146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  <a:p xmlns:a="http://schemas.openxmlformats.org/drawingml/2006/main">
            <a:pPr algn="ctr">
              <a:def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D3F83-9301-40C2-855C-474C9938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1524000" cy="1524000"/>
          </a:xfrm>
          <a:prstGeom xmlns:a="http://schemas.openxmlformats.org/drawingml/2006/main" prst="gear6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847FD-B5D4-467A-BDD6-EE9EDC63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SOP</a:t>
            </a:r>
          </a:p>
          <a:p xmlns:a="http://schemas.openxmlformats.org/drawingml/2006/main">
            <a:pPr algn="ctr">
              <a:def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工作规范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A83E2-3D60-4AED-A631-961CE0B4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05300"/>
            <a:ext cx="1524000" cy="1524000"/>
          </a:xfrm>
          <a:prstGeom xmlns:a="http://schemas.openxmlformats.org/drawingml/2006/main" prst="gear6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785C99-8B6B-432B-8C4E-3884AEE4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101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Template</a:t>
            </a:r>
          </a:p>
          <a:p xmlns:a="http://schemas.openxmlformats.org/drawingml/2006/main">
            <a:pPr algn="ctr">
              <a:def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A77B7A-E917-43E8-ACEC-F06931B5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43275"/>
            <a:ext cx="1714500" cy="1714500"/>
          </a:xfrm>
          <a:prstGeom xmlns:a="http://schemas.openxmlformats.org/drawingml/2006/main" prst="gear6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E665BA-45CC-49E5-8999-D1C83A89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8617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7F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9C20B1-4DFC-4710-9BD5-9CC23A89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953125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查记录、补缺项、发行 PDF、保存关联、追踪付款</a:t>
            </a:r>
          </a:p>
        </p:txBody>
      </p:sp>
    </p:spTree>
    <p:extLst>
      <p:ext uri="{BB962C8B-B14F-4D97-AF65-F5344CB8AC3E}">
        <p14:creationId xmlns:p14="http://schemas.microsoft.com/office/powerpoint/2010/main" val="20715124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AF5C8-2A92-4CBB-AD00-ABBA2722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Form 收集数据，e 延续后面的工作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AC371-1723-4C0C-8507-C418082C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A5230-51BA-4989-8A2D-B6CCD062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工程报告 / 客户订单 / 问卷 / 每日打卡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85EEA-D3AC-41D2-B5C1-1C9E27B6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143125" cy="16192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Form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收集与校验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E296F-2945-4E1D-A7F3-CFA59936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00375"/>
            <a:ext cx="2143125" cy="1619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保存提交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146D1-8DD7-4CE5-94C8-AD670FE8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0375"/>
            <a:ext cx="2143125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专职 AI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审阅与处理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91248-AF9E-44A6-8972-75EEFA64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2143125" cy="16192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167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工作成果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记录 / 摘要 / CSV</a:t>
            </a:r>
          </a:p>
        </p:txBody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2828925" y="38100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headEnd type="arrow" w="med" len="med"/>
          </a:ln>
        </p:spPr>
      </p:cxnSp>
      <p:cxnSp>
        <p:nvCxnSpPr>
          <p:cNvPr id="20" name=""/>
          <p:cNvCxnSpPr>
            <a:stCxn xmlns:a="http://schemas.openxmlformats.org/drawingml/2006/main" id="5" idx="4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5715000" y="38100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headEnd type="arrow" w="med" len="med"/>
          </a:ln>
        </p:spPr>
      </p:cxnSp>
      <p:cxnSp>
        <p:nvCxnSpPr>
          <p:cNvPr id="21" name=""/>
          <p:cNvCxnSpPr>
            <a:stCxn xmlns:a="http://schemas.openxmlformats.org/drawingml/2006/main" id="6" idx="6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601075" y="381000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67B63"/>
            </a:solidFill>
            <a:head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706F3-40D8-400F-8B78-5224635A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先把信息收进来，再关联客户、文件与下一步工作</a:t>
            </a:r>
          </a:p>
        </p:txBody>
      </p:sp>
    </p:spTree>
    <p:extLst>
      <p:ext uri="{BB962C8B-B14F-4D97-AF65-F5344CB8AC3E}">
        <p14:creationId xmlns:p14="http://schemas.microsoft.com/office/powerpoint/2010/main" val="16548411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DF658-AB5D-4C07-927D-53BD9B50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业务记录，让团队看见工作状态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5526F-6F73-45AB-946D-CFC7B084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3605B2-9B1F-48B3-8945-8D301CCD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238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哪些款项未收？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invoice 已逾期？</a:t>
            </a:r>
          </a:p>
          <a:p xmlns:a="http://schemas.openxmlformats.org/drawingml/2006/main">
            <a:pPr>
              <a:def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哪些 quotation 待跟进？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DDC9D-FB04-40B7-9CD0-63B02400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542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文件背后的数据</a:t>
            </a:r>
          </a:p>
          <a:p xmlns:a="http://schemas.openxmlformats.org/drawingml/2006/main">
            <a:pPr>
              <a:def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可以汇总成业务概览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d621e2a1248c8"/>
          <a:stretch xmlns:a="http://schemas.openxmlformats.org/drawingml/2006/main"/>
        </p:blipFill>
        <p:spPr>
          <a:xfrm xmlns:a="http://schemas.openxmlformats.org/drawingml/2006/main">
            <a:off x="6858624" y="1771650"/>
            <a:ext cx="4666002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1B024-59F2-4956-8A53-A6E1A43C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857875"/>
            <a:ext cx="461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现有界面预览，图中金额与数量为演示数据</a:t>
            </a:r>
          </a:p>
        </p:txBody>
      </p:sp>
    </p:spTree>
    <p:extLst>
      <p:ext uri="{BB962C8B-B14F-4D97-AF65-F5344CB8AC3E}">
        <p14:creationId xmlns:p14="http://schemas.microsoft.com/office/powerpoint/2010/main" val="5708662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9AC52-B653-46BA-9E2B-84234BFD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 Orchestrator，一组专职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164EF-C677-4B50-803D-5802F613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59E2A-6183-48A4-8317-499ACE42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76400"/>
            <a:ext cx="4000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DC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  <a:p xmlns:a="http://schemas.openxmlformats.org/drawingml/2006/main">
            <a:pPr algn="ctr">
              <a:def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3C35"/>
                </a:solidFill>
                <a:latin typeface="Microsoft YaHei"/>
                <a:ea typeface="Microsoft YaHei"/>
                <a:cs typeface="Microsoft YaHei"/>
              </a:rPr>
              <a:t>理解需求，安排工作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9E2FD-91C6-443C-BDCE-8A288C6F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143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Records Clerk</a:t>
            </a:r>
          </a:p>
        </p:txBody>
      </p:sp>
      <p:cxnSp>
        <p:nvCxnSpPr>
          <p:cNvPr id="23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1757363" y="2686050"/>
            <a:ext cx="4338638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E9585"/>
            </a:solidFill>
            <a:headEnd type="arrow" w="med" len="me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B292F-4E30-4B9D-9432-F4BBEF65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09950"/>
            <a:ext cx="2143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Document Agent</a:t>
            </a:r>
          </a:p>
        </p:txBody>
      </p:sp>
      <p:cxnSp>
        <p:nvCxnSpPr>
          <p:cNvPr id="25" name=""/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4643438" y="2686050"/>
            <a:ext cx="1452563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E9585"/>
            </a:solidFill>
            <a:head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6C27F-6547-46B4-898A-F6EE4740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2143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Form Designer</a:t>
            </a:r>
          </a:p>
        </p:txBody>
      </p:sp>
      <p:cxnSp>
        <p:nvCxnSpPr>
          <p:cNvPr id="27" name=""/>
          <p:cNvCxnSpPr>
            <a:stCxn xmlns:a="http://schemas.openxmlformats.org/drawingml/2006/main" id="3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686050"/>
            <a:ext cx="1433513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E9585"/>
            </a:solidFill>
            <a:head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18342-60F4-40F9-9B9C-CE9D4B41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409950"/>
            <a:ext cx="2143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Form Clerk</a:t>
            </a:r>
          </a:p>
        </p:txBody>
      </p:sp>
      <p:cxnSp>
        <p:nvCxnSpPr>
          <p:cNvPr id="29" name=""/>
          <p:cNvCxnSpPr>
            <a:stCxn xmlns:a="http://schemas.openxmlformats.org/drawingml/2006/main" id="3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2686050"/>
            <a:ext cx="4319588" cy="7239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E9585"/>
            </a:solidFill>
            <a:head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67EC6-8DCB-4E8E-BF16-4F3CF482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810125"/>
            <a:ext cx="2143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Onboarding</a:t>
            </a:r>
          </a:p>
        </p:txBody>
      </p:sp>
      <p:cxnSp>
        <p:nvCxnSpPr>
          <p:cNvPr id="31" name=""/>
          <p:cNvCxnSpPr>
            <a:stCxn xmlns:a="http://schemas.openxmlformats.org/drawingml/2006/main" id="3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3195638" y="2686050"/>
            <a:ext cx="2900363" cy="2124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E9585"/>
            </a:solidFill>
            <a:head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94DE9-48E9-454A-B0AA-8D2E39F6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10125"/>
            <a:ext cx="2143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Designer</a:t>
            </a:r>
          </a:p>
        </p:txBody>
      </p:sp>
      <p:cxnSp>
        <p:nvCxnSpPr>
          <p:cNvPr id="33" name=""/>
          <p:cNvCxnSpPr>
            <a:stCxn xmlns:a="http://schemas.openxmlformats.org/drawingml/2006/main" id="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6081713" y="2686050"/>
            <a:ext cx="14288" cy="2124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E9585"/>
            </a:solidFill>
            <a:head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8E4D2-9A83-4CA8-B581-79278533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810125"/>
            <a:ext cx="2143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94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DB Manager</a:t>
            </a:r>
          </a:p>
        </p:txBody>
      </p:sp>
      <p:cxnSp>
        <p:nvCxnSpPr>
          <p:cNvPr id="35" name=""/>
          <p:cNvCxnSpPr>
            <a:stCxn xmlns:a="http://schemas.openxmlformats.org/drawingml/2006/main" id="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2686050"/>
            <a:ext cx="2871788" cy="2124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E9585"/>
            </a:solidFill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F720F-17CB-4985-A80A-13166C58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769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每位 specialist 只使用获授权的工具，共享同一套业务记录</a:t>
            </a:r>
          </a:p>
        </p:txBody>
      </p:sp>
    </p:spTree>
    <p:extLst>
      <p:ext uri="{BB962C8B-B14F-4D97-AF65-F5344CB8AC3E}">
        <p14:creationId xmlns:p14="http://schemas.microsoft.com/office/powerpoint/2010/main" val="14733614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1D8D5-334D-4FAC-87B2-310048C9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Stupid = Smart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1A492-B3B6-497D-AA88-F64466A1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D333B-A925-49AD-9722-1B86EB1D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每个 AI 少做几件事，</a:t>
            </a:r>
          </a:p>
          <a:p xmlns:a="http://schemas.openxmlformats.org/drawingml/2006/main">
            <a:pPr>
              <a:def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整个系统更容易约束与验证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63DBA-4273-43C9-96E3-4FFF1337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范围明确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0BA4B-5F21-42D7-9394-C63CE2E9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少量允许的任务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固定 SOP 与工具权限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测试围绕具体工作流程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D7BCD-4703-48DB-B0F7-2FA14DA8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边界明确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B4562-4540-4726-9834-9EAF0240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缺资料，先询问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越权限，拒绝执行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结果与错误都有检查入口</a:t>
            </a:r>
          </a:p>
        </p:txBody>
      </p:sp>
    </p:spTree>
    <p:extLst>
      <p:ext uri="{BB962C8B-B14F-4D97-AF65-F5344CB8AC3E}">
        <p14:creationId xmlns:p14="http://schemas.microsoft.com/office/powerpoint/2010/main" val="14056464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CA4C3-5E77-4F52-97D3-1AA4F1AF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公司上下文，连接每一次工作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C2BC6-15D7-48AE-8732-D26027A3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96030-306E-460B-A091-F01713EF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公司资料决定内容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A5FC1-8EAE-4294-8916-5B144658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公司名称、客户、价格与付款条件来自已保存记录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8A30C-AC75-4ED2-BFC5-335A33FE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公司规则决定流程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B439E-D44D-4ADA-B6CA-992FF718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哪些字段必须补齐、何时发行、谁能使用哪些工具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9786E-1844-4F7B-9ECA-B3886685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292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这套上下文可以延续到下一张文件与下一次任务</a:t>
            </a:r>
          </a:p>
        </p:txBody>
      </p:sp>
    </p:spTree>
    <p:extLst>
      <p:ext uri="{BB962C8B-B14F-4D97-AF65-F5344CB8AC3E}">
        <p14:creationId xmlns:p14="http://schemas.microsoft.com/office/powerpoint/2010/main" val="20144624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5B079-B6A0-4650-AC07-E1FA5431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Document Intelligence 是当前切入点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6A756-4F21-4139-9ED6-F12058E9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26CA1-04B4-455D-A1DD-D1116646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现有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87F41-A437-43A0-979B-8E5A123F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客户、商品与文档流程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付款记录与业务概览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表单、模板与公司规则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数据库按 tenant 分隔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42393-52DF-44D1-BBA0-4A148CB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下一步产品方向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DE22B-2BAD-4776-88DF-C628040F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多人账号与团队权限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更多重复业务流程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更自动化的资料 onboarding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更广泛的业务问答分析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29AC7-4935-4C7D-894C-593F4CE7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当前 host：单一操作员、默认公司。MyInvois 尚未整合提交。</a:t>
            </a:r>
          </a:p>
        </p:txBody>
      </p:sp>
    </p:spTree>
    <p:extLst>
      <p:ext uri="{BB962C8B-B14F-4D97-AF65-F5344CB8AC3E}">
        <p14:creationId xmlns:p14="http://schemas.microsoft.com/office/powerpoint/2010/main" val="11520473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C898E-6D6F-4CBB-B494-DE7DC8DB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客户试点：先完成一条真实工作流程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64DC5-4101-4354-AFC2-45DBA35A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1899C-DC88-4084-87B2-31938541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已有文件与规则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8CC00-6883-4A7A-8A37-535A24FE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用你的 quotation、invoice、客户与商品资料配置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543AF-14C3-4F1E-8FB1-63CD1DD6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真实工作与明确验收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F6F4F-4B9D-4EB6-9487-8A776B9C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完成一次准备、发行与付款记录，或一次表单采集与处理</a:t>
            </a:r>
          </a:p>
          <a:p xmlns:a="http://schemas.openxmlformats.org/drawingml/2006/main">
            <a:pPr>
              <a:def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比较准备时间、返工次数和数据完整性</a:t>
            </a:r>
          </a:p>
        </p:txBody>
      </p:sp>
    </p:spTree>
    <p:extLst>
      <p:ext uri="{BB962C8B-B14F-4D97-AF65-F5344CB8AC3E}">
        <p14:creationId xmlns:p14="http://schemas.microsoft.com/office/powerpoint/2010/main" val="20615740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3DD7C-0050-460C-821C-33724E40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投资命题：从重复工作验证团队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1B781-5B98-4E80-AF0F-4E5E399D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7FFF9-CCE4-43DC-B302-EA4AA770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切入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CFA67-BDE9-40F6-8348-0BEE659E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Invoice、quotation 与表单等重复工作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2C2D9-FE4F-4804-8082-DFCDC8B8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扩展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7652B-4CC1-4945-9BC5-ED50BE7C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9925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围绕共同公司上下文，增加可验证的 specialist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65791-724B-4AC5-BDAC-B05DAC33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4E592-2F1A-45E2-B5FA-197F8D8C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三道门槛是否降低，是否带来持续使用与付费意愿</a:t>
            </a:r>
          </a:p>
        </p:txBody>
      </p:sp>
    </p:spTree>
    <p:extLst>
      <p:ext uri="{BB962C8B-B14F-4D97-AF65-F5344CB8AC3E}">
        <p14:creationId xmlns:p14="http://schemas.microsoft.com/office/powerpoint/2010/main" val="884448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3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24F2B-ADC9-469D-9516-87065494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6F9A7-6F2B-467D-BFBA-2E9EE533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DB417-BABC-44C7-9E69-93F8597B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know,</a:t>
            </a:r>
          </a:p>
          <a:p xmlns:a="http://schemas.openxmlformats.org/drawingml/2006/main">
            <a:pPr>
              <a:def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A4DCC7"/>
                </a:solidFill>
                <a:latin typeface="Microsoft YaHei"/>
                <a:ea typeface="Microsoft YaHei"/>
                <a:cs typeface="Microsoft YaHei"/>
              </a:rPr>
              <a:t>Let it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2A3BD-B9E6-48A2-8690-A69534B0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客户：带一条真实工作流程来试点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投资者：一起验证团队 AI 的产品路径</a:t>
            </a:r>
          </a:p>
        </p:txBody>
      </p:sp>
    </p:spTree>
    <p:extLst>
      <p:ext uri="{BB962C8B-B14F-4D97-AF65-F5344CB8AC3E}">
        <p14:creationId xmlns:p14="http://schemas.microsoft.com/office/powerpoint/2010/main" val="20377604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58549-B297-45DA-BDD0-51A2D7EB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资料与产品边界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2C0BA-6F35-4B4B-9A29-DD3FEB12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2206B-A29F-4D7C-BEF1-2E41CD9C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产品理念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50EC4-54C9-4183-80F8-9D079BF6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288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创始人提供的六个核心理念与团队 AI 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78DB0-BA0F-4FF2-9CE9-8A122598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实现依据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1D3E4-A954-481E-A67D-0D5F2081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7715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README.md / ONBOARDING.md / host.mjs</a:t>
            </a:r>
          </a:p>
          <a:p xmlns:a="http://schemas.openxmlformats.org/drawingml/2006/main">
            <a:pPr>
              <a:def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core/tools.mjs / documents.mjs / forms.mjs / dashboard.mjs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26CD6-92C1-475D-870A-FAC4DEC1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7B63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DDA46-497C-46FE-B5F1-BB53300D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67200"/>
            <a:ext cx="771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代码与现有预览支持功能说明，不代表部署验收或客户业绩</a:t>
            </a:r>
          </a:p>
          <a:p xmlns:a="http://schemas.openxmlformats.org/drawingml/2006/main">
            <a:pPr>
              <a:def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D35"/>
                </a:solidFill>
                <a:latin typeface="Microsoft YaHei"/>
                <a:ea typeface="Microsoft YaHei"/>
                <a:cs typeface="Microsoft YaHei"/>
              </a:rPr>
              <a:t>截图为演示数据，可靠性和商业指标需在试点中验证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CB1A1-78FF-4F68-AAA9-249FA8DF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716B"/>
                </a:solidFill>
                <a:latin typeface="Microsoft YaHei"/>
                <a:ea typeface="Microsoft YaHei"/>
                <a:cs typeface="Microsoft YaHei"/>
              </a:rPr>
              <a:t>资料日期：2026-10-01</a:t>
            </a:r>
          </a:p>
        </p:txBody>
      </p:sp>
    </p:spTree>
    <p:extLst>
      <p:ext uri="{BB962C8B-B14F-4D97-AF65-F5344CB8AC3E}">
        <p14:creationId xmlns:p14="http://schemas.microsoft.com/office/powerpoint/2010/main" val="549892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2026-10-01T08:02:27.9130000Z</dcterms:created>
  <dcterms:modified xsi:type="dcterms:W3CDTF">2026-10-01T08:02:27.9130000Z</dcterms:modified>
</coreProperties>
</file>