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a517ec3d3e4808" /><Relationship Type="http://schemas.openxmlformats.org/officeDocument/2006/relationships/extended-properties" Target="/docProps/app.xml" Id="Rfb7a3bca69fa4b49" /><Relationship Type="http://schemas.openxmlformats.org/officeDocument/2006/relationships/officeDocument" Target="/ppt/presentation.xml" Id="R7d4933415a2d41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91b5fa99c64fde"/>
  </p:sldMasterIdLst>
  <p:notesMasterIdLst>
    <p:notesMasterId xmlns:r="http://schemas.openxmlformats.org/officeDocument/2006/relationships" r:id="R41b46d844930490d"/>
  </p:notesMasterIdLst>
  <p:sldIdLst>
    <p:sldId xmlns:r="http://schemas.openxmlformats.org/officeDocument/2006/relationships" id="256" r:id="R8401871da633400e"/>
    <p:sldId xmlns:r="http://schemas.openxmlformats.org/officeDocument/2006/relationships" id="257" r:id="R981ad45d761c4d78"/>
    <p:sldId xmlns:r="http://schemas.openxmlformats.org/officeDocument/2006/relationships" id="258" r:id="R9ffe09e803b0492e"/>
    <p:sldId xmlns:r="http://schemas.openxmlformats.org/officeDocument/2006/relationships" id="259" r:id="R8c27ed425d78433e"/>
    <p:sldId xmlns:r="http://schemas.openxmlformats.org/officeDocument/2006/relationships" id="260" r:id="Recb619b6ea7a4ec2"/>
    <p:sldId xmlns:r="http://schemas.openxmlformats.org/officeDocument/2006/relationships" id="261" r:id="R7140ac9e73c943aa"/>
    <p:sldId xmlns:r="http://schemas.openxmlformats.org/officeDocument/2006/relationships" id="262" r:id="R8267919d027e41e6"/>
    <p:sldId xmlns:r="http://schemas.openxmlformats.org/officeDocument/2006/relationships" id="263" r:id="Rafc17462186e4e34"/>
    <p:sldId xmlns:r="http://schemas.openxmlformats.org/officeDocument/2006/relationships" id="264" r:id="R364d3674c81e4af8"/>
    <p:sldId xmlns:r="http://schemas.openxmlformats.org/officeDocument/2006/relationships" id="265" r:id="R3923aab918e84a04"/>
    <p:sldId xmlns:r="http://schemas.openxmlformats.org/officeDocument/2006/relationships" id="266" r:id="Rdeff41c0717e4b89"/>
    <p:sldId xmlns:r="http://schemas.openxmlformats.org/officeDocument/2006/relationships" id="267" r:id="R738c0cacc6aa4c85"/>
    <p:sldId xmlns:r="http://schemas.openxmlformats.org/officeDocument/2006/relationships" id="268" r:id="Ra9cf19e481d84cef"/>
    <p:sldId xmlns:r="http://schemas.openxmlformats.org/officeDocument/2006/relationships" id="269" r:id="Rc1a6e42f78d24b45"/>
    <p:sldId xmlns:r="http://schemas.openxmlformats.org/officeDocument/2006/relationships" id="270" r:id="R4ee488094ba04b1a"/>
    <p:sldId xmlns:r="http://schemas.openxmlformats.org/officeDocument/2006/relationships" id="271" r:id="Re84586fe07a04bff"/>
    <p:sldId xmlns:r="http://schemas.openxmlformats.org/officeDocument/2006/relationships" id="272" r:id="R289a119f2bfd4458"/>
    <p:sldId xmlns:r="http://schemas.openxmlformats.org/officeDocument/2006/relationships" id="273" r:id="R8b53be8de7ec46d8"/>
    <p:sldId xmlns:r="http://schemas.openxmlformats.org/officeDocument/2006/relationships" id="274" r:id="R885b3a3315a9441b"/>
    <p:sldId xmlns:r="http://schemas.openxmlformats.org/officeDocument/2006/relationships" id="275" r:id="R581a5214eca64b64"/>
    <p:sldId xmlns:r="http://schemas.openxmlformats.org/officeDocument/2006/relationships" id="276" r:id="R7bd67d29ee5b422a"/>
    <p:sldId xmlns:r="http://schemas.openxmlformats.org/officeDocument/2006/relationships" id="277" r:id="Rbe748da1343d4d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0cff6147fb04e6c" /><Relationship Type="http://schemas.openxmlformats.org/officeDocument/2006/relationships/slideMaster" Target="/ppt/slideMasters/slideMaster1.xml" Id="Rf291b5fa99c64fde" /><Relationship Type="http://schemas.openxmlformats.org/officeDocument/2006/relationships/notesMaster" Target="/ppt/notesMasters/notesMaster1.xml" Id="R41b46d844930490d" /><Relationship Type="http://schemas.openxmlformats.org/officeDocument/2006/relationships/presProps" Target="/ppt/presProps.xml" Id="Rd8db977dbc58461b" /><Relationship Type="http://schemas.openxmlformats.org/officeDocument/2006/relationships/tableStyles" Target="/ppt/tableStyles.xml" Id="Rb47d378f96dd4e53" /><Relationship Type="http://schemas.openxmlformats.org/officeDocument/2006/relationships/slide" Target="/ppt/slides/slide1.xml" Id="R8401871da633400e" /><Relationship Type="http://schemas.openxmlformats.org/officeDocument/2006/relationships/slide" Target="/ppt/slides/slide2.xml" Id="R981ad45d761c4d78" /><Relationship Type="http://schemas.openxmlformats.org/officeDocument/2006/relationships/slide" Target="/ppt/slides/slide3.xml" Id="R9ffe09e803b0492e" /><Relationship Type="http://schemas.openxmlformats.org/officeDocument/2006/relationships/slide" Target="/ppt/slides/slide4.xml" Id="R8c27ed425d78433e" /><Relationship Type="http://schemas.openxmlformats.org/officeDocument/2006/relationships/slide" Target="/ppt/slides/slide5.xml" Id="Recb619b6ea7a4ec2" /><Relationship Type="http://schemas.openxmlformats.org/officeDocument/2006/relationships/slide" Target="/ppt/slides/slide6.xml" Id="R7140ac9e73c943aa" /><Relationship Type="http://schemas.openxmlformats.org/officeDocument/2006/relationships/slide" Target="/ppt/slides/slide7.xml" Id="R8267919d027e41e6" /><Relationship Type="http://schemas.openxmlformats.org/officeDocument/2006/relationships/slide" Target="/ppt/slides/slide8.xml" Id="Rafc17462186e4e34" /><Relationship Type="http://schemas.openxmlformats.org/officeDocument/2006/relationships/slide" Target="/ppt/slides/slide9.xml" Id="R364d3674c81e4af8" /><Relationship Type="http://schemas.openxmlformats.org/officeDocument/2006/relationships/slide" Target="/ppt/slides/slide10.xml" Id="R3923aab918e84a04" /><Relationship Type="http://schemas.openxmlformats.org/officeDocument/2006/relationships/slide" Target="/ppt/slides/slide11.xml" Id="Rdeff41c0717e4b89" /><Relationship Type="http://schemas.openxmlformats.org/officeDocument/2006/relationships/slide" Target="/ppt/slides/slide12.xml" Id="R738c0cacc6aa4c85" /><Relationship Type="http://schemas.openxmlformats.org/officeDocument/2006/relationships/slide" Target="/ppt/slides/slide13.xml" Id="Ra9cf19e481d84cef" /><Relationship Type="http://schemas.openxmlformats.org/officeDocument/2006/relationships/slide" Target="/ppt/slides/slide14.xml" Id="Rc1a6e42f78d24b45" /><Relationship Type="http://schemas.openxmlformats.org/officeDocument/2006/relationships/slide" Target="/ppt/slides/slide15.xml" Id="R4ee488094ba04b1a" /><Relationship Type="http://schemas.openxmlformats.org/officeDocument/2006/relationships/slide" Target="/ppt/slides/slide16.xml" Id="Re84586fe07a04bff" /><Relationship Type="http://schemas.openxmlformats.org/officeDocument/2006/relationships/slide" Target="/ppt/slides/slide17.xml" Id="R289a119f2bfd4458" /><Relationship Type="http://schemas.openxmlformats.org/officeDocument/2006/relationships/slide" Target="/ppt/slides/slide18.xml" Id="R8b53be8de7ec46d8" /><Relationship Type="http://schemas.openxmlformats.org/officeDocument/2006/relationships/slide" Target="/ppt/slides/slide19.xml" Id="R885b3a3315a9441b" /><Relationship Type="http://schemas.openxmlformats.org/officeDocument/2006/relationships/slide" Target="/ppt/slides/slide20.xml" Id="R581a5214eca64b64" /><Relationship Type="http://schemas.openxmlformats.org/officeDocument/2006/relationships/slide" Target="/ppt/slides/slide21.xml" Id="R7bd67d29ee5b422a" /><Relationship Type="http://schemas.openxmlformats.org/officeDocument/2006/relationships/slide" Target="/ppt/slides/slide22.xml" Id="Rbe748da1343d4d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aab5f0d159749a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a7981d459c4447d" /><Relationship Type="http://schemas.openxmlformats.org/officeDocument/2006/relationships/notesMaster" Target="/ppt/notesMasters/notesMaster1.xml" Id="Rd3af08615b3042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0cd91d890747a5" /><Relationship Type="http://schemas.openxmlformats.org/officeDocument/2006/relationships/notesMaster" Target="/ppt/notesMasters/notesMaster1.xml" Id="R2fd34ba3fd4a41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92758e97b34b25" /><Relationship Type="http://schemas.openxmlformats.org/officeDocument/2006/relationships/notesMaster" Target="/ppt/notesMasters/notesMaster1.xml" Id="Rc7d342b305b049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d4ead109604cc0" /><Relationship Type="http://schemas.openxmlformats.org/officeDocument/2006/relationships/notesMaster" Target="/ppt/notesMasters/notesMaster1.xml" Id="R89bc690b0e40476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5aa72d60b94c8e" /><Relationship Type="http://schemas.openxmlformats.org/officeDocument/2006/relationships/notesMaster" Target="/ppt/notesMasters/notesMaster1.xml" Id="R0c3a0f442f9d4ba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f266ce07bb4fe5" /><Relationship Type="http://schemas.openxmlformats.org/officeDocument/2006/relationships/notesMaster" Target="/ppt/notesMasters/notesMaster1.xml" Id="Ra3298b9669b348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ad00b53ca3446c3" /><Relationship Type="http://schemas.openxmlformats.org/officeDocument/2006/relationships/notesMaster" Target="/ppt/notesMasters/notesMaster1.xml" Id="R52010774442d4cb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de9b27a184f47b4" /><Relationship Type="http://schemas.openxmlformats.org/officeDocument/2006/relationships/notesMaster" Target="/ppt/notesMasters/notesMaster1.xml" Id="R6ab2495e8b044b5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6fb3fced9a440a" /><Relationship Type="http://schemas.openxmlformats.org/officeDocument/2006/relationships/notesMaster" Target="/ppt/notesMasters/notesMaster1.xml" Id="Rcf6514b92c88499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4b3fa46bf1428b" /><Relationship Type="http://schemas.openxmlformats.org/officeDocument/2006/relationships/notesMaster" Target="/ppt/notesMasters/notesMaster1.xml" Id="R13653c9b9d8142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f556f5e57f4ba1" /><Relationship Type="http://schemas.openxmlformats.org/officeDocument/2006/relationships/notesMaster" Target="/ppt/notesMasters/notesMaster1.xml" Id="Ra432c28852ad46e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098ed1b47f0407e" /><Relationship Type="http://schemas.openxmlformats.org/officeDocument/2006/relationships/notesMaster" Target="/ppt/notesMasters/notesMaster1.xml" Id="Rc6b35d35d2014e1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6c9c99637e846e8" /><Relationship Type="http://schemas.openxmlformats.org/officeDocument/2006/relationships/notesMaster" Target="/ppt/notesMasters/notesMaster1.xml" Id="R79cdcbcc3c5d4e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ab7e7bcb4f94580" /><Relationship Type="http://schemas.openxmlformats.org/officeDocument/2006/relationships/notesMaster" Target="/ppt/notesMasters/notesMaster1.xml" Id="Ra5261b53bdf24e7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ec4f8eb7e3c406a" /><Relationship Type="http://schemas.openxmlformats.org/officeDocument/2006/relationships/notesMaster" Target="/ppt/notesMasters/notesMaster1.xml" Id="R727d73797e0f40c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9cefe2fb7a8488a" /><Relationship Type="http://schemas.openxmlformats.org/officeDocument/2006/relationships/notesMaster" Target="/ppt/notesMasters/notesMaster1.xml" Id="R3c9ded55e030425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3d4c7261a76409b" /><Relationship Type="http://schemas.openxmlformats.org/officeDocument/2006/relationships/notesMaster" Target="/ppt/notesMasters/notesMaster1.xml" Id="R51f20952b2d7407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f415137fe2b4509" /><Relationship Type="http://schemas.openxmlformats.org/officeDocument/2006/relationships/notesMaster" Target="/ppt/notesMasters/notesMaster1.xml" Id="R22d06f12251d499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eb1a755af0d4108" /><Relationship Type="http://schemas.openxmlformats.org/officeDocument/2006/relationships/notesMaster" Target="/ppt/notesMasters/notesMaster1.xml" Id="R3136877794c341a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0e7219954df4363" /><Relationship Type="http://schemas.openxmlformats.org/officeDocument/2006/relationships/notesMaster" Target="/ppt/notesMasters/notesMaster1.xml" Id="R733e1e77e5b24c3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d00a6c3501d499f" /><Relationship Type="http://schemas.openxmlformats.org/officeDocument/2006/relationships/notesMaster" Target="/ppt/notesMasters/notesMaster1.xml" Id="Rae58836116cb4aa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b52e139e128a403a" /><Relationship Type="http://schemas.openxmlformats.org/officeDocument/2006/relationships/notesMaster" Target="/ppt/notesMasters/notesMaster1.xml" Id="R5d0a806a49da4cb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 by Eternalgy 是为团队设计的 AI，当前以 Document Intelligence 切入。公司上下文与流程是产品定位。现有 host 仍为单一操作员与默认公司。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这是问题定义与设计方向。团队角色示意不表示当前 host 已具有多成员账号或团队权限。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README.md; core/tools.mjs:16-24,729-737; host.mjs:26-70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水坝是创始人的商业化比喻，不是行业研究结论。搭建、使用、稳定三道门槛是产品设计与试点验证重点。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资料依据：创始人于本次对话提供的六个核心理念与定位。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公司理解指明确保存并被任务调用的公司上下文，不是模型自动训练。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README.md; core/documents.mjs:210-339,353-392,467-493,504-549,568-602; core/actions.mjs:31-114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按用户提供的解释流程：Know your company，结合 e 的 Expertise in Data Digitalisation，为公司 onboard 一位 Digital Document Expert。这是 AI 专家定位，不是实际人员招聘。公司资料、旧 invoice/quotation 与可读官网内容提供上下文，抽取事实与配置仍需用户确认。通过预置 schema、自定义字段、规则与模板适应公司工作。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README.md; core/company.mjs:21-27; core/admin.mjs:57-82; core/documents.mjs:127-136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常见业务共享客户、商品、文件、采集与规则等结构。e 当前使用预置业务 schema，可按公司配置字段、模板和规则，不是自动创建任意数据库。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README.md; core/tools.mjs:16-24,729-737; host.mjs:26-70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Expert of Digitalization 是创始人补充的定位。单次生成 PDF 并不自动建立关联业务记录。数字化的定义是将业务信息转为计算机可理解、可关联、可计算的数据。此页比较输出方式，不概括所有竞品。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资料依据：core/documents.mjs:210-339,353-392,467-493,504-549,568-602; core/actions.mjs:31-114; core/documents.mjs:67-78,353-392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关系示意简化自现有 schema：di.document(customer_id,issue_date,total,custom)、di.document_line(document_id,product_id,quantity,discount_amount)、di.customer、di.product。人员归属可配置为 custom 字段，不是默认 sales-agent 外键。右侧为可扩展分析示例，不是已交付的报表。收入需公司定义确认口径；热门商品需选数量或金额；折扣比例需定义分母与汇总口径。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资料依据：core/documents.mjs:210-339,353-392,467-493,504-549,568-602; core/actions.mjs:31-114; core/documents.mjs:67-78,353-392; core/admin.mjs:57-82; core/dashboard.mjs:23-128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创始人将 e 定位为 Expert of Digitalization。PostgreSQL、schema 查询和自定义字段、公开 HTML 表单发布、文件存储与分享为 repo 可证实的能力。Cloud Storage 为用户指定的部署方向，当前 repo 通过宿主 filesRoot/workspace 与 publicUrl 存储和发布，不代表已整合某一云对象存储服务。订单表单、工作报告表单是可配置采集用途，不是完整订单或工单产品。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资料依据：core/tools.mjs:16-24,729-737; host.mjs:26-70; core/admin.mjs:57-82; core/actions.mjs:31-114; core/forms.mjs:552-574; host.mjs:197-242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单次文件输出与 e 的流程方式做概念对比，不将所有其他 AI 归为只会 PDF。五个齿轮代表预置 schema、数据库记录、文档生命周期、SOP 与模板。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资料依据：core/documents.mjs:210-339,353-392,467-493,504-549,568-602; core/actions.mjs:31-114; core/tools.mjs:16-24,729-737; host.mjs:26-70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准备不写记录，草稿可以修改，issue 时验证并编号，保存 snapshots，PDF 与付款记录进入持续流程。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资料依据：core/documents.mjs:210-339,353-392,467-493,504-549,568-602; core/actions.mjs:31-114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表单、review、stats 与 CSV 是现有工具。工程报告、每日打卡是可配置的数据采集例子，不代表完整工单、考勤或薪资系统。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资料依据：core/forms.mjs:418-481,552-574,830-884,991-1060,1084-1178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 CRM preview，金额与数量为演示数据。代码实现应收、逾期、开票与收款趋势、报价pipeline，截图不代表经营业绩。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资料依据：core/dashboard.mjs:23-128; preview/crm-desktop.png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 registry 七个 DI specialist。Orchestrator 所在外围 UIv2 host 接收需求与派发任务，specialist 共享记录但工具各有授权范围。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资料依据：core/tools.mjs:16-24,729-737; host.mjs:26-70; 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用细胞比喻说明分工与协作产生系统能力。修辞不对细胞认知能力作科学断言，也不等于仅靠单个 agent 就能保证整体可靠性。</a:t>
            </a:r>
          </a:p>
          <a:p xmlns:a="http://schemas.openxmlformats.org/drawingml/2006/main">
            <a:r>
              <a:t>依据：core/tools.mjs:16-24,729-737; host.mjs:26-70</a:t>
            </a:r>
          </a:p>
          <a:p xmlns:a="http://schemas.openxmlformats.org/drawingml/2006/main">
            <a:r>
              <a:t>视觉由内置 ImageGen 生成，文字为原生可编辑。日期：2026-10-01。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两种架构思路的概念对比，不概括全部竞品。资料、模板、文件、表单为当前 specialist 职责例子。单元、调度与交接都需验证。</a:t>
            </a:r>
          </a:p>
          <a:p xmlns:a="http://schemas.openxmlformats.org/drawingml/2006/main">
            <a:r>
              <a:t>依据：core/tools.mjs:16-24,729-737; host.mjs:26-70; core/documents.mjs:210-339,353-392,467-493,504-549,568-602; core/actions.mjs:31-114</a:t>
            </a:r>
          </a:p>
          <a:p xmlns:a="http://schemas.openxmlformats.org/drawingml/2006/main">
            <a:r>
              <a:t>视觉由内置 ImageGen 生成，文字为原生可编辑。日期：2026-10-01。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可检查机制是代码事实，不等于已验证成功率、低错误率或零错误。RLS 隔离在 di_app 角色可用时生效，数据库角色 unavailable 时有降级限制。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资料依据：core/documents.mjs:210-339,353-392,467-493,504-549,568-602; core/actions.mjs:31-114; core/tools.mjs:16-24,729-737; host.mjs:26-70; checker/index.mjs:48-50; 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README 定义 MVP/working demo。当前 host 单操作员/default company，数据库 tenant-aware 不表示已有团队用户权限。MyInvois 尚无提交整合。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资料依据：ONBOARDING.md; README.md; checker/index.mjs:48-50; 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这是建议试点方法，不是正式套餐、价格、承诺期限或已取得客户成果。由客户选一条适合现有功能的流程，使用其真实资料并确认后运行。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资料依据：创始人于本次对话提供的六个核心理念与定位。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投资命题是待验证的假设。没有 supplied traction、收入、市场规模、投资额、估值或财务数据，本页不虚构这些指标。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资料依据：创始人于本次对话提供的六个核心理念与定位。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下一步：客户选一条真实流程试点，投资者共同验证商业化路径。不是报价、合同或募资条件。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资料依据：创始人于本次对话提供的六个核心理念与定位。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所有产品实现依据为本地 repo。生成图仅作视觉比喻，截图为演示数据。资料截至 2026-10-01。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资料依据：core/tools.mjs:16-24,729-737; host.mjs:26-70</a:t>
            </a:r>
          </a:p>
          <a:p xmlns:a="http://schemas.openxmlformats.org/drawingml/2006/main">
            <a:r>
              <a:t>core/documents.mjs:210-339,353-392,467-493,504-549,568-602; core/actions.mjs:31-114</a:t>
            </a:r>
          </a:p>
          <a:p xmlns:a="http://schemas.openxmlformats.org/drawingml/2006/main">
            <a:r>
              <a:t>core/forms.mjs:418-481,552-574,830-884,991-1060,1084-1178</a:t>
            </a:r>
          </a:p>
          <a:p xmlns:a="http://schemas.openxmlformats.org/drawingml/2006/main">
            <a:r>
              <a:t>ONBOARDING.md; README.md</a:t>
            </a:r>
          </a:p>
          <a:p xmlns:a="http://schemas.openxmlformats.org/drawingml/2006/main">
            <a:r>
              <a:t>core/dashboard.mjs:23-128; preview/crm-desktop.png</a:t>
            </a:r>
          </a:p>
          <a:p xmlns:a="http://schemas.openxmlformats.org/drawingml/2006/main">
            <a:r>
              <a:t>checker/index.mjs:48-50; ONBOARDING.md; README.md</a:t>
            </a:r>
          </a:p>
          <a:p xmlns:a="http://schemas.openxmlformats.org/drawingml/2006/main">
            <a:r>
              <a:t>日期：2026-10-01。生成图为抽象示意，不作为事实证据。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24a0b4585440a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0d2d0363bf4549" /><Relationship Type="http://schemas.openxmlformats.org/officeDocument/2006/relationships/slideLayout" Target="/ppt/slideLayouts/slideLayout1.xml" Id="R55354559128a4d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5354559128a4d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62aff217ba494f" /><Relationship Type="http://schemas.openxmlformats.org/officeDocument/2006/relationships/image" Target="/ppt/media/image.png" Id="R7f924bc546314405" /><Relationship Type="http://schemas.openxmlformats.org/officeDocument/2006/relationships/image" Target="/ppt/media/image2.png" Id="Rfc84ed8d79f44943" /><Relationship Type="http://schemas.openxmlformats.org/officeDocument/2006/relationships/notesSlide" Target="/ppt/notesSlides/notesSlide1.xml" Id="Rf6efa190d4e245a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3f0d1ea607468e" /><Relationship Type="http://schemas.openxmlformats.org/officeDocument/2006/relationships/notesSlide" Target="/ppt/notesSlides/notesSlide2.xml" Id="Radd22f9070d343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967d9bf554b7d" /><Relationship Type="http://schemas.openxmlformats.org/officeDocument/2006/relationships/image" Target="/ppt/media/image3.png" Id="R76ecaa4d36404314" /><Relationship Type="http://schemas.openxmlformats.org/officeDocument/2006/relationships/notesSlide" Target="/ppt/notesSlides/notesSlide3.xml" Id="Re6e8f1103a98404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d4bb8bb2449db" /><Relationship Type="http://schemas.openxmlformats.org/officeDocument/2006/relationships/notesSlide" Target="/ppt/notesSlides/notesSlide4.xml" Id="R9675051b962840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dde47e1394358" /><Relationship Type="http://schemas.openxmlformats.org/officeDocument/2006/relationships/notesSlide" Target="/ppt/notesSlides/notesSlide5.xml" Id="Rda8fd4880822451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87ae808c11442c" /><Relationship Type="http://schemas.openxmlformats.org/officeDocument/2006/relationships/notesSlide" Target="/ppt/notesSlides/notesSlide6.xml" Id="R7a511587e3ca4d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2e242c978641b0" /><Relationship Type="http://schemas.openxmlformats.org/officeDocument/2006/relationships/notesSlide" Target="/ppt/notesSlides/notesSlide7.xml" Id="Rbc3bdad0a7b3487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9ce1cff1d044a7" /><Relationship Type="http://schemas.openxmlformats.org/officeDocument/2006/relationships/notesSlide" Target="/ppt/notesSlides/notesSlide8.xml" Id="Re8c538aa1eb44ab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9ac15ba767425a" /><Relationship Type="http://schemas.openxmlformats.org/officeDocument/2006/relationships/notesSlide" Target="/ppt/notesSlides/notesSlide9.xml" Id="R2ace7a52fe954bf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11351e6f7845b6" /><Relationship Type="http://schemas.openxmlformats.org/officeDocument/2006/relationships/image" Target="/ppt/media/image4.png" Id="Rd9bf03b3efb54326" /><Relationship Type="http://schemas.openxmlformats.org/officeDocument/2006/relationships/notesSlide" Target="/ppt/notesSlides/notesSlide10.xml" Id="R5c122f8ea889486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7fd9234aef41c2" /><Relationship Type="http://schemas.openxmlformats.org/officeDocument/2006/relationships/notesSlide" Target="/ppt/notesSlides/notesSlide11.xml" Id="R54aef9ec32ba48b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f8af3c377a49d7" /><Relationship Type="http://schemas.openxmlformats.org/officeDocument/2006/relationships/notesSlide" Target="/ppt/notesSlides/notesSlide12.xml" Id="R4f76ca6b59a84ae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4f43517e9b4581" /><Relationship Type="http://schemas.openxmlformats.org/officeDocument/2006/relationships/image" Target="/ppt/media/image5.png" Id="R30d1e7a13b4c4626" /><Relationship Type="http://schemas.openxmlformats.org/officeDocument/2006/relationships/notesSlide" Target="/ppt/notesSlides/notesSlide13.xml" Id="R0dabf68adb504a8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5c856b7b44ec5" /><Relationship Type="http://schemas.openxmlformats.org/officeDocument/2006/relationships/notesSlide" Target="/ppt/notesSlides/notesSlide14.xml" Id="R6fc38171454e419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c383e6a33347db" /><Relationship Type="http://schemas.openxmlformats.org/officeDocument/2006/relationships/image" Target="/ppt/media/image6.png" Id="R36a95351f8d145b0" /><Relationship Type="http://schemas.openxmlformats.org/officeDocument/2006/relationships/notesSlide" Target="/ppt/notesSlides/notesSlide15.xml" Id="Rc709634e5fd34cb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4c0b3cf1c4fa8" /><Relationship Type="http://schemas.openxmlformats.org/officeDocument/2006/relationships/image" Target="/ppt/media/image7.png" Id="Rfdb09755195b442e" /><Relationship Type="http://schemas.openxmlformats.org/officeDocument/2006/relationships/notesSlide" Target="/ppt/notesSlides/notesSlide16.xml" Id="Rd190db0465684cc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78ccb22e847be" /><Relationship Type="http://schemas.openxmlformats.org/officeDocument/2006/relationships/notesSlide" Target="/ppt/notesSlides/notesSlide17.xml" Id="R5b8666df944d435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3b61c5f0ef4d13" /><Relationship Type="http://schemas.openxmlformats.org/officeDocument/2006/relationships/notesSlide" Target="/ppt/notesSlides/notesSlide18.xml" Id="R2b343a8ad28e4f2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2b520eed764665" /><Relationship Type="http://schemas.openxmlformats.org/officeDocument/2006/relationships/notesSlide" Target="/ppt/notesSlides/notesSlide19.xml" Id="R20b968d723484b6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507e5c608040b9" /><Relationship Type="http://schemas.openxmlformats.org/officeDocument/2006/relationships/notesSlide" Target="/ppt/notesSlides/notesSlide20.xml" Id="R5e73194ad2f6475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650c430684850" /><Relationship Type="http://schemas.openxmlformats.org/officeDocument/2006/relationships/image" Target="/ppt/media/image8.png" Id="R5ca91ff2aeeb4c9f" /><Relationship Type="http://schemas.openxmlformats.org/officeDocument/2006/relationships/notesSlide" Target="/ppt/notesSlides/notesSlide21.xml" Id="R437ba961944c435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6d35f3fba4185" /><Relationship Type="http://schemas.openxmlformats.org/officeDocument/2006/relationships/notesSlide" Target="/ppt/notesSlides/notesSlide22.xml" Id="R5fe043e7ed734a1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924bc546314405"/>
          <a:stretch xmlns:a="http://schemas.openxmlformats.org/drawingml/2006/main"/>
        </p:blipFill>
        <p:spPr>
          <a:xfrm xmlns:a="http://schemas.openxmlformats.org/drawingml/2006/main">
            <a:off x="704850" y="723900"/>
            <a:ext cx="523875" cy="5238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BD2789-293B-4F16-A14F-2A6DA8BF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80010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2C091-FB1F-4318-AA1B-CCE14406D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69723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为团队打造的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236666-F855-44A9-A631-15E114911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652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让公司资料，成为 AI 的工作依据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059653-254F-4429-8A88-0B6B5BBFE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53000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4ed8d79f44943"/>
          <a:stretch xmlns:a="http://schemas.openxmlformats.org/drawingml/2006/main"/>
        </p:blipFill>
        <p:spPr>
          <a:xfrm xmlns:a="http://schemas.openxmlformats.org/drawingml/2006/main">
            <a:off x="7924800" y="1209204"/>
            <a:ext cx="3581400" cy="438244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FD65FC-31D6-4FAC-82B9-3F62BC6A8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67450"/>
            <a:ext cx="657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Document Intelligence</a:t>
            </a:r>
          </a:p>
        </p:txBody>
      </p:sp>
    </p:spTree>
    <p:extLst>
      <p:ext uri="{BB962C8B-B14F-4D97-AF65-F5344CB8AC3E}">
        <p14:creationId xmlns:p14="http://schemas.microsoft.com/office/powerpoint/2010/main" val="62993665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C96E1D-B14A-40A5-9B69-E8F26E872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团队工作，需要共同的公司上下文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96900-FFC8-4E26-8137-95A099D6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FF907-EF3C-4371-BEE6-759CC8A8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D0C467-6325-4ECF-A1A4-B7D0F4A3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95475"/>
            <a:ext cx="5810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每个成员带来任务</a:t>
            </a:r>
          </a:p>
          <a:p xmlns:a="http://schemas.openxmlformats.org/drawingml/2006/main">
            <a:pPr algn="l">
              <a:def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公司提供共同依据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425F8B-F93B-4C71-9ABD-8ECB1AEC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91000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成员经验与旧文件中的信息，</a:t>
            </a:r>
          </a:p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需要延续到下一次工作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91C4E-DBBA-426B-B80D-F328D571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1455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2C82AB-1F86-46F7-8B04-1186794A7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9075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销售任务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04462-A4A7-4EF7-957B-9AAD2611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67075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4C9FC-BC6F-4CED-9533-FE4B6B93E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343275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行政任务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64F749-FB28-479B-8AA0-E730CE73B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419600"/>
            <a:ext cx="1714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232875-1E87-4BB6-B5E0-9971CD2C5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495800"/>
            <a:ext cx="152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财务任务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D00BF4-A11D-4F9D-8F6D-72269539D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71800"/>
            <a:ext cx="2190750" cy="17145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823C61-D5F9-4307-A5E8-31D345E4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48000"/>
            <a:ext cx="20002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共同的</a:t>
            </a:r>
          </a:p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公司上下文</a:t>
            </a:r>
          </a:p>
        </p:txBody>
      </p: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8324850" y="2476500"/>
            <a:ext cx="819150" cy="1352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8324850" y="3629025"/>
            <a:ext cx="819150" cy="2000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33" name=""/>
          <p:cNvCxnSpPr>
            <a:stCxn xmlns:a="http://schemas.openxmlformats.org/drawingml/2006/main" id="10" idx="3"/>
            <a:endCxn xmlns:a="http://schemas.openxmlformats.org/drawingml/2006/main" id="12" idx="2"/>
          </p:cNvCxnSpPr>
          <p:nvPr/>
        </p:nvCxnSpPr>
        <p:spPr>
          <a:xfrm xmlns:a="http://schemas.openxmlformats.org/drawingml/2006/main" flipV="1">
            <a:off x="8324850" y="3829050"/>
            <a:ext cx="81915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EEF4CD-821D-4CC3-B53A-83EE33D9B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67400"/>
            <a:ext cx="10477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产品方向：团队协作。多人账号与权限仍待完善。</a:t>
            </a:r>
          </a:p>
        </p:txBody>
      </p:sp>
    </p:spTree>
    <p:extLst>
      <p:ext uri="{BB962C8B-B14F-4D97-AF65-F5344CB8AC3E}">
        <p14:creationId xmlns:p14="http://schemas.microsoft.com/office/powerpoint/2010/main" val="162799384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778A76-A46B-4034-BD39-D22BDE4E3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AI 变现的最后一里路，是使用门槛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3203EF-E54A-4E49-A1EE-A9F9F2C07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AD4C39-2CC6-408F-A38F-CED0A38F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CD1AB9-C1F1-4FE7-9F42-FB1D7EE7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模型能力像水源，真正的价值需要跨过三道门槛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ecaa4d36404314"/>
          <a:stretch xmlns:a="http://schemas.openxmlformats.org/drawingml/2006/main"/>
        </p:blipFill>
        <p:spPr>
          <a:xfrm xmlns:a="http://schemas.openxmlformats.org/drawingml/2006/main">
            <a:off x="685800" y="2328156"/>
            <a:ext cx="10820400" cy="32875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F270EE-CE15-4185-AC00-FECBCDF80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74357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B7AE1-52B5-4979-8D3F-EAD76D5E3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86425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搭建门槛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E736A8-6189-4B1A-88E1-1B0B3E7B7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4357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3F17B-5B39-4D08-B991-C744B958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5686425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使用门槛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E69704-827F-4D6D-B787-CA62A6BC6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743575"/>
            <a:ext cx="590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A6534B-D676-447C-94F4-55C740A0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5686425"/>
            <a:ext cx="179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稳定门槛</a:t>
            </a:r>
          </a:p>
        </p:txBody>
      </p:sp>
    </p:spTree>
    <p:extLst>
      <p:ext uri="{BB962C8B-B14F-4D97-AF65-F5344CB8AC3E}">
        <p14:creationId xmlns:p14="http://schemas.microsoft.com/office/powerpoint/2010/main" val="11560245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85066E-0F36-45BA-9133-41D1193C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Let it know, Let it Work.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B87541-2950-43C5-AA7C-3F1F4849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853A8-1CD7-454B-A8D0-787F550A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B5CFA-E662-4231-A84E-20AEDB4D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71675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让 e 知道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AD8C0-62B2-4198-BE5E-2A825BB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95625"/>
            <a:ext cx="4953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公司是谁</a:t>
            </a:r>
          </a:p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客户与商品是什么</a:t>
            </a:r>
          </a:p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文件与规则怎样运作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89F92-EC7B-4088-839D-C408CB332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971675"/>
            <a:ext cx="4667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让 e 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B694B-8119-4884-ADF1-FA756422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95625"/>
            <a:ext cx="48196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查记录，准备文件</a:t>
            </a:r>
          </a:p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发现缺项，先询问</a:t>
            </a:r>
          </a:p>
          <a:p xmlns:a="http://schemas.openxmlformats.org/drawingml/2006/main">
            <a:pPr algn="l">
              <a:def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保存成果，延续后续工作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7D757D-7092-443E-BBFD-6E7AC975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3D526-77B9-47A5-BB09-E83105B4C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86475" y="2047875"/>
            <a:ext cx="0" cy="3248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CC71A-6796-4628-8E26-CB63C93B4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0072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公司资料与规则，决定每一次工作怎样完成</a:t>
            </a:r>
          </a:p>
        </p:txBody>
      </p:sp>
    </p:spTree>
    <p:extLst>
      <p:ext uri="{BB962C8B-B14F-4D97-AF65-F5344CB8AC3E}">
        <p14:creationId xmlns:p14="http://schemas.microsoft.com/office/powerpoint/2010/main" val="910357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4D4FFE-E68A-4F3E-8047-CAB889D91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为公司入职一位数字文档专家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3FB9C4-196C-44EC-8625-6DB9C93F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244D06-87EC-43A4-9215-F86235D6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0F1D16-6486-4926-9710-F74B5EF9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619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458AA1-32B0-46F2-97F7-039B423AE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20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了解你的公司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B346F-07E9-4F55-88C4-D6696957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320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Know your</a:t>
            </a:r>
          </a:p>
          <a:p xmlns:a="http://schemas.openxmlformats.org/drawingml/2006/main">
            <a:pPr algn="l">
              <a:defRPr sz="21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company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BE1A08-3836-497A-9344-3F1D4A4A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48175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813A7-9C1E-4344-86B8-54A29891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320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公司资料、旧文件</a:t>
            </a:r>
          </a:p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业务规则与工作习惯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77F4C-A1AD-4B40-8A2A-6D1D906DE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619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F9256F-F5A1-4DF8-A8D2-3CA134E63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86050"/>
            <a:ext cx="320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结合数字化专业能力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5FB329-BC33-4888-AFA5-58E3CA790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29000"/>
            <a:ext cx="320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Expertise in</a:t>
            </a:r>
          </a:p>
          <a:p xmlns:a="http://schemas.openxmlformats.org/drawingml/2006/main">
            <a:pPr algn="l">
              <a:defRPr sz="21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Data Digitalisation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50D8E5-E7D7-4A68-A945-DEA4F4BF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48175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15CD3C-0203-4A22-9274-B3CE2F06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752975"/>
            <a:ext cx="320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数据建模与关系设计</a:t>
            </a:r>
          </a:p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文件、表单与业务流程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3FB7C3-BC3C-45E8-879E-C0993751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52625"/>
            <a:ext cx="619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6CE557-A357-4A73-8CFC-9B3ED9C9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320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为公司入职文档专家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84BD78-741C-428D-9037-DA3BAB6D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29000"/>
            <a:ext cx="32004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Digital Document</a:t>
            </a:r>
          </a:p>
          <a:p xmlns:a="http://schemas.openxmlformats.org/drawingml/2006/main">
            <a:pPr algn="l">
              <a:defRPr sz="21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Expert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43BC4F-E016-4755-B601-A96DBE07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48175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9E1791-A32F-4312-9259-A42CA02BD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752975"/>
            <a:ext cx="3200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理解公司设定</a:t>
            </a:r>
          </a:p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按公司规则处理工作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A61F90-D542-4AD8-889A-05EE5EC4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76625"/>
            <a:ext cx="4000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+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25D445-0FB1-4295-B336-C2833F2F9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476625"/>
            <a:ext cx="4000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=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1EAD53-0664-4610-8BD0-3659958C4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公司理解与数字化专业能力，共同构成 e 的入职基础</a:t>
            </a:r>
          </a:p>
        </p:txBody>
      </p:sp>
    </p:spTree>
    <p:extLst>
      <p:ext uri="{BB962C8B-B14F-4D97-AF65-F5344CB8AC3E}">
        <p14:creationId xmlns:p14="http://schemas.microsoft.com/office/powerpoint/2010/main" val="11887106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C6522E-24E4-44C2-9819-E364A39D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天下武功，殊途同归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B8997-9859-43B8-B4C7-1C250D40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0E951-24BE-4FD5-9A41-E3ACF29F5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18A2E-D159-4414-80F9-9483534E6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7912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不同业务，</a:t>
            </a:r>
          </a:p>
          <a:p xmlns:a="http://schemas.openxmlformats.org/drawingml/2006/main">
            <a:pPr algn="l">
              <a:def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共享许多相同的结构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344E7-917E-438A-88BB-9EAB89E9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62375"/>
            <a:ext cx="57912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Expert of Digitalization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AC9078-B369-45F1-82E6-E25C4E25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以常用数据结构承接工作，</a:t>
            </a:r>
          </a:p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再适应公司的设定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07853-FEAB-4455-B0A0-0B79D6000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38500"/>
            <a:ext cx="2000250" cy="12382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58FDF4-7B7C-4B8C-9919-D5961EAC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14700"/>
            <a:ext cx="18097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业务记录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CC041B-604A-4BAD-B2F2-53777E266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38350"/>
            <a:ext cx="10287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ECC98-A48E-4493-B115-21D3F76E1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114550"/>
            <a:ext cx="83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</a:t>
            </a:r>
          </a:p>
        </p:txBody>
      </p:sp>
      <p:cxnSp>
        <p:nvCxnSpPr>
          <p:cNvPr id="31" name=""/>
          <p:cNvCxnSpPr>
            <a:stCxn xmlns:a="http://schemas.openxmlformats.org/drawingml/2006/main" id="9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7791450" y="2395538"/>
            <a:ext cx="381000" cy="14620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6AEE64-4C70-48D4-A5B7-30E1AC7E0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038350"/>
            <a:ext cx="10287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A09E63-F0F5-482D-99F9-63B357565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114550"/>
            <a:ext cx="83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产品</a:t>
            </a:r>
          </a:p>
        </p:txBody>
      </p:sp>
      <p:cxnSp>
        <p:nvCxnSpPr>
          <p:cNvPr id="34" name=""/>
          <p:cNvCxnSpPr>
            <a:stCxn xmlns:a="http://schemas.openxmlformats.org/drawingml/2006/main" id="12" idx="1"/>
            <a:endCxn xmlns:a="http://schemas.openxmlformats.org/drawingml/2006/main" id="7" idx="4"/>
          </p:cNvCxnSpPr>
          <p:nvPr/>
        </p:nvCxnSpPr>
        <p:spPr>
          <a:xfrm xmlns:a="http://schemas.openxmlformats.org/drawingml/2006/main" flipH="1">
            <a:off x="10172700" y="2395538"/>
            <a:ext cx="304800" cy="14620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BCFC95-FBDF-464A-90F3-D0BC804A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819650"/>
            <a:ext cx="10287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D02D6B-B35F-4EC3-93EA-E3BA48C11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95850"/>
            <a:ext cx="83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cxnSp>
        <p:nvCxnSpPr>
          <p:cNvPr id="37" name=""/>
          <p:cNvCxnSpPr>
            <a:stCxn xmlns:a="http://schemas.openxmlformats.org/drawingml/2006/main" id="15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 flipV="1">
            <a:off x="7791450" y="3857625"/>
            <a:ext cx="381000" cy="13192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E59199-F657-406C-AD30-14F8FBACA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19650"/>
            <a:ext cx="10287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73495E-BADA-45D4-93FC-E86E6FB6C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895850"/>
            <a:ext cx="8382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</p:txBody>
      </p:sp>
      <p:cxnSp>
        <p:nvCxnSpPr>
          <p:cNvPr id="40" name=""/>
          <p:cNvCxnSpPr>
            <a:stCxn xmlns:a="http://schemas.openxmlformats.org/drawingml/2006/main" id="18" idx="1"/>
            <a:endCxn xmlns:a="http://schemas.openxmlformats.org/drawingml/2006/main" id="7" idx="4"/>
          </p:cNvCxnSpPr>
          <p:nvPr/>
        </p:nvCxnSpPr>
        <p:spPr>
          <a:xfrm xmlns:a="http://schemas.openxmlformats.org/drawingml/2006/main" flipH="1" flipV="1">
            <a:off x="10172700" y="3857625"/>
            <a:ext cx="304800" cy="131921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</p:spTree>
    <p:extLst>
      <p:ext uri="{BB962C8B-B14F-4D97-AF65-F5344CB8AC3E}">
        <p14:creationId xmlns:p14="http://schemas.microsoft.com/office/powerpoint/2010/main" val="13224235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2854FC-8136-4DEC-BDE6-4881EA3FB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数字化：让 DATA 在计算世界里活起来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73FCCF-CAAC-4988-AA31-C6210A978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41FA26-9770-447A-90A0-3E03A6FAA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2D566F-8A44-4947-8F56-E7B85C42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5737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Paperless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0D8272-205C-427B-BC29-CE7C9ED3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4667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纸张变成 PDF</a:t>
            </a:r>
          </a:p>
          <a:p xmlns:a="http://schemas.openxmlformats.org/drawingml/2006/main">
            <a:pPr algn="l">
              <a:def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方便保存与传递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453485-7E4A-48D3-AFC4-32D9EFD33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885950"/>
            <a:ext cx="5257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Computer-meaningful Data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7C981-2031-4A67-BA5A-C3946626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609850"/>
            <a:ext cx="52578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客户、商品、金额、时间</a:t>
            </a:r>
          </a:p>
          <a:p xmlns:a="http://schemas.openxmlformats.org/drawingml/2006/main">
            <a:pPr algn="l">
              <a:defRPr sz="2250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成为可关联、可计算的数据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5D23A-786F-4F5F-A49C-E60A54F5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791200" y="1962150"/>
            <a:ext cx="0" cy="3486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CA1A29-8522-4418-A438-9BC66C55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781425"/>
            <a:ext cx="2686050" cy="146685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DF953C-7A8C-4936-A2C3-CDF1E100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857625"/>
            <a:ext cx="24955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Invoice</a:t>
            </a:r>
          </a:p>
          <a:p xmlns:a="http://schemas.openxmlformats.org/drawingml/2006/main">
            <a:pPr algn="ctr">
              <a:def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351075-1F1B-4641-81D4-BBCE10696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781425"/>
            <a:ext cx="2838450" cy="14668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1B29D3-EB2D-439A-BBB4-37D91D79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857625"/>
            <a:ext cx="26479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PostgreSQL</a:t>
            </a:r>
          </a:p>
          <a:p xmlns:a="http://schemas.openxmlformats.org/drawingml/2006/main">
            <a:pPr algn="ctr">
              <a:defRPr sz="25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关系数据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D3EAA0-A3E3-4B76-879F-B6A7EB97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e 在交付文件的同时，将业务信息保存为结构化记录</a:t>
            </a:r>
          </a:p>
        </p:txBody>
      </p:sp>
    </p:spTree>
    <p:extLst>
      <p:ext uri="{BB962C8B-B14F-4D97-AF65-F5344CB8AC3E}">
        <p14:creationId xmlns:p14="http://schemas.microsoft.com/office/powerpoint/2010/main" val="6070741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66722EC-BA46-4610-9AFA-ABC1ACB2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一张 Invoice，成为可持续计算的数据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2FF53B-38C5-455A-A8B1-C132D144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592AB-DDB8-4E04-B916-A9C72FDD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3190B-D53E-4345-A1FF-70865FB94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90675"/>
            <a:ext cx="523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Relational schema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C79F1-CEC4-4C17-943A-E2FF57D9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09725"/>
            <a:ext cx="5257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分析示例：依实际字段与公司计算口径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F96CD-4E98-4DAD-BB15-C4C9AE596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19240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04E904-E5C6-41B8-BE49-CD91AC140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38425"/>
            <a:ext cx="1695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Customer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1F3DC4-CE19-4B62-9079-82E8F9143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C12C0-C596-472E-AAD8-FB7CEFC0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71825"/>
            <a:ext cx="1695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id</a:t>
            </a:r>
          </a:p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name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5EA861-649E-4CE6-8E46-59F757CA1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14575"/>
            <a:ext cx="2428875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F05286-3A7D-4A43-A460-0605EA1F6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428875"/>
            <a:ext cx="22002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Invoice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50455-6E26-421E-AAEA-B8B1B68B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57500"/>
            <a:ext cx="2200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D4E087-9503-40EA-A58E-A5ADCFC5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62275"/>
            <a:ext cx="22002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customer_id</a:t>
            </a:r>
          </a:p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issue_date / total</a:t>
            </a:r>
          </a:p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人员归属（配置）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0017C5-A029-4BAD-9211-1EB7FED2B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9240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66DCA-B12C-493B-B149-C4497D8FC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00575"/>
            <a:ext cx="1695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Product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61EEBA-01C8-48B3-A15B-5BF8231D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9200"/>
            <a:ext cx="169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2D51AA-DC7D-4AD8-8F22-652F1BA6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33975"/>
            <a:ext cx="1695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id</a:t>
            </a:r>
          </a:p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name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55FE30-4FF0-41CC-9BD6-BCFE3A04F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333875"/>
            <a:ext cx="2428875" cy="1724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CED9D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D29335-B355-4F41-8AAA-17D5950D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48175"/>
            <a:ext cx="220027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Invoice Line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131728-8B8C-4835-B93C-E84EF900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76800"/>
            <a:ext cx="2200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81E6D6-DE52-48B1-9621-469EC3BAF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81575"/>
            <a:ext cx="22002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document_id</a:t>
            </a:r>
          </a:p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product_id / quantity</a:t>
            </a:r>
          </a:p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discount_amount</a:t>
            </a:r>
          </a:p>
        </p:txBody>
      </p:sp>
      <p:cxnSp>
        <p:nvCxnSpPr>
          <p:cNvPr id="54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 flipV="1">
            <a:off x="2609850" y="3176588"/>
            <a:ext cx="685800" cy="4763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55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2609850" y="5143500"/>
            <a:ext cx="685800" cy="52388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56" name=""/>
          <p:cNvCxnSpPr>
            <a:stCxn xmlns:a="http://schemas.openxmlformats.org/drawingml/2006/main" id="10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4510088" y="4038600"/>
            <a:ext cx="0" cy="295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47F86F-E030-4D0F-8D56-4E347254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14575"/>
            <a:ext cx="525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每位销售人员的收入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10BE60E-A622-42E6-B46D-B4D7DD78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71775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关联人员归属与收入确认口径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39D1AC-94EE-4AF4-B16A-8A081F35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67075"/>
            <a:ext cx="525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每月业绩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4595A0-CCAA-4297-8648-B27B0513D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724275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按月份汇总开票与收款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150164-2D7C-48C7-93A0-C022F63A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19575"/>
            <a:ext cx="525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热门商品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8F960A-3F6A-4912-84C9-8D78E209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676775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按商品汇总数量或金额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1BE636-BF8E-44EB-AAA8-7AA0552C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72075"/>
            <a:ext cx="52578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每位销售人员的折扣比例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775D0E-E4B6-4032-8E2A-D83D3D3E7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29275"/>
            <a:ext cx="525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关联人员与折扣明细，按统一口径比较</a:t>
            </a:r>
          </a:p>
        </p:txBody>
      </p:sp>
    </p:spTree>
    <p:extLst>
      <p:ext uri="{BB962C8B-B14F-4D97-AF65-F5344CB8AC3E}">
        <p14:creationId xmlns:p14="http://schemas.microsoft.com/office/powerpoint/2010/main" val="13272653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066671-3355-4E7C-B500-1CC5E11E6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e 的数字化工作方式与工具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AF557-ACFC-421E-BF83-AD287CCC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EEB8A-0C44-4D10-8B82-B3DB2281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E8E175-E52A-4FE4-9D67-C5EF3C62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数字化专业知识，落实到每一步数据处理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7C23B8-BE16-4137-92E4-CF5AA9C3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34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采集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18C457-4ED8-4DD3-A61A-D9A0D4A4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48075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463C5A-CB3A-4B58-9B8A-E7E22C07A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400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Publishable Site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40A232-2389-422F-9B2E-1343805B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2400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HTML 表单</a:t>
            </a:r>
          </a:p>
          <a:p xmlns:a="http://schemas.openxmlformats.org/drawingml/2006/main">
            <a:pPr algn="l">
              <a:def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订单、工作报告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D8EE7-6519-4E90-A9CD-48242F59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76575" y="31908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7EF8A3-3D64-458E-94D6-348005B6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76550"/>
            <a:ext cx="234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建模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7E77E8-C49D-4854-83F1-0736C0F3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648075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101783-68F7-497E-B8B5-1576C7CB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05250"/>
            <a:ext cx="2400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Schema</a:t>
            </a:r>
          </a:p>
          <a:p xmlns:a="http://schemas.openxmlformats.org/drawingml/2006/main">
            <a:pPr algn="l">
              <a:def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Reference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903B6-B782-4FAB-8331-3C1FB5B9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695825"/>
            <a:ext cx="2400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理解字段与关系</a:t>
            </a:r>
          </a:p>
          <a:p xmlns:a="http://schemas.openxmlformats.org/drawingml/2006/main">
            <a:pPr algn="l">
              <a:def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按公司设定校验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E5CD2F-6D04-452F-868B-4F2F61DA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934075" y="31908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4418F0-F105-43B2-882C-0B20C70E0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76550"/>
            <a:ext cx="234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记录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B8EB37-B329-4F0A-9E5F-8E8C1838F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48075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2827F5-0B7D-4C29-A38C-504CB5D1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05250"/>
            <a:ext cx="2400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PostgreSQL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CA128D-D764-4E83-BED8-76A80C63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95825"/>
            <a:ext cx="2400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保存关联业务记录</a:t>
            </a:r>
          </a:p>
          <a:p xmlns:a="http://schemas.openxmlformats.org/drawingml/2006/main">
            <a:pPr algn="l">
              <a:def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承接查询与计算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5F5BDE-F210-4F12-A4D1-50E013E0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791575" y="3190875"/>
            <a:ext cx="314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4CD7A7-AD52-4A90-B763-62FB7E94A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76550"/>
            <a:ext cx="234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7F3F72-C9AF-4A79-923D-43A6891E4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648075"/>
            <a:ext cx="2209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8CB08D-CD70-494F-8FB1-53F92A21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05250"/>
            <a:ext cx="24003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Cloud Storage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E770C0-0709-44BE-9D8B-03F61174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695825"/>
            <a:ext cx="24003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文件保存与分享</a:t>
            </a:r>
          </a:p>
          <a:p xmlns:a="http://schemas.openxmlformats.org/drawingml/2006/main">
            <a:pPr algn="l">
              <a:def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云存储依部署配置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133455-4CFC-462B-A5CB-836CDA28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0763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表单发布、schema 与数据记录已有实现；云端文件存储取决于部署配置。</a:t>
            </a:r>
          </a:p>
        </p:txBody>
      </p:sp>
    </p:spTree>
    <p:extLst>
      <p:ext uri="{BB962C8B-B14F-4D97-AF65-F5344CB8AC3E}">
        <p14:creationId xmlns:p14="http://schemas.microsoft.com/office/powerpoint/2010/main" val="18771604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EF4F1E-B255-45FE-8B8F-D36F73E68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同一个开票请求，两种处理方式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E6CC67-0F94-4349-9BE4-0CDBAA25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603F36-94FB-428A-AAF6-63DA7983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B44A88-919E-4754-821B-ADF27836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5257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“Create 1 invoice for Acme…”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1242A-0EE0-4E8A-871E-985B88DB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266950"/>
            <a:ext cx="352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单次文件输出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bf03b3efb54326"/>
          <a:stretch xmlns:a="http://schemas.openxmlformats.org/drawingml/2006/main"/>
        </p:blipFill>
        <p:spPr>
          <a:xfrm xmlns:a="http://schemas.openxmlformats.org/drawingml/2006/main">
            <a:off x="1400175" y="2906210"/>
            <a:ext cx="1666875" cy="236003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55C8C4-A105-4230-9D30-342933222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48640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 PDF Invoice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EA4C5E-C65B-480F-8263-C13F513C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48100"/>
            <a:ext cx="76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CB7E8A-C96A-4FB0-8B9B-7359DE12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66950"/>
            <a:ext cx="556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e：文档是一条业务流程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D20C4-D5BA-495D-B816-029F529D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058025" y="3429000"/>
            <a:ext cx="140970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9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EE19C-FEA8-400C-A0EF-7E2B4812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467725" y="3429000"/>
            <a:ext cx="1409700" cy="733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9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B309A-FA3E-4A89-B665-5992DC34E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58025" y="4162425"/>
            <a:ext cx="140970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9D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E5C195-B257-4886-9CE3-62B12B5A8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467725" y="4162425"/>
            <a:ext cx="1409700" cy="828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ED9D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C5B28-C35D-472D-99FB-AB7224E9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52725"/>
            <a:ext cx="1447800" cy="1447800"/>
          </a:xfrm>
          <a:custGeom xmlns:a="http://schemas.openxmlformats.org/drawingml/2006/main">
            <a:pathLst>
              <a:path w="1447800" h="1447800">
                <a:moveTo>
                  <a:pt x="723900" y="14478"/>
                </a:moveTo>
                <a:lnTo>
                  <a:pt x="816498" y="20547"/>
                </a:lnTo>
                <a:lnTo>
                  <a:pt x="875661" y="157521"/>
                </a:lnTo>
                <a:lnTo>
                  <a:pt x="948290" y="182175"/>
                </a:lnTo>
                <a:lnTo>
                  <a:pt x="1078611" y="109523"/>
                </a:lnTo>
                <a:lnTo>
                  <a:pt x="1155769" y="161078"/>
                </a:lnTo>
                <a:lnTo>
                  <a:pt x="1138518" y="309282"/>
                </a:lnTo>
                <a:lnTo>
                  <a:pt x="1189090" y="366947"/>
                </a:lnTo>
                <a:lnTo>
                  <a:pt x="1338277" y="369189"/>
                </a:lnTo>
                <a:lnTo>
                  <a:pt x="1379320" y="452416"/>
                </a:lnTo>
                <a:lnTo>
                  <a:pt x="1290279" y="572139"/>
                </a:lnTo>
                <a:lnTo>
                  <a:pt x="1305243" y="647365"/>
                </a:lnTo>
                <a:lnTo>
                  <a:pt x="1433322" y="723900"/>
                </a:lnTo>
                <a:lnTo>
                  <a:pt x="1427253" y="816498"/>
                </a:lnTo>
                <a:lnTo>
                  <a:pt x="1290279" y="875661"/>
                </a:lnTo>
                <a:lnTo>
                  <a:pt x="1265625" y="948290"/>
                </a:lnTo>
                <a:lnTo>
                  <a:pt x="1338277" y="1078611"/>
                </a:lnTo>
                <a:lnTo>
                  <a:pt x="1286722" y="1155769"/>
                </a:lnTo>
                <a:lnTo>
                  <a:pt x="1138518" y="1138518"/>
                </a:lnTo>
                <a:lnTo>
                  <a:pt x="1080853" y="1189090"/>
                </a:lnTo>
                <a:lnTo>
                  <a:pt x="1078611" y="1338277"/>
                </a:lnTo>
                <a:lnTo>
                  <a:pt x="995384" y="1379320"/>
                </a:lnTo>
                <a:lnTo>
                  <a:pt x="875661" y="1290279"/>
                </a:lnTo>
                <a:lnTo>
                  <a:pt x="800435" y="1305243"/>
                </a:lnTo>
                <a:lnTo>
                  <a:pt x="723900" y="1433322"/>
                </a:lnTo>
                <a:lnTo>
                  <a:pt x="631302" y="1427253"/>
                </a:lnTo>
                <a:lnTo>
                  <a:pt x="572139" y="1290279"/>
                </a:lnTo>
                <a:lnTo>
                  <a:pt x="499510" y="1265625"/>
                </a:lnTo>
                <a:lnTo>
                  <a:pt x="369189" y="1338277"/>
                </a:lnTo>
                <a:lnTo>
                  <a:pt x="292031" y="1286722"/>
                </a:lnTo>
                <a:lnTo>
                  <a:pt x="309282" y="1138518"/>
                </a:lnTo>
                <a:lnTo>
                  <a:pt x="258710" y="1080853"/>
                </a:lnTo>
                <a:lnTo>
                  <a:pt x="109523" y="1078611"/>
                </a:lnTo>
                <a:lnTo>
                  <a:pt x="68480" y="995384"/>
                </a:lnTo>
                <a:lnTo>
                  <a:pt x="157521" y="875661"/>
                </a:lnTo>
                <a:lnTo>
                  <a:pt x="142557" y="800435"/>
                </a:lnTo>
                <a:lnTo>
                  <a:pt x="14478" y="723900"/>
                </a:lnTo>
                <a:lnTo>
                  <a:pt x="20547" y="631302"/>
                </a:lnTo>
                <a:lnTo>
                  <a:pt x="157521" y="572139"/>
                </a:lnTo>
                <a:lnTo>
                  <a:pt x="182175" y="499510"/>
                </a:lnTo>
                <a:lnTo>
                  <a:pt x="109523" y="369189"/>
                </a:lnTo>
                <a:lnTo>
                  <a:pt x="161078" y="292031"/>
                </a:lnTo>
                <a:lnTo>
                  <a:pt x="309282" y="309282"/>
                </a:lnTo>
                <a:lnTo>
                  <a:pt x="366947" y="258710"/>
                </a:lnTo>
                <a:lnTo>
                  <a:pt x="369189" y="109523"/>
                </a:lnTo>
                <a:lnTo>
                  <a:pt x="452416" y="68480"/>
                </a:lnTo>
                <a:lnTo>
                  <a:pt x="572139" y="157521"/>
                </a:lnTo>
                <a:lnTo>
                  <a:pt x="647365" y="142557"/>
                </a:lnTo>
                <a:close/>
              </a:path>
            </a:pathLst>
          </a:custGeom>
          <a:solidFill xmlns:a="http://schemas.openxmlformats.org/drawingml/2006/main">
            <a:srgbClr val="C6E4D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DE21F-0A41-4E52-A1B9-2595DB1C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251" y="2998851"/>
            <a:ext cx="955548" cy="9555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3286E44-8611-49E6-B786-37A12C96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037" y="3187065"/>
            <a:ext cx="1331976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Schema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数据结构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16FF91-7B9B-4D44-874A-183F42AB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752725"/>
            <a:ext cx="1447800" cy="1447800"/>
          </a:xfrm>
          <a:custGeom xmlns:a="http://schemas.openxmlformats.org/drawingml/2006/main">
            <a:pathLst>
              <a:path w="1447800" h="1447800">
                <a:moveTo>
                  <a:pt x="723900" y="14478"/>
                </a:moveTo>
                <a:lnTo>
                  <a:pt x="816498" y="20547"/>
                </a:lnTo>
                <a:lnTo>
                  <a:pt x="875661" y="157521"/>
                </a:lnTo>
                <a:lnTo>
                  <a:pt x="948290" y="182175"/>
                </a:lnTo>
                <a:lnTo>
                  <a:pt x="1078611" y="109523"/>
                </a:lnTo>
                <a:lnTo>
                  <a:pt x="1155769" y="161078"/>
                </a:lnTo>
                <a:lnTo>
                  <a:pt x="1138518" y="309282"/>
                </a:lnTo>
                <a:lnTo>
                  <a:pt x="1189090" y="366947"/>
                </a:lnTo>
                <a:lnTo>
                  <a:pt x="1338277" y="369189"/>
                </a:lnTo>
                <a:lnTo>
                  <a:pt x="1379320" y="452416"/>
                </a:lnTo>
                <a:lnTo>
                  <a:pt x="1290279" y="572139"/>
                </a:lnTo>
                <a:lnTo>
                  <a:pt x="1305243" y="647365"/>
                </a:lnTo>
                <a:lnTo>
                  <a:pt x="1433322" y="723900"/>
                </a:lnTo>
                <a:lnTo>
                  <a:pt x="1427253" y="816498"/>
                </a:lnTo>
                <a:lnTo>
                  <a:pt x="1290279" y="875661"/>
                </a:lnTo>
                <a:lnTo>
                  <a:pt x="1265625" y="948290"/>
                </a:lnTo>
                <a:lnTo>
                  <a:pt x="1338277" y="1078611"/>
                </a:lnTo>
                <a:lnTo>
                  <a:pt x="1286722" y="1155769"/>
                </a:lnTo>
                <a:lnTo>
                  <a:pt x="1138518" y="1138518"/>
                </a:lnTo>
                <a:lnTo>
                  <a:pt x="1080853" y="1189090"/>
                </a:lnTo>
                <a:lnTo>
                  <a:pt x="1078611" y="1338277"/>
                </a:lnTo>
                <a:lnTo>
                  <a:pt x="995384" y="1379320"/>
                </a:lnTo>
                <a:lnTo>
                  <a:pt x="875661" y="1290279"/>
                </a:lnTo>
                <a:lnTo>
                  <a:pt x="800435" y="1305243"/>
                </a:lnTo>
                <a:lnTo>
                  <a:pt x="723900" y="1433322"/>
                </a:lnTo>
                <a:lnTo>
                  <a:pt x="631302" y="1427253"/>
                </a:lnTo>
                <a:lnTo>
                  <a:pt x="572139" y="1290279"/>
                </a:lnTo>
                <a:lnTo>
                  <a:pt x="499510" y="1265625"/>
                </a:lnTo>
                <a:lnTo>
                  <a:pt x="369189" y="1338277"/>
                </a:lnTo>
                <a:lnTo>
                  <a:pt x="292031" y="1286722"/>
                </a:lnTo>
                <a:lnTo>
                  <a:pt x="309282" y="1138518"/>
                </a:lnTo>
                <a:lnTo>
                  <a:pt x="258710" y="1080853"/>
                </a:lnTo>
                <a:lnTo>
                  <a:pt x="109523" y="1078611"/>
                </a:lnTo>
                <a:lnTo>
                  <a:pt x="68480" y="995384"/>
                </a:lnTo>
                <a:lnTo>
                  <a:pt x="157521" y="875661"/>
                </a:lnTo>
                <a:lnTo>
                  <a:pt x="142557" y="800435"/>
                </a:lnTo>
                <a:lnTo>
                  <a:pt x="14478" y="723900"/>
                </a:lnTo>
                <a:lnTo>
                  <a:pt x="20547" y="631302"/>
                </a:lnTo>
                <a:lnTo>
                  <a:pt x="157521" y="572139"/>
                </a:lnTo>
                <a:lnTo>
                  <a:pt x="182175" y="499510"/>
                </a:lnTo>
                <a:lnTo>
                  <a:pt x="109523" y="369189"/>
                </a:lnTo>
                <a:lnTo>
                  <a:pt x="161078" y="292031"/>
                </a:lnTo>
                <a:lnTo>
                  <a:pt x="309282" y="309282"/>
                </a:lnTo>
                <a:lnTo>
                  <a:pt x="366947" y="258710"/>
                </a:lnTo>
                <a:lnTo>
                  <a:pt x="369189" y="109523"/>
                </a:lnTo>
                <a:lnTo>
                  <a:pt x="452416" y="68480"/>
                </a:lnTo>
                <a:lnTo>
                  <a:pt x="572139" y="157521"/>
                </a:lnTo>
                <a:lnTo>
                  <a:pt x="647365" y="142557"/>
                </a:lnTo>
                <a:close/>
              </a:path>
            </a:pathLst>
          </a:custGeom>
          <a:solidFill xmlns:a="http://schemas.openxmlformats.org/drawingml/2006/main">
            <a:srgbClr val="C6E4D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A7D1B0-74DB-464F-A962-702DC81A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651" y="2998851"/>
            <a:ext cx="955548" cy="9555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5B3E19-1740-4733-8A31-D25F7D6F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1437" y="3187065"/>
            <a:ext cx="1331976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Workflow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流程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320A64-1E55-4EE5-B819-A4CA03837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86250"/>
            <a:ext cx="1447800" cy="1447800"/>
          </a:xfrm>
          <a:custGeom xmlns:a="http://schemas.openxmlformats.org/drawingml/2006/main">
            <a:pathLst>
              <a:path w="1447800" h="1447800">
                <a:moveTo>
                  <a:pt x="723900" y="14478"/>
                </a:moveTo>
                <a:lnTo>
                  <a:pt x="816498" y="20547"/>
                </a:lnTo>
                <a:lnTo>
                  <a:pt x="875661" y="157521"/>
                </a:lnTo>
                <a:lnTo>
                  <a:pt x="948290" y="182175"/>
                </a:lnTo>
                <a:lnTo>
                  <a:pt x="1078611" y="109523"/>
                </a:lnTo>
                <a:lnTo>
                  <a:pt x="1155769" y="161078"/>
                </a:lnTo>
                <a:lnTo>
                  <a:pt x="1138518" y="309282"/>
                </a:lnTo>
                <a:lnTo>
                  <a:pt x="1189090" y="366947"/>
                </a:lnTo>
                <a:lnTo>
                  <a:pt x="1338277" y="369189"/>
                </a:lnTo>
                <a:lnTo>
                  <a:pt x="1379320" y="452416"/>
                </a:lnTo>
                <a:lnTo>
                  <a:pt x="1290279" y="572139"/>
                </a:lnTo>
                <a:lnTo>
                  <a:pt x="1305243" y="647365"/>
                </a:lnTo>
                <a:lnTo>
                  <a:pt x="1433322" y="723900"/>
                </a:lnTo>
                <a:lnTo>
                  <a:pt x="1427253" y="816498"/>
                </a:lnTo>
                <a:lnTo>
                  <a:pt x="1290279" y="875661"/>
                </a:lnTo>
                <a:lnTo>
                  <a:pt x="1265625" y="948290"/>
                </a:lnTo>
                <a:lnTo>
                  <a:pt x="1338277" y="1078611"/>
                </a:lnTo>
                <a:lnTo>
                  <a:pt x="1286722" y="1155769"/>
                </a:lnTo>
                <a:lnTo>
                  <a:pt x="1138518" y="1138518"/>
                </a:lnTo>
                <a:lnTo>
                  <a:pt x="1080853" y="1189090"/>
                </a:lnTo>
                <a:lnTo>
                  <a:pt x="1078611" y="1338277"/>
                </a:lnTo>
                <a:lnTo>
                  <a:pt x="995384" y="1379320"/>
                </a:lnTo>
                <a:lnTo>
                  <a:pt x="875661" y="1290279"/>
                </a:lnTo>
                <a:lnTo>
                  <a:pt x="800435" y="1305243"/>
                </a:lnTo>
                <a:lnTo>
                  <a:pt x="723900" y="1433322"/>
                </a:lnTo>
                <a:lnTo>
                  <a:pt x="631302" y="1427253"/>
                </a:lnTo>
                <a:lnTo>
                  <a:pt x="572139" y="1290279"/>
                </a:lnTo>
                <a:lnTo>
                  <a:pt x="499510" y="1265625"/>
                </a:lnTo>
                <a:lnTo>
                  <a:pt x="369189" y="1338277"/>
                </a:lnTo>
                <a:lnTo>
                  <a:pt x="292031" y="1286722"/>
                </a:lnTo>
                <a:lnTo>
                  <a:pt x="309282" y="1138518"/>
                </a:lnTo>
                <a:lnTo>
                  <a:pt x="258710" y="1080853"/>
                </a:lnTo>
                <a:lnTo>
                  <a:pt x="109523" y="1078611"/>
                </a:lnTo>
                <a:lnTo>
                  <a:pt x="68480" y="995384"/>
                </a:lnTo>
                <a:lnTo>
                  <a:pt x="157521" y="875661"/>
                </a:lnTo>
                <a:lnTo>
                  <a:pt x="142557" y="800435"/>
                </a:lnTo>
                <a:lnTo>
                  <a:pt x="14478" y="723900"/>
                </a:lnTo>
                <a:lnTo>
                  <a:pt x="20547" y="631302"/>
                </a:lnTo>
                <a:lnTo>
                  <a:pt x="157521" y="572139"/>
                </a:lnTo>
                <a:lnTo>
                  <a:pt x="182175" y="499510"/>
                </a:lnTo>
                <a:lnTo>
                  <a:pt x="109523" y="369189"/>
                </a:lnTo>
                <a:lnTo>
                  <a:pt x="161078" y="292031"/>
                </a:lnTo>
                <a:lnTo>
                  <a:pt x="309282" y="309282"/>
                </a:lnTo>
                <a:lnTo>
                  <a:pt x="366947" y="258710"/>
                </a:lnTo>
                <a:lnTo>
                  <a:pt x="369189" y="109523"/>
                </a:lnTo>
                <a:lnTo>
                  <a:pt x="452416" y="68480"/>
                </a:lnTo>
                <a:lnTo>
                  <a:pt x="572139" y="157521"/>
                </a:lnTo>
                <a:lnTo>
                  <a:pt x="647365" y="142557"/>
                </a:lnTo>
                <a:close/>
              </a:path>
            </a:pathLst>
          </a:custGeom>
          <a:solidFill xmlns:a="http://schemas.openxmlformats.org/drawingml/2006/main">
            <a:srgbClr val="C6E4D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AEF49B-98A8-411F-B586-E2C7252C2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0251" y="4532376"/>
            <a:ext cx="955548" cy="9555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69441AD-C1A5-446F-BF74-03E4AB4E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2037" y="4720590"/>
            <a:ext cx="1331976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SOP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工作规范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64FF5F-D8BD-4931-8CCB-EF911424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286250"/>
            <a:ext cx="1447800" cy="1447800"/>
          </a:xfrm>
          <a:custGeom xmlns:a="http://schemas.openxmlformats.org/drawingml/2006/main">
            <a:pathLst>
              <a:path w="1447800" h="1447800">
                <a:moveTo>
                  <a:pt x="723900" y="14478"/>
                </a:moveTo>
                <a:lnTo>
                  <a:pt x="816498" y="20547"/>
                </a:lnTo>
                <a:lnTo>
                  <a:pt x="875661" y="157521"/>
                </a:lnTo>
                <a:lnTo>
                  <a:pt x="948290" y="182175"/>
                </a:lnTo>
                <a:lnTo>
                  <a:pt x="1078611" y="109523"/>
                </a:lnTo>
                <a:lnTo>
                  <a:pt x="1155769" y="161078"/>
                </a:lnTo>
                <a:lnTo>
                  <a:pt x="1138518" y="309282"/>
                </a:lnTo>
                <a:lnTo>
                  <a:pt x="1189090" y="366947"/>
                </a:lnTo>
                <a:lnTo>
                  <a:pt x="1338277" y="369189"/>
                </a:lnTo>
                <a:lnTo>
                  <a:pt x="1379320" y="452416"/>
                </a:lnTo>
                <a:lnTo>
                  <a:pt x="1290279" y="572139"/>
                </a:lnTo>
                <a:lnTo>
                  <a:pt x="1305243" y="647365"/>
                </a:lnTo>
                <a:lnTo>
                  <a:pt x="1433322" y="723900"/>
                </a:lnTo>
                <a:lnTo>
                  <a:pt x="1427253" y="816498"/>
                </a:lnTo>
                <a:lnTo>
                  <a:pt x="1290279" y="875661"/>
                </a:lnTo>
                <a:lnTo>
                  <a:pt x="1265625" y="948290"/>
                </a:lnTo>
                <a:lnTo>
                  <a:pt x="1338277" y="1078611"/>
                </a:lnTo>
                <a:lnTo>
                  <a:pt x="1286722" y="1155769"/>
                </a:lnTo>
                <a:lnTo>
                  <a:pt x="1138518" y="1138518"/>
                </a:lnTo>
                <a:lnTo>
                  <a:pt x="1080853" y="1189090"/>
                </a:lnTo>
                <a:lnTo>
                  <a:pt x="1078611" y="1338277"/>
                </a:lnTo>
                <a:lnTo>
                  <a:pt x="995384" y="1379320"/>
                </a:lnTo>
                <a:lnTo>
                  <a:pt x="875661" y="1290279"/>
                </a:lnTo>
                <a:lnTo>
                  <a:pt x="800435" y="1305243"/>
                </a:lnTo>
                <a:lnTo>
                  <a:pt x="723900" y="1433322"/>
                </a:lnTo>
                <a:lnTo>
                  <a:pt x="631302" y="1427253"/>
                </a:lnTo>
                <a:lnTo>
                  <a:pt x="572139" y="1290279"/>
                </a:lnTo>
                <a:lnTo>
                  <a:pt x="499510" y="1265625"/>
                </a:lnTo>
                <a:lnTo>
                  <a:pt x="369189" y="1338277"/>
                </a:lnTo>
                <a:lnTo>
                  <a:pt x="292031" y="1286722"/>
                </a:lnTo>
                <a:lnTo>
                  <a:pt x="309282" y="1138518"/>
                </a:lnTo>
                <a:lnTo>
                  <a:pt x="258710" y="1080853"/>
                </a:lnTo>
                <a:lnTo>
                  <a:pt x="109523" y="1078611"/>
                </a:lnTo>
                <a:lnTo>
                  <a:pt x="68480" y="995384"/>
                </a:lnTo>
                <a:lnTo>
                  <a:pt x="157521" y="875661"/>
                </a:lnTo>
                <a:lnTo>
                  <a:pt x="142557" y="800435"/>
                </a:lnTo>
                <a:lnTo>
                  <a:pt x="14478" y="723900"/>
                </a:lnTo>
                <a:lnTo>
                  <a:pt x="20547" y="631302"/>
                </a:lnTo>
                <a:lnTo>
                  <a:pt x="157521" y="572139"/>
                </a:lnTo>
                <a:lnTo>
                  <a:pt x="182175" y="499510"/>
                </a:lnTo>
                <a:lnTo>
                  <a:pt x="109523" y="369189"/>
                </a:lnTo>
                <a:lnTo>
                  <a:pt x="161078" y="292031"/>
                </a:lnTo>
                <a:lnTo>
                  <a:pt x="309282" y="309282"/>
                </a:lnTo>
                <a:lnTo>
                  <a:pt x="366947" y="258710"/>
                </a:lnTo>
                <a:lnTo>
                  <a:pt x="369189" y="109523"/>
                </a:lnTo>
                <a:lnTo>
                  <a:pt x="452416" y="68480"/>
                </a:lnTo>
                <a:lnTo>
                  <a:pt x="572139" y="157521"/>
                </a:lnTo>
                <a:lnTo>
                  <a:pt x="647365" y="142557"/>
                </a:lnTo>
                <a:close/>
              </a:path>
            </a:pathLst>
          </a:custGeom>
          <a:solidFill xmlns:a="http://schemas.openxmlformats.org/drawingml/2006/main">
            <a:srgbClr val="C6E4D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CCFAB9-E0F8-4F37-954F-9A86B026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9651" y="4532376"/>
            <a:ext cx="955548" cy="95554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9172D8-196B-4E8A-AA55-84A5F8B52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1437" y="4720590"/>
            <a:ext cx="1331976" cy="579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Template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163A2A-D31E-4F49-BE92-1194B456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33750"/>
            <a:ext cx="1657350" cy="1657350"/>
          </a:xfrm>
          <a:custGeom xmlns:a="http://schemas.openxmlformats.org/drawingml/2006/main">
            <a:pathLst>
              <a:path w="1657350" h="1657350">
                <a:moveTo>
                  <a:pt x="828675" y="16573"/>
                </a:moveTo>
                <a:lnTo>
                  <a:pt x="934676" y="23521"/>
                </a:lnTo>
                <a:lnTo>
                  <a:pt x="1002401" y="180320"/>
                </a:lnTo>
                <a:lnTo>
                  <a:pt x="1085542" y="208542"/>
                </a:lnTo>
                <a:lnTo>
                  <a:pt x="1234726" y="125374"/>
                </a:lnTo>
                <a:lnTo>
                  <a:pt x="1323051" y="184392"/>
                </a:lnTo>
                <a:lnTo>
                  <a:pt x="1303304" y="354046"/>
                </a:lnTo>
                <a:lnTo>
                  <a:pt x="1361195" y="420058"/>
                </a:lnTo>
                <a:lnTo>
                  <a:pt x="1531976" y="422624"/>
                </a:lnTo>
                <a:lnTo>
                  <a:pt x="1578959" y="517897"/>
                </a:lnTo>
                <a:lnTo>
                  <a:pt x="1477030" y="654949"/>
                </a:lnTo>
                <a:lnTo>
                  <a:pt x="1494159" y="741062"/>
                </a:lnTo>
                <a:lnTo>
                  <a:pt x="1640777" y="828675"/>
                </a:lnTo>
                <a:lnTo>
                  <a:pt x="1633829" y="934676"/>
                </a:lnTo>
                <a:lnTo>
                  <a:pt x="1477030" y="1002401"/>
                </a:lnTo>
                <a:lnTo>
                  <a:pt x="1448808" y="1085542"/>
                </a:lnTo>
                <a:lnTo>
                  <a:pt x="1531976" y="1234726"/>
                </a:lnTo>
                <a:lnTo>
                  <a:pt x="1472958" y="1323051"/>
                </a:lnTo>
                <a:lnTo>
                  <a:pt x="1303304" y="1303304"/>
                </a:lnTo>
                <a:lnTo>
                  <a:pt x="1237292" y="1361195"/>
                </a:lnTo>
                <a:lnTo>
                  <a:pt x="1234726" y="1531976"/>
                </a:lnTo>
                <a:lnTo>
                  <a:pt x="1139453" y="1578959"/>
                </a:lnTo>
                <a:lnTo>
                  <a:pt x="1002401" y="1477030"/>
                </a:lnTo>
                <a:lnTo>
                  <a:pt x="916288" y="1494159"/>
                </a:lnTo>
                <a:lnTo>
                  <a:pt x="828675" y="1640777"/>
                </a:lnTo>
                <a:lnTo>
                  <a:pt x="722674" y="1633829"/>
                </a:lnTo>
                <a:lnTo>
                  <a:pt x="654949" y="1477030"/>
                </a:lnTo>
                <a:lnTo>
                  <a:pt x="571808" y="1448808"/>
                </a:lnTo>
                <a:lnTo>
                  <a:pt x="422624" y="1531976"/>
                </a:lnTo>
                <a:lnTo>
                  <a:pt x="334299" y="1472958"/>
                </a:lnTo>
                <a:lnTo>
                  <a:pt x="354046" y="1303304"/>
                </a:lnTo>
                <a:lnTo>
                  <a:pt x="296155" y="1237292"/>
                </a:lnTo>
                <a:lnTo>
                  <a:pt x="125374" y="1234726"/>
                </a:lnTo>
                <a:lnTo>
                  <a:pt x="78391" y="1139453"/>
                </a:lnTo>
                <a:lnTo>
                  <a:pt x="180320" y="1002401"/>
                </a:lnTo>
                <a:lnTo>
                  <a:pt x="163191" y="916288"/>
                </a:lnTo>
                <a:lnTo>
                  <a:pt x="16573" y="828675"/>
                </a:lnTo>
                <a:lnTo>
                  <a:pt x="23521" y="722674"/>
                </a:lnTo>
                <a:lnTo>
                  <a:pt x="180320" y="654949"/>
                </a:lnTo>
                <a:lnTo>
                  <a:pt x="208542" y="571808"/>
                </a:lnTo>
                <a:lnTo>
                  <a:pt x="125374" y="422624"/>
                </a:lnTo>
                <a:lnTo>
                  <a:pt x="184392" y="334299"/>
                </a:lnTo>
                <a:lnTo>
                  <a:pt x="354046" y="354046"/>
                </a:lnTo>
                <a:lnTo>
                  <a:pt x="420058" y="296155"/>
                </a:lnTo>
                <a:lnTo>
                  <a:pt x="422624" y="125374"/>
                </a:lnTo>
                <a:lnTo>
                  <a:pt x="517897" y="78391"/>
                </a:lnTo>
                <a:lnTo>
                  <a:pt x="654949" y="180320"/>
                </a:lnTo>
                <a:lnTo>
                  <a:pt x="741062" y="163191"/>
                </a:lnTo>
                <a:close/>
              </a:path>
            </a:pathLst>
          </a:custGeom>
          <a:solidFill xmlns:a="http://schemas.openxmlformats.org/drawingml/2006/main">
            <a:srgbClr val="18775D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DDF09B-C62A-4133-AE5A-A564BF0A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9850" y="3615500"/>
            <a:ext cx="1093851" cy="109385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C0E4ED7-7234-4DB8-B9A2-B96DE3F4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394" y="3830955"/>
            <a:ext cx="1524762" cy="662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DB</a:t>
            </a:r>
          </a:p>
          <a:p xmlns:a="http://schemas.openxmlformats.org/drawingml/2006/main">
            <a:pPr algn="ctr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业务记录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3E3EA5-5992-4568-ABB9-CFA9F907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924550"/>
            <a:ext cx="5600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查记录、补缺项、发行文件、保存关联、追踪付款</a:t>
            </a:r>
          </a:p>
        </p:txBody>
      </p:sp>
    </p:spTree>
    <p:extLst>
      <p:ext uri="{BB962C8B-B14F-4D97-AF65-F5344CB8AC3E}">
        <p14:creationId xmlns:p14="http://schemas.microsoft.com/office/powerpoint/2010/main" val="5728327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D454F6-710F-4F2A-92AE-A956CCF54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文件与业务记录，延续到付款之后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C80ED-4B45-49F2-9848-009EB71C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D6D6ED-C5AB-4C39-A4B7-BAE5416E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DE8379-F31A-4263-A126-3B33C8CB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906C80-A7F6-4F98-B87A-70B7E0737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209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E4D72B-CAF1-4BD5-ADE6-32550834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2019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准备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24613A-DFBD-461E-B2A0-92F386357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2305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识别客户与商品</a:t>
            </a:r>
          </a:p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检查缺项与规则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BC33A-3604-4911-990A-080D783C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145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B4580-0229-4670-91A8-63ED06FD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952750"/>
            <a:ext cx="2209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E833D-717A-46E1-8712-C770A399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28950"/>
            <a:ext cx="2019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草稿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5E50E-896F-4F23-A9AC-BF511979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10050"/>
            <a:ext cx="2305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核对内容与金额</a:t>
            </a:r>
          </a:p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确认后再发行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1768A1-4A1E-4DB6-A6D4-356A0E73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145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17693D-D267-4C16-BBA8-0B4584DC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952750"/>
            <a:ext cx="2209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342B8C-0A61-4CC2-B94E-CE78EE97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028950"/>
            <a:ext cx="2019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发行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75C0BA-1BF8-4691-8EFF-190826CE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10050"/>
            <a:ext cx="2305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编号与历史快照</a:t>
            </a:r>
          </a:p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PDF 与业务关联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5C769-E084-4258-B0EA-C3C84106B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14550"/>
            <a:ext cx="61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5DA4FA-DE7D-4242-9E70-06870BFDC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52750"/>
            <a:ext cx="22098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E685B5-532E-41CC-A7F4-45A25029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028950"/>
            <a:ext cx="20193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付款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7D8F9F-DC0E-4EB9-93D2-65F1D0EF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210050"/>
            <a:ext cx="23050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记录分配与余额</a:t>
            </a:r>
          </a:p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追踪应收状态</a:t>
            </a:r>
          </a:p>
        </p:txBody>
      </p:sp>
      <p:cxnSp>
        <p:nvCxnSpPr>
          <p:cNvPr id="43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2895600" y="335756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44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5753100" y="335756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45" name=""/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610600" y="3357563"/>
            <a:ext cx="647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CF9DFC-2DCB-4F46-A530-F686BDC5F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下一次工作，从已有记录继续</a:t>
            </a:r>
          </a:p>
        </p:txBody>
      </p:sp>
    </p:spTree>
    <p:extLst>
      <p:ext uri="{BB962C8B-B14F-4D97-AF65-F5344CB8AC3E}">
        <p14:creationId xmlns:p14="http://schemas.microsoft.com/office/powerpoint/2010/main" val="131820135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8B3BA2-91C2-4C24-9BF9-9B423358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Form 收集信息，e 处理后续工作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465A9-EBC7-4523-9735-4E303DA9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87A007-FBA2-4D9E-AEA1-A10EAE4F8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0C6B5-C6B0-47A5-A803-A6204E27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38300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工程报告 / 客户订单 / 问卷 / 每日打卡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6BE9A-1D02-48B1-BF73-2CB13DE8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2133600" cy="165735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CD0C6E-4D92-4707-B170-BF616E0F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1943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Form</a:t>
            </a:r>
          </a:p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收集与校验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D2221A-DE36-4B19-B2D2-BE0DB17D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76550"/>
            <a:ext cx="2133600" cy="165735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69E6D-4136-4777-B46A-330E3395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952750"/>
            <a:ext cx="1943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DB</a:t>
            </a:r>
          </a:p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保存提交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BB61C0-AC6D-4008-8C33-3A01808A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76550"/>
            <a:ext cx="2133600" cy="1657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47ACA-DBED-46B1-B0FE-71E065E39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52750"/>
            <a:ext cx="1943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专职 AI</a:t>
            </a:r>
          </a:p>
          <a:p xmlns:a="http://schemas.openxmlformats.org/drawingml/2006/main">
            <a:pPr algn="ctr">
              <a:def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审阅与处理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E4468-DCC6-48BF-ADC6-E3B1659C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876550"/>
            <a:ext cx="2133600" cy="1657350"/>
          </a:xfrm>
          <a:prstGeom xmlns:a="http://schemas.openxmlformats.org/drawingml/2006/main" prst="flowChartDocumen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ADBA87-3629-4E65-9455-559F9D1CF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52750"/>
            <a:ext cx="194310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工作成果</a:t>
            </a:r>
          </a:p>
          <a:p xmlns:a="http://schemas.openxmlformats.org/drawingml/2006/main">
            <a:pPr algn="ctr">
              <a:def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记录 / 摘要 / CSV</a:t>
            </a:r>
          </a:p>
        </p:txBody>
      </p:sp>
      <p:cxnSp>
        <p:nvCxnSpPr>
          <p:cNvPr id="29" name=""/>
          <p:cNvCxnSpPr>
            <a:stCxn xmlns:a="http://schemas.openxmlformats.org/drawingml/2006/main" id="5" idx="3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819400" y="37052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30" name=""/>
          <p:cNvCxnSpPr>
            <a:stCxn xmlns:a="http://schemas.openxmlformats.org/drawingml/2006/main" id="7" idx="4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5715000" y="37052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cxnSp>
        <p:nvCxnSpPr>
          <p:cNvPr id="31" name=""/>
          <p:cNvCxnSpPr>
            <a:stCxn xmlns:a="http://schemas.openxmlformats.org/drawingml/2006/main" id="9" idx="6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8610600" y="370522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8775D"/>
            </a:solidFill>
            <a:tailEnd type="arrow" w="sm" len="sm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A3F2EF-DEA6-4EEA-BF28-0F2D92F6F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91175"/>
            <a:ext cx="1047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按字段绑定，关联客户、文件与下一步工作</a:t>
            </a:r>
          </a:p>
        </p:txBody>
      </p:sp>
    </p:spTree>
    <p:extLst>
      <p:ext uri="{BB962C8B-B14F-4D97-AF65-F5344CB8AC3E}">
        <p14:creationId xmlns:p14="http://schemas.microsoft.com/office/powerpoint/2010/main" val="142952792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239A83-7CCC-4B0F-9CE3-D0859C82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业务记录，让工作状态可见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50BA0-7761-4B9D-A8F3-BFF6D248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EE0E2-3598-4120-96CE-E88BFA27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449FA6-042B-4F82-894D-8F3EC7B0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457200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未收款项</a:t>
            </a:r>
          </a:p>
          <a:p xmlns:a="http://schemas.openxmlformats.org/drawingml/2006/main">
            <a:pPr algn="l">
              <a:def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逾期 invoice</a:t>
            </a:r>
          </a:p>
          <a:p xmlns:a="http://schemas.openxmlformats.org/drawingml/2006/main">
            <a:pPr algn="l">
              <a:def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待跟进 quotation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70935-A87A-43D3-AAAC-D28662ED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95875"/>
            <a:ext cx="45720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已有数据，形成业务概览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1e7a13b4c4626"/>
          <a:stretch xmlns:a="http://schemas.openxmlformats.org/drawingml/2006/main"/>
        </p:blipFill>
        <p:spPr>
          <a:xfrm xmlns:a="http://schemas.openxmlformats.org/drawingml/2006/main">
            <a:off x="6153990" y="1724025"/>
            <a:ext cx="4751294" cy="40386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B1E4D0-8686-4B23-BDCA-D04F7CFD5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5943600"/>
            <a:ext cx="5905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现有界面预览。图中金额与数量为演示数据。</a:t>
            </a:r>
          </a:p>
        </p:txBody>
      </p:sp>
    </p:spTree>
    <p:extLst>
      <p:ext uri="{BB962C8B-B14F-4D97-AF65-F5344CB8AC3E}">
        <p14:creationId xmlns:p14="http://schemas.microsoft.com/office/powerpoint/2010/main" val="16866102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8D10575-7F2D-437E-9E10-8611D114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一个 Orchestrator，一组专职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77C8B9-2031-4AC4-B219-0C742AA11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A7369-AE7C-453E-8E9B-81B023E1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5BEC5-1B5C-4032-ABDD-DDB789994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781175"/>
            <a:ext cx="384810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EB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2BCDC9-7121-48E8-9FB7-6509A964C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57375"/>
            <a:ext cx="36576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Orchestrator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需求分配与结果协调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0C08E3-6A13-4977-9CF6-C221B6A5C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0" y="2647950"/>
            <a:ext cx="0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9D90D-A53D-4386-98D3-6861DF53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9700" y="3114675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820A54-2DFA-414E-894B-CD179B46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97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FBA73C-9B4F-4B25-B912-BC93752ED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专员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BD4632-7D14-48F9-BFFB-A7B52DB05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97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DFB867-FA10-4EB3-83B6-F9DA6FBA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18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43E53-15EE-4B9B-A34C-7979CE625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专员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294B38-04AF-4823-A17A-D7D2F043D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9718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46A709-096F-49A1-BD90-0D0F6D25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339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DEFD72-D68C-4A33-ABBA-50A93E98D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BF936B-2101-4D18-87D9-0F09AA03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45339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048DD5-97DD-4B72-AA44-5F63D03BC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1259CB-EE2F-4B0C-9560-C9FF508FE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审阅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00349F-A1C6-4F19-BEB5-4A661943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9800E1-4C6E-420F-A2F9-3FF8D941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581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BED49A-220B-4EC1-863B-EEE61BBC2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公司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入职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E3FC20F-6E7F-42ED-B215-B1B46F25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6581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B3A77C-98E4-4DB7-A407-B84224C1F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2202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96699A-A741-475D-B733-CC77FF20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05F9D2-941F-4869-AB23-24302CE1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2202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C3DC61-476D-4898-8E44-43D17FFA5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82300" y="3114675"/>
            <a:ext cx="0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8775D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64ACC0-90A9-481B-A1CA-746D4077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3609975"/>
            <a:ext cx="14478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管理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8687B1-2592-404D-9938-77552883D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0782300" y="45910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F03D9F-AF9A-4369-8333-07C2205DC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409700" y="4819650"/>
            <a:ext cx="9372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74A158A-E309-4589-A38C-438FBA4E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96000" y="4819650"/>
            <a:ext cx="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ED9D1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D1869D-F107-4DF3-AC39-07670EDF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5124450"/>
            <a:ext cx="3638550" cy="6858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F8F9F6"/>
          </a:solidFill>
          <a:ln xmlns:a="http://schemas.openxmlformats.org/drawingml/2006/main" w="14288">
            <a:solidFill>
              <a:srgbClr val="18775D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AB170B1-7CAD-4150-9912-44D48E7A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200650"/>
            <a:ext cx="34480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共同的业务记录</a:t>
            </a:r>
          </a:p>
        </p:txBody>
      </p:sp>
    </p:spTree>
    <p:extLst>
      <p:ext uri="{BB962C8B-B14F-4D97-AF65-F5344CB8AC3E}">
        <p14:creationId xmlns:p14="http://schemas.microsoft.com/office/powerpoint/2010/main" val="57327333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a95351f8d145b0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DA0CD5-B0BB-4F04-891C-0EA879D9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Stupid = Smart：细胞级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84554-456B-452C-903D-C30414D49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9CE8CA-ECCD-4DAA-AE44-E42EC67E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0485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聪明的人，</a:t>
            </a:r>
          </a:p>
          <a:p xmlns:a="http://schemas.openxmlformats.org/drawingml/2006/main">
            <a:pPr algn="l">
              <a:def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需要每个细胞都聪明吗？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601D0-936A-4C60-8635-16DE0A7B2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647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“聪明的红血球？”</a:t>
            </a:r>
          </a:p>
          <a:p xmlns:a="http://schemas.openxmlformats.org/drawingml/2006/main">
            <a:pPr algn="l">
              <a:defRPr sz="25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“聪明的大肠细胞？”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186CAC-0708-4A31-852A-CEAD19B1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43575"/>
            <a:ext cx="657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整体的能力，来自分工与协作</a:t>
            </a:r>
          </a:p>
        </p:txBody>
      </p:sp>
    </p:spTree>
    <p:extLst>
      <p:ext uri="{BB962C8B-B14F-4D97-AF65-F5344CB8AC3E}">
        <p14:creationId xmlns:p14="http://schemas.microsoft.com/office/powerpoint/2010/main" val="7618978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09755195b442e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7C013-6C67-476B-AEA1-C926DACA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细胞级 AI 的协作方式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BB4AA9-E7A3-459B-9B95-713FC37BD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CCD1DB-9D96-4A35-98D4-40ACA9FD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668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扩大一个 AI 的职责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907F86-63BC-430B-8D39-F5827B49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66850"/>
            <a:ext cx="466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e：组合细胞级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E2482-353B-44B6-9E24-700A0BA8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95600"/>
            <a:ext cx="2571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一个 AI</a:t>
            </a:r>
          </a:p>
          <a:p xmlns:a="http://schemas.openxmlformats.org/drawingml/2006/main">
            <a:pPr algn="ctr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包办所有工作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CFE932-E16A-442D-9BCD-1B3A1F726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28612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25F760-C81A-46D0-822E-E9F4BDEC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15265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800780-CA25-4567-A0BC-AF13ECC01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152650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模板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092CD6-7F64-46A4-A69A-B0DE630F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219575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文件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DFEF53-366F-475A-A2CB-C43F50A5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4219575"/>
            <a:ext cx="1047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AD9466-9D51-4D58-A2BE-BA2A0E04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38475"/>
            <a:ext cx="1524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调度</a:t>
            </a:r>
          </a:p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协作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B28F73-2E17-41FB-9682-C9F3E60A8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81977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职责越广，验证组合越多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EDB745-8156-4656-BA0A-41D784562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819775"/>
            <a:ext cx="4714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明确任务、SOP、权限与测试</a:t>
            </a:r>
          </a:p>
        </p:txBody>
      </p:sp>
    </p:spTree>
    <p:extLst>
      <p:ext uri="{BB962C8B-B14F-4D97-AF65-F5344CB8AC3E}">
        <p14:creationId xmlns:p14="http://schemas.microsoft.com/office/powerpoint/2010/main" val="16098693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2B8A61-4F75-4D08-904C-E9482AD2A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可靠性，来自可检查的边界设计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5AF359-97A3-4235-8C1F-F0D7889D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1D587-F701-4FD5-A1C8-820334B8D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7AF557-4F06-4BA2-A677-101B2FE7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任务范围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882410-47DA-47C2-9812-1E6E1654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96215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每位专员只使用获授权的工具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36FD6C-1BD9-4313-8D5C-0C60325A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552700"/>
            <a:ext cx="809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越权请求，由系统拒绝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814BB-E610-44E5-BF31-F6D6E5E19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91D368-83A3-44B5-9265-9EEE4188F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发行规则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771E00-E434-456F-9CC3-CF69714C0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305175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发行前检查必填信息与公司规则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FD063C-D900-4D4A-97B6-EE02928A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95725"/>
            <a:ext cx="809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资料未补齐，不能发行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A2070C-2BF8-4455-841E-E6FEA60D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B22939-D33B-488C-840F-2EA5EB00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48200"/>
            <a:ext cx="214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记录约束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95D1F-2329-44F1-8566-7013C9B94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6482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发行后冻结内容，并保存历史快照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597A65-3ED3-4738-8C33-0120B68C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238750"/>
            <a:ext cx="809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后续修改，不改写旧文件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AA2292-E3AE-4F12-A3E9-2E3EB787B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10763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单元测试、调度与集成验证，共同检验整体交付</a:t>
            </a:r>
          </a:p>
        </p:txBody>
      </p:sp>
    </p:spTree>
    <p:extLst>
      <p:ext uri="{BB962C8B-B14F-4D97-AF65-F5344CB8AC3E}">
        <p14:creationId xmlns:p14="http://schemas.microsoft.com/office/powerpoint/2010/main" val="189292004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A9513-1DE5-4A4F-8918-B4D02A14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Document Intelligence 是当前切入点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8B842C-7949-484B-98CA-D3484B456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CD231-1960-4FB2-9A67-A2DF87CE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B1D65-E5DA-4D27-9598-F170353C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4953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现有 MVP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E2E693-050F-4544-B5CC-940F7C88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5143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客户与商品记录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Quotation、invoice 与付款流程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表单、模板与业务概览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A8C5CB-6CF9-4038-82DC-F78C3E60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19300"/>
            <a:ext cx="4667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9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产品方向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84CF3E-A593-4930-9054-A1391CB1C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124200"/>
            <a:ext cx="48196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多人账号与团队权限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更自动化的资料 onboarding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更多可验证的业务流程与分析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B92CE-E230-466C-88F1-E9C93B0F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6086475" y="2085975"/>
            <a:ext cx="0" cy="3276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6981B6-79F2-4AFD-9897-D79959A3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95975"/>
            <a:ext cx="1076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当前 host：单一操作员、默认公司。MyInvois 尚未整合提交。</a:t>
            </a:r>
          </a:p>
        </p:txBody>
      </p:sp>
    </p:spTree>
    <p:extLst>
      <p:ext uri="{BB962C8B-B14F-4D97-AF65-F5344CB8AC3E}">
        <p14:creationId xmlns:p14="http://schemas.microsoft.com/office/powerpoint/2010/main" val="151671242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23FC79-BE23-40D2-897D-F6451A13B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客户试点，以一条真实流程开始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1DE226-65DC-4887-B8D3-110298CD6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AFADCA-B844-4EF0-BB62-7F74557D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55393-1C4F-4034-A88B-712E51BA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A58891-7F90-4DBA-9A04-8741AE0A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9431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选流程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C54745-DED5-4909-A152-6C332AA25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81200"/>
            <a:ext cx="508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开票，或表单采集与处理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6136D0-46F0-492B-A023-F6807E9B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714625"/>
            <a:ext cx="9439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CCE749-552A-430C-A361-AB1601882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81325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E0154B-DB39-4028-A2C9-3F1B93C6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981325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用资料配置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2E67C-16F0-4914-BFB8-20BDE5F1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19425"/>
            <a:ext cx="508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旧文件、规则与客户记录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818FF5-0B92-4DB0-8CBB-95814BE2D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752850"/>
            <a:ext cx="9439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A556FE-CB7E-4302-9948-158D5149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6056B-490A-4822-89AD-F11FAB671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19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运行真实工作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43319B-1DAB-4EFD-BDB8-D084292F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57650"/>
            <a:ext cx="508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确认输入，检查交付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D4869B-FFEC-4C2F-B0CF-90B331E4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791075"/>
            <a:ext cx="9439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BBD41-0636-469B-B316-D5B6DABC7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57775"/>
            <a:ext cx="8953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AA8A54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99DCA2-46CF-4E8A-A49B-AE69FEB9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057775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对照指标验收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586603-FD6B-43B9-9704-FC32B17CA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95875"/>
            <a:ext cx="5086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时间、返工与数据完整性</a:t>
            </a:r>
          </a:p>
        </p:txBody>
      </p:sp>
    </p:spTree>
    <p:extLst>
      <p:ext uri="{BB962C8B-B14F-4D97-AF65-F5344CB8AC3E}">
        <p14:creationId xmlns:p14="http://schemas.microsoft.com/office/powerpoint/2010/main" val="87882604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CA196D-A95D-4209-A138-11798D98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投资验证：门槛降低能否带来付费使用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EE9063-196A-4CA2-9218-48149588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3EA0A9-CD9B-4BF7-B910-B5F102D0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EA6C61-C792-4BA8-963C-4FB99C4E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6680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以重复文件工作切入，</a:t>
            </a:r>
          </a:p>
          <a:p xmlns:a="http://schemas.openxmlformats.org/drawingml/2006/main">
            <a:pPr algn="l">
              <a:def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7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围绕公司上下文扩展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4D38E8-9372-461F-AE52-0FBAA97D2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配置成本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C850BE-B06F-49C8-8287-7D10F9A3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434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能否更快进入实际工作？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0B21F6-12A2-4ACB-97D8-11EAF1A5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43325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任务可靠性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5A21B7-F6A3-4B5A-A119-558B7C3F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343400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能否持续交付可检查的结果？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0050B-26A6-407E-9C6F-876B2B5C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持续使用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E76E3-B860-41C7-AAE3-15DDE08C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864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是否成为重复工作的习惯？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50538-0C59-4A8D-B540-A95B8217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086350"/>
            <a:ext cx="4857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付费意愿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DFBBEA-D1EB-478F-8CD6-F01D7890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686425"/>
            <a:ext cx="4857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价值是否足以支持商业化？</a:t>
            </a:r>
          </a:p>
        </p:txBody>
      </p:sp>
    </p:spTree>
    <p:extLst>
      <p:ext uri="{BB962C8B-B14F-4D97-AF65-F5344CB8AC3E}">
        <p14:creationId xmlns:p14="http://schemas.microsoft.com/office/powerpoint/2010/main" val="165006543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B7FE5D-49FE-48CB-A649-F16EEC49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E6BBD-3C43-499C-B04B-CCE04B3E2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10572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Let it know,</a:t>
            </a:r>
          </a:p>
          <a:p xmlns:a="http://schemas.openxmlformats.org/drawingml/2006/main">
            <a:pPr algn="l">
              <a:defRPr sz="58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850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Let it Work.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B5A79-EB56-402A-BFB2-B63EE15C0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76850"/>
            <a:ext cx="9525000" cy="1038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客户：带一条真实工作流程来试点</a:t>
            </a:r>
          </a:p>
          <a:p xmlns:a="http://schemas.openxmlformats.org/drawingml/2006/main">
            <a:pPr algn="l">
              <a:def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投资者：共同验证团队 AI 的产品路径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91ff2aeeb4c9f"/>
          <a:stretch xmlns:a="http://schemas.openxmlformats.org/drawingml/2006/main"/>
        </p:blipFill>
        <p:spPr>
          <a:xfrm xmlns:a="http://schemas.openxmlformats.org/drawingml/2006/main">
            <a:off x="9753600" y="4629150"/>
            <a:ext cx="1619250" cy="1619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30178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9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3305E4-E375-4919-8A30-2ABC31A9B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资料与产品边界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333CEE-6A91-4EA5-833D-BE5564AB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008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e by eternalgy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23230-BC48-469D-A413-3664F9A5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722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FE7160-67BD-43F5-9C35-04B0AE4F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产品定位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58828-220C-48C4-A841-05345E70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28825"/>
            <a:ext cx="8096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创始人提供的六个核心理念与团队 AI 方向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CE8A9C-9014-4E83-AB14-945F97778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3372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F0272C-5872-4037-AEB4-5310ECEE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实现依据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1ADA95-9546-46A1-9073-9C2C7429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81375"/>
            <a:ext cx="8096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README.md / ONBOARDING.md / host.mjs</a:t>
            </a:r>
          </a:p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core/tools.mjs / documents.mjs / forms.mjs / dashboard.mjs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D0E11D-909F-486E-9BA2-7E950A85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1078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9D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EC1DA7-D326-4A22-A337-4F0CAC11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33925"/>
            <a:ext cx="22288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8775D"/>
                </a:solidFill>
                <a:latin typeface="Microsoft YaHei"/>
                <a:ea typeface="Microsoft YaHei"/>
                <a:cs typeface="Microsoft YaHei"/>
              </a:rPr>
              <a:t>证据边界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1C0B65-F5CF-4B77-B457-5CAE8EC3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733925"/>
            <a:ext cx="8096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代码与预览支持功能说明，不代表部署验收或客户业绩</a:t>
            </a:r>
          </a:p>
          <a:p xmlns:a="http://schemas.openxmlformats.org/drawingml/2006/main">
            <a:pPr algn="l">
              <a:def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3D33"/>
                </a:solidFill>
                <a:latin typeface="Microsoft YaHei"/>
                <a:ea typeface="Microsoft YaHei"/>
                <a:cs typeface="Microsoft YaHei"/>
              </a:rPr>
              <a:t>可靠性、使用与商业指标，需要在真实试点中验证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6CF809-3F85-4ADD-B6BA-6BA172DA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579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5756E"/>
                </a:solidFill>
                <a:latin typeface="Microsoft YaHei"/>
                <a:ea typeface="Microsoft YaHei"/>
                <a:cs typeface="Microsoft YaHei"/>
              </a:rPr>
              <a:t>资料日期：2026-10-01</a:t>
            </a:r>
          </a:p>
        </p:txBody>
      </p:sp>
    </p:spTree>
    <p:extLst>
      <p:ext uri="{BB962C8B-B14F-4D97-AF65-F5344CB8AC3E}">
        <p14:creationId xmlns:p14="http://schemas.microsoft.com/office/powerpoint/2010/main" val="100029684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2026-10-01T09:12:34.4480000Z</dcterms:created>
  <dcterms:modified xsi:type="dcterms:W3CDTF">2026-10-01T09:12:34.4480000Z</dcterms:modified>
</coreProperties>
</file>