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b3adbdc33fe49fd" /><Relationship Type="http://schemas.openxmlformats.org/officeDocument/2006/relationships/extended-properties" Target="/docProps/app.xml" Id="R4fc763d92770488f" /><Relationship Type="http://schemas.openxmlformats.org/officeDocument/2006/relationships/officeDocument" Target="/ppt/presentation.xml" Id="R5416f14067d3470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d3fe83818dd42de"/>
  </p:sldMasterIdLst>
  <p:notesMasterIdLst>
    <p:notesMasterId xmlns:r="http://schemas.openxmlformats.org/officeDocument/2006/relationships" r:id="R5a737fab280845ff"/>
  </p:notesMasterIdLst>
  <p:sldIdLst>
    <p:sldId xmlns:r="http://schemas.openxmlformats.org/officeDocument/2006/relationships" id="256" r:id="R20b6ded4b69f4860"/>
    <p:sldId xmlns:r="http://schemas.openxmlformats.org/officeDocument/2006/relationships" id="257" r:id="R374f0325ccc24f04"/>
    <p:sldId xmlns:r="http://schemas.openxmlformats.org/officeDocument/2006/relationships" id="258" r:id="Rba437cf393e34f3e"/>
    <p:sldId xmlns:r="http://schemas.openxmlformats.org/officeDocument/2006/relationships" id="259" r:id="R7a056d2703224779"/>
    <p:sldId xmlns:r="http://schemas.openxmlformats.org/officeDocument/2006/relationships" id="260" r:id="R12032e9ff2d14632"/>
    <p:sldId xmlns:r="http://schemas.openxmlformats.org/officeDocument/2006/relationships" id="261" r:id="R32329c3517c34513"/>
    <p:sldId xmlns:r="http://schemas.openxmlformats.org/officeDocument/2006/relationships" id="262" r:id="R0e0bd126057e4c41"/>
    <p:sldId xmlns:r="http://schemas.openxmlformats.org/officeDocument/2006/relationships" id="263" r:id="R4d2229308b8b4faf"/>
    <p:sldId xmlns:r="http://schemas.openxmlformats.org/officeDocument/2006/relationships" id="264" r:id="Ra07feb644b644fcc"/>
    <p:sldId xmlns:r="http://schemas.openxmlformats.org/officeDocument/2006/relationships" id="265" r:id="R85e9f64097be4a3d"/>
    <p:sldId xmlns:r="http://schemas.openxmlformats.org/officeDocument/2006/relationships" id="266" r:id="R33d28ee5567e4447"/>
    <p:sldId xmlns:r="http://schemas.openxmlformats.org/officeDocument/2006/relationships" id="267" r:id="Rfd8bf20d18714de2"/>
    <p:sldId xmlns:r="http://schemas.openxmlformats.org/officeDocument/2006/relationships" id="268" r:id="Rbd9303e3612a4c84"/>
    <p:sldId xmlns:r="http://schemas.openxmlformats.org/officeDocument/2006/relationships" id="269" r:id="R0bece1049adb4bbd"/>
    <p:sldId xmlns:r="http://schemas.openxmlformats.org/officeDocument/2006/relationships" id="270" r:id="Rcce961f40a634c57"/>
    <p:sldId xmlns:r="http://schemas.openxmlformats.org/officeDocument/2006/relationships" id="271" r:id="R44017919d025492d"/>
    <p:sldId xmlns:r="http://schemas.openxmlformats.org/officeDocument/2006/relationships" id="272" r:id="Rea73588243204396"/>
    <p:sldId xmlns:r="http://schemas.openxmlformats.org/officeDocument/2006/relationships" id="273" r:id="Ra7c5ec52efa7477a"/>
    <p:sldId xmlns:r="http://schemas.openxmlformats.org/officeDocument/2006/relationships" id="274" r:id="Rd6f46d1fc73b402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f2522731af643fd" /><Relationship Type="http://schemas.openxmlformats.org/officeDocument/2006/relationships/slideMaster" Target="/ppt/slideMasters/slideMaster1.xml" Id="R6d3fe83818dd42de" /><Relationship Type="http://schemas.openxmlformats.org/officeDocument/2006/relationships/notesMaster" Target="/ppt/notesMasters/notesMaster1.xml" Id="R5a737fab280845ff" /><Relationship Type="http://schemas.openxmlformats.org/officeDocument/2006/relationships/presProps" Target="/ppt/presProps.xml" Id="R2a7bd862ad2343bf" /><Relationship Type="http://schemas.openxmlformats.org/officeDocument/2006/relationships/tableStyles" Target="/ppt/tableStyles.xml" Id="R16457c75e7a740be" /><Relationship Type="http://schemas.openxmlformats.org/officeDocument/2006/relationships/slide" Target="/ppt/slides/slide1.xml" Id="R20b6ded4b69f4860" /><Relationship Type="http://schemas.openxmlformats.org/officeDocument/2006/relationships/slide" Target="/ppt/slides/slide2.xml" Id="R374f0325ccc24f04" /><Relationship Type="http://schemas.openxmlformats.org/officeDocument/2006/relationships/slide" Target="/ppt/slides/slide3.xml" Id="Rba437cf393e34f3e" /><Relationship Type="http://schemas.openxmlformats.org/officeDocument/2006/relationships/slide" Target="/ppt/slides/slide4.xml" Id="R7a056d2703224779" /><Relationship Type="http://schemas.openxmlformats.org/officeDocument/2006/relationships/slide" Target="/ppt/slides/slide5.xml" Id="R12032e9ff2d14632" /><Relationship Type="http://schemas.openxmlformats.org/officeDocument/2006/relationships/slide" Target="/ppt/slides/slide6.xml" Id="R32329c3517c34513" /><Relationship Type="http://schemas.openxmlformats.org/officeDocument/2006/relationships/slide" Target="/ppt/slides/slide7.xml" Id="R0e0bd126057e4c41" /><Relationship Type="http://schemas.openxmlformats.org/officeDocument/2006/relationships/slide" Target="/ppt/slides/slide8.xml" Id="R4d2229308b8b4faf" /><Relationship Type="http://schemas.openxmlformats.org/officeDocument/2006/relationships/slide" Target="/ppt/slides/slide9.xml" Id="Ra07feb644b644fcc" /><Relationship Type="http://schemas.openxmlformats.org/officeDocument/2006/relationships/slide" Target="/ppt/slides/slide10.xml" Id="R85e9f64097be4a3d" /><Relationship Type="http://schemas.openxmlformats.org/officeDocument/2006/relationships/slide" Target="/ppt/slides/slide11.xml" Id="R33d28ee5567e4447" /><Relationship Type="http://schemas.openxmlformats.org/officeDocument/2006/relationships/slide" Target="/ppt/slides/slide12.xml" Id="Rfd8bf20d18714de2" /><Relationship Type="http://schemas.openxmlformats.org/officeDocument/2006/relationships/slide" Target="/ppt/slides/slide13.xml" Id="Rbd9303e3612a4c84" /><Relationship Type="http://schemas.openxmlformats.org/officeDocument/2006/relationships/slide" Target="/ppt/slides/slide14.xml" Id="R0bece1049adb4bbd" /><Relationship Type="http://schemas.openxmlformats.org/officeDocument/2006/relationships/slide" Target="/ppt/slides/slide15.xml" Id="Rcce961f40a634c57" /><Relationship Type="http://schemas.openxmlformats.org/officeDocument/2006/relationships/slide" Target="/ppt/slides/slide16.xml" Id="R44017919d025492d" /><Relationship Type="http://schemas.openxmlformats.org/officeDocument/2006/relationships/slide" Target="/ppt/slides/slide17.xml" Id="Rea73588243204396" /><Relationship Type="http://schemas.openxmlformats.org/officeDocument/2006/relationships/slide" Target="/ppt/slides/slide18.xml" Id="Ra7c5ec52efa7477a" /><Relationship Type="http://schemas.openxmlformats.org/officeDocument/2006/relationships/slide" Target="/ppt/slides/slide19.xml" Id="Rd6f46d1fc73b402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2ce34e6a35a4db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00f7429c96d4484" /><Relationship Type="http://schemas.openxmlformats.org/officeDocument/2006/relationships/notesMaster" Target="/ppt/notesMasters/notesMaster1.xml" Id="R3c6f2faa27af4a8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d4b56aca82b4e80" /><Relationship Type="http://schemas.openxmlformats.org/officeDocument/2006/relationships/notesMaster" Target="/ppt/notesMasters/notesMaster1.xml" Id="Rbb049044fc294b3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b2bbadc56384237" /><Relationship Type="http://schemas.openxmlformats.org/officeDocument/2006/relationships/notesMaster" Target="/ppt/notesMasters/notesMaster1.xml" Id="R1647dbae9c28453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68236b7667442dc" /><Relationship Type="http://schemas.openxmlformats.org/officeDocument/2006/relationships/notesMaster" Target="/ppt/notesMasters/notesMaster1.xml" Id="R6bf262d649ed428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eee4cdf3cd14834" /><Relationship Type="http://schemas.openxmlformats.org/officeDocument/2006/relationships/notesMaster" Target="/ppt/notesMasters/notesMaster1.xml" Id="R1968ea1dc7d249b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b34455df59f41c3" /><Relationship Type="http://schemas.openxmlformats.org/officeDocument/2006/relationships/notesMaster" Target="/ppt/notesMasters/notesMaster1.xml" Id="Raa0731c02ed1486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9426b69f1714673" /><Relationship Type="http://schemas.openxmlformats.org/officeDocument/2006/relationships/notesMaster" Target="/ppt/notesMasters/notesMaster1.xml" Id="R0a5e35f834be42c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6bb8791bb844eb5" /><Relationship Type="http://schemas.openxmlformats.org/officeDocument/2006/relationships/notesMaster" Target="/ppt/notesMasters/notesMaster1.xml" Id="R4c99350cb6414d7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91870641ca449b4" /><Relationship Type="http://schemas.openxmlformats.org/officeDocument/2006/relationships/notesMaster" Target="/ppt/notesMasters/notesMaster1.xml" Id="R74d0ca66ed0e481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eaec53d61364747" /><Relationship Type="http://schemas.openxmlformats.org/officeDocument/2006/relationships/notesMaster" Target="/ppt/notesMasters/notesMaster1.xml" Id="R307adb48a1e84ecd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acde944938948fa" /><Relationship Type="http://schemas.openxmlformats.org/officeDocument/2006/relationships/notesMaster" Target="/ppt/notesMasters/notesMaster1.xml" Id="R7b1cf17cc5f143eb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ececa7d234f2425c" /><Relationship Type="http://schemas.openxmlformats.org/officeDocument/2006/relationships/notesMaster" Target="/ppt/notesMasters/notesMaster1.xml" Id="R71e0f0411bce4447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a2f31c26d28346f3" /><Relationship Type="http://schemas.openxmlformats.org/officeDocument/2006/relationships/notesMaster" Target="/ppt/notesMasters/notesMaster1.xml" Id="R7f3985d301234741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951141128ca1425f" /><Relationship Type="http://schemas.openxmlformats.org/officeDocument/2006/relationships/notesMaster" Target="/ppt/notesMasters/notesMaster1.xml" Id="R826b5e116b2e482a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290d2d34b3cf4f0f" /><Relationship Type="http://schemas.openxmlformats.org/officeDocument/2006/relationships/notesMaster" Target="/ppt/notesMasters/notesMaster1.xml" Id="R9cb5238e509f4a68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47720cf007584570" /><Relationship Type="http://schemas.openxmlformats.org/officeDocument/2006/relationships/notesMaster" Target="/ppt/notesMasters/notesMaster1.xml" Id="R34f858409f7a4413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1d7525b18b3342da" /><Relationship Type="http://schemas.openxmlformats.org/officeDocument/2006/relationships/notesMaster" Target="/ppt/notesMasters/notesMaster1.xml" Id="R896a09fa4f844e71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5f8243578328495f" /><Relationship Type="http://schemas.openxmlformats.org/officeDocument/2006/relationships/notesMaster" Target="/ppt/notesMasters/notesMaster1.xml" Id="R88bb7b302988437a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daa8d5e65d9c4e04" /><Relationship Type="http://schemas.openxmlformats.org/officeDocument/2006/relationships/notesMaster" Target="/ppt/notesMasters/notesMaster1.xml" Id="R0ba4705e476a488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 by Eternalgy 是为团队设计的 AI，当前以 Document Intelligence 切入。公司上下文与流程是产品定位。现有 host 仍为单一操作员与默认公司。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资料依据：ONBOARDING.md; README.md</a:t>
            </a:r>
          </a:p>
          <a:p xmlns:a="http://schemas.openxmlformats.org/drawingml/2006/main">
            <a:r>
              <a:t>日期：2026-10-01。生成图为抽象示意，不作为事实证据。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这是问题定义与设计方向。团队角色示意不表示当前 host 已具有多成员账号或团队权限。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资料依据：ONBOARDING.md; README.md; core/tools.mjs:16-24,729-737; host.mjs:26-70</a:t>
            </a:r>
          </a:p>
          <a:p xmlns:a="http://schemas.openxmlformats.org/drawingml/2006/main">
            <a:r>
              <a:t>日期：2026-10-01。生成图为抽象示意，不作为事实证据。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水坝是创始人的商业化比喻，不是行业研究结论。搭建、使用、稳定三道门槛是产品设计与试点验证重点。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资料依据：创始人于本次对话提供的六个核心理念与定位。</a:t>
            </a:r>
          </a:p>
          <a:p xmlns:a="http://schemas.openxmlformats.org/drawingml/2006/main">
            <a:r>
              <a:t>日期：2026-10-01。生成图为抽象示意，不作为事实证据。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公司理解指明确保存并被任务调用的公司上下文，不是模型自动训练。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资料依据：ONBOARDING.md; README.md; core/documents.mjs:210-339,353-392,467-493,504-549,568-602; core/actions.mjs:31-114</a:t>
            </a:r>
          </a:p>
          <a:p xmlns:a="http://schemas.openxmlformats.org/drawingml/2006/main">
            <a:r>
              <a:t>日期：2026-10-01。生成图为抽象示意，不作为事实证据。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可以用旧 invoice、quotation、company profile 与可读官网内容提供背景。抽取事实需用户确认。此 repo 没有新增独立 OCR 或 crawler 服务，不能承诺只看几张文件即自动完成。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资料依据：ONBOARDING.md; README.md</a:t>
            </a:r>
          </a:p>
          <a:p xmlns:a="http://schemas.openxmlformats.org/drawingml/2006/main">
            <a:r>
              <a:t>日期：2026-10-01。生成图为抽象示意，不作为事实证据。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常见业务共享客户、商品、文件、采集与规则等结构。e 当前使用预置业务 schema，可按公司配置字段、模板和规则，不是自动创建任意数据库。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资料依据：ONBOARDING.md; README.md; core/tools.mjs:16-24,729-737; host.mjs:26-70</a:t>
            </a:r>
          </a:p>
          <a:p xmlns:a="http://schemas.openxmlformats.org/drawingml/2006/main">
            <a:r>
              <a:t>日期：2026-10-01。生成图为抽象示意，不作为事实证据。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单次文件输出与 e 的流程方式做概念对比，不将所有其他 AI 归为只会 PDF。五个齿轮代表预置 schema、数据库记录、文档生命周期、SOP 与模板。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资料依据：core/documents.mjs:210-339,353-392,467-493,504-549,568-602; core/actions.mjs:31-114; core/tools.mjs:16-24,729-737; host.mjs:26-70</a:t>
            </a:r>
          </a:p>
          <a:p xmlns:a="http://schemas.openxmlformats.org/drawingml/2006/main">
            <a:r>
              <a:t>日期：2026-10-01。生成图为抽象示意，不作为事实证据。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准备不写记录，草稿可以修改，issue 时验证并编号，保存 snapshots，PDF 与付款记录进入持续流程。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资料依据：core/documents.mjs:210-339,353-392,467-493,504-549,568-602; core/actions.mjs:31-114</a:t>
            </a:r>
          </a:p>
          <a:p xmlns:a="http://schemas.openxmlformats.org/drawingml/2006/main">
            <a:r>
              <a:t>日期：2026-10-01。生成图为抽象示意，不作为事实证据。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表单、review、stats 与 CSV 是现有工具。工程报告、每日打卡是可配置的数据采集例子，不代表完整工单、考勤或薪资系统。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资料依据：core/forms.mjs:418-481,552-574,830-884,991-1060,1084-1178</a:t>
            </a:r>
          </a:p>
          <a:p xmlns:a="http://schemas.openxmlformats.org/drawingml/2006/main">
            <a:r>
              <a:t>日期：2026-10-01。生成图为抽象示意，不作为事实证据。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截图来自 CRM preview，金额与数量为演示数据。代码实现应收、逾期、开票与收款趋势、报价pipeline，截图不代表经营业绩。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资料依据：core/dashboard.mjs:23-128; preview/crm-desktop.png</a:t>
            </a:r>
          </a:p>
          <a:p xmlns:a="http://schemas.openxmlformats.org/drawingml/2006/main">
            <a:r>
              <a:t>日期：2026-10-01。生成图为抽象示意，不作为事实证据。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当前 registry 七个 DI specialist。Orchestrator 所在外围 UIv2 host 接收需求与派发任务，specialist 共享记录但工具各有授权范围。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资料依据：core/tools.mjs:16-24,729-737; host.mjs:26-70; ONBOARDING.md; README.md</a:t>
            </a:r>
          </a:p>
          <a:p xmlns:a="http://schemas.openxmlformats.org/drawingml/2006/main">
            <a:r>
              <a:t>日期：2026-10-01。生成图为抽象示意，不作为事实证据。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用细胞比喻说明分工与协作产生系统能力。修辞不对细胞认知能力作科学断言，也不等于仅靠单个 agent 就能保证整体可靠性。</a:t>
            </a:r>
          </a:p>
          <a:p xmlns:a="http://schemas.openxmlformats.org/drawingml/2006/main">
            <a:r>
              <a:t>依据：core/tools.mjs:16-24,729-737; host.mjs:26-70</a:t>
            </a:r>
          </a:p>
          <a:p xmlns:a="http://schemas.openxmlformats.org/drawingml/2006/main">
            <a:r>
              <a:t>视觉由内置 ImageGen 生成，文字为原生可编辑。日期：2026-10-01。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两种架构思路的概念对比，不概括全部竞品。资料、模板、文件、表单为当前 specialist 职责例子。单元、调度与交接都需验证。</a:t>
            </a:r>
          </a:p>
          <a:p xmlns:a="http://schemas.openxmlformats.org/drawingml/2006/main">
            <a:r>
              <a:t>依据：core/tools.mjs:16-24,729-737; host.mjs:26-70; core/documents.mjs:210-339,353-392,467-493,504-549,568-602; core/actions.mjs:31-114</a:t>
            </a:r>
          </a:p>
          <a:p xmlns:a="http://schemas.openxmlformats.org/drawingml/2006/main">
            <a:r>
              <a:t>视觉由内置 ImageGen 生成，文字为原生可编辑。日期：2026-10-01。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可检查机制是代码事实，不等于已验证成功率、低错误率或零错误。RLS 隔离在 di_app 角色可用时生效，数据库角色 unavailable 时有降级限制。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资料依据：core/documents.mjs:210-339,353-392,467-493,504-549,568-602; core/actions.mjs:31-114; core/tools.mjs:16-24,729-737; host.mjs:26-70; checker/index.mjs:48-50; ONBOARDING.md; README.md</a:t>
            </a:r>
          </a:p>
          <a:p xmlns:a="http://schemas.openxmlformats.org/drawingml/2006/main">
            <a:r>
              <a:t>日期：2026-10-01。生成图为抽象示意，不作为事实证据。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README 定义 MVP/working demo。当前 host 单操作员/default company，数据库 tenant-aware 不表示已有团队用户权限。MyInvois 尚无提交整合。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资料依据：ONBOARDING.md; README.md; checker/index.mjs:48-50; ONBOARDING.md; README.md</a:t>
            </a:r>
          </a:p>
          <a:p xmlns:a="http://schemas.openxmlformats.org/drawingml/2006/main">
            <a:r>
              <a:t>日期：2026-10-01。生成图为抽象示意，不作为事实证据。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这是建议试点方法，不是正式套餐、价格、承诺期限或已取得客户成果。由客户选一条适合现有功能的流程，使用其真实资料并确认后运行。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资料依据：创始人于本次对话提供的六个核心理念与定位。</a:t>
            </a:r>
          </a:p>
          <a:p xmlns:a="http://schemas.openxmlformats.org/drawingml/2006/main">
            <a:r>
              <a:t>日期：2026-10-01。生成图为抽象示意，不作为事实证据。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投资命题是待验证的假设。没有 supplied traction、收入、市场规模、投资额、估值或财务数据，本页不虚构这些指标。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资料依据：创始人于本次对话提供的六个核心理念与定位。</a:t>
            </a:r>
          </a:p>
          <a:p xmlns:a="http://schemas.openxmlformats.org/drawingml/2006/main">
            <a:r>
              <a:t>日期：2026-10-01。生成图为抽象示意，不作为事实证据。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下一步：客户选一条真实流程试点，投资者共同验证商业化路径。不是报价、合同或募资条件。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资料依据：创始人于本次对话提供的六个核心理念与定位。</a:t>
            </a:r>
          </a:p>
          <a:p xmlns:a="http://schemas.openxmlformats.org/drawingml/2006/main">
            <a:r>
              <a:t>日期：2026-10-01。生成图为抽象示意，不作为事实证据。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所有产品实现依据为本地 repo。生成图仅作视觉比喻，截图为演示数据。资料截至 2026-10-01。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资料依据：core/tools.mjs:16-24,729-737; host.mjs:26-70</a:t>
            </a:r>
          </a:p>
          <a:p xmlns:a="http://schemas.openxmlformats.org/drawingml/2006/main">
            <a:r>
              <a:t>core/documents.mjs:210-339,353-392,467-493,504-549,568-602; core/actions.mjs:31-114</a:t>
            </a:r>
          </a:p>
          <a:p xmlns:a="http://schemas.openxmlformats.org/drawingml/2006/main">
            <a:r>
              <a:t>core/forms.mjs:418-481,552-574,830-884,991-1060,1084-1178</a:t>
            </a:r>
          </a:p>
          <a:p xmlns:a="http://schemas.openxmlformats.org/drawingml/2006/main">
            <a:r>
              <a:t>ONBOARDING.md; README.md</a:t>
            </a:r>
          </a:p>
          <a:p xmlns:a="http://schemas.openxmlformats.org/drawingml/2006/main">
            <a:r>
              <a:t>core/dashboard.mjs:23-128; preview/crm-desktop.png</a:t>
            </a:r>
          </a:p>
          <a:p xmlns:a="http://schemas.openxmlformats.org/drawingml/2006/main">
            <a:r>
              <a:t>checker/index.mjs:48-50; ONBOARDING.md; README.md</a:t>
            </a:r>
          </a:p>
          <a:p xmlns:a="http://schemas.openxmlformats.org/drawingml/2006/main">
            <a:r>
              <a:t>日期：2026-10-01。生成图为抽象示意，不作为事实证据。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533665038574cd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307b5a434f9444b" /><Relationship Type="http://schemas.openxmlformats.org/officeDocument/2006/relationships/slideLayout" Target="/ppt/slideLayouts/slideLayout1.xml" Id="R56aba70ee83343e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6aba70ee83343e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7fb2d7b48841e9" /><Relationship Type="http://schemas.openxmlformats.org/officeDocument/2006/relationships/image" Target="/ppt/media/image.png" Id="Rf8cc0987aeca4531" /><Relationship Type="http://schemas.openxmlformats.org/officeDocument/2006/relationships/image" Target="/ppt/media/image2.png" Id="R4ebb2a826cab41e7" /><Relationship Type="http://schemas.openxmlformats.org/officeDocument/2006/relationships/notesSlide" Target="/ppt/notesSlides/notesSlide1.xml" Id="Rb7a3160290bb40e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631fdcf6474769" /><Relationship Type="http://schemas.openxmlformats.org/officeDocument/2006/relationships/notesSlide" Target="/ppt/notesSlides/notesSlide2.xml" Id="R3bd521ef51de46b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8170b222694bd6" /><Relationship Type="http://schemas.openxmlformats.org/officeDocument/2006/relationships/image" Target="/ppt/media/image3.png" Id="R5c510c90770b4438" /><Relationship Type="http://schemas.openxmlformats.org/officeDocument/2006/relationships/notesSlide" Target="/ppt/notesSlides/notesSlide3.xml" Id="R830666f916fc48c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b8e1bcfdf740e8" /><Relationship Type="http://schemas.openxmlformats.org/officeDocument/2006/relationships/notesSlide" Target="/ppt/notesSlides/notesSlide4.xml" Id="Rb9031eda0b8e429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0ca876c2d741e4" /><Relationship Type="http://schemas.openxmlformats.org/officeDocument/2006/relationships/image" Target="/ppt/media/image4.png" Id="Rfec6f3e1d83c4358" /><Relationship Type="http://schemas.openxmlformats.org/officeDocument/2006/relationships/notesSlide" Target="/ppt/notesSlides/notesSlide5.xml" Id="R89e5b9b1fc294b6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1c4f70b65a44d0" /><Relationship Type="http://schemas.openxmlformats.org/officeDocument/2006/relationships/notesSlide" Target="/ppt/notesSlides/notesSlide6.xml" Id="R56c6089147d54f2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336d1a509d48fa" /><Relationship Type="http://schemas.openxmlformats.org/officeDocument/2006/relationships/image" Target="/ppt/media/image5.png" Id="R33e089cfc4d74a93" /><Relationship Type="http://schemas.openxmlformats.org/officeDocument/2006/relationships/notesSlide" Target="/ppt/notesSlides/notesSlide7.xml" Id="Ree4fa718de9b449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76966b7d044717" /><Relationship Type="http://schemas.openxmlformats.org/officeDocument/2006/relationships/notesSlide" Target="/ppt/notesSlides/notesSlide8.xml" Id="R2751d31464f54ea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efc10218f343c9" /><Relationship Type="http://schemas.openxmlformats.org/officeDocument/2006/relationships/notesSlide" Target="/ppt/notesSlides/notesSlide9.xml" Id="R5798c40d30c347c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7a7bd7a4c14f14" /><Relationship Type="http://schemas.openxmlformats.org/officeDocument/2006/relationships/image" Target="/ppt/media/image6.png" Id="R1e69c48ea7834ad6" /><Relationship Type="http://schemas.openxmlformats.org/officeDocument/2006/relationships/notesSlide" Target="/ppt/notesSlides/notesSlide10.xml" Id="R6cdca9a91bfe4d9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9493eb4c8c4502" /><Relationship Type="http://schemas.openxmlformats.org/officeDocument/2006/relationships/notesSlide" Target="/ppt/notesSlides/notesSlide11.xml" Id="Rb2c414ad99b045cf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aa0cfccb514668" /><Relationship Type="http://schemas.openxmlformats.org/officeDocument/2006/relationships/image" Target="/ppt/media/image7.png" Id="R22d57fe1c175454a" /><Relationship Type="http://schemas.openxmlformats.org/officeDocument/2006/relationships/notesSlide" Target="/ppt/notesSlides/notesSlide12.xml" Id="Rfa9c965c09434a60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715e4f2bed4218" /><Relationship Type="http://schemas.openxmlformats.org/officeDocument/2006/relationships/image" Target="/ppt/media/image8.png" Id="R8db9c129567943b3" /><Relationship Type="http://schemas.openxmlformats.org/officeDocument/2006/relationships/notesSlide" Target="/ppt/notesSlides/notesSlide13.xml" Id="R6178dfa5f9ca4c94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dde18cc8974ee3" /><Relationship Type="http://schemas.openxmlformats.org/officeDocument/2006/relationships/notesSlide" Target="/ppt/notesSlides/notesSlide14.xml" Id="Ra14e8c7a57764377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11bb91d6804c79" /><Relationship Type="http://schemas.openxmlformats.org/officeDocument/2006/relationships/notesSlide" Target="/ppt/notesSlides/notesSlide15.xml" Id="R65a73d972c4a4a49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0675fdc1da42f7" /><Relationship Type="http://schemas.openxmlformats.org/officeDocument/2006/relationships/notesSlide" Target="/ppt/notesSlides/notesSlide16.xml" Id="R26995fb903d44e6f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94016160aa404c" /><Relationship Type="http://schemas.openxmlformats.org/officeDocument/2006/relationships/notesSlide" Target="/ppt/notesSlides/notesSlide17.xml" Id="Rce6e2e7108ee4dd4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ebe23807334ea3" /><Relationship Type="http://schemas.openxmlformats.org/officeDocument/2006/relationships/image" Target="/ppt/media/image9.png" Id="R06f4d05bc3174ecb" /><Relationship Type="http://schemas.openxmlformats.org/officeDocument/2006/relationships/notesSlide" Target="/ppt/notesSlides/notesSlide18.xml" Id="R877a416014d341fd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3b5239b8a1439b" /><Relationship Type="http://schemas.openxmlformats.org/officeDocument/2006/relationships/notesSlide" Target="/ppt/notesSlides/notesSlide19.xml" Id="R414b048919ee47f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9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8cc0987aeca4531"/>
          <a:stretch xmlns:a="http://schemas.openxmlformats.org/drawingml/2006/main"/>
        </p:blipFill>
        <p:spPr>
          <a:xfrm xmlns:a="http://schemas.openxmlformats.org/drawingml/2006/main">
            <a:off x="704850" y="723900"/>
            <a:ext cx="523875" cy="523875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5FF246-B8A7-4A6E-8010-9FCC7CCCF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800100"/>
            <a:ext cx="4667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e by eternalgy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4D60E9-2BD3-4E7D-A4BE-DA7A859AB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38425"/>
            <a:ext cx="69723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950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950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为团队打造的 AI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C81F46-1360-4570-9EFE-3A436F553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43350"/>
            <a:ext cx="65246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rPr>
              <a:t>让公司资料，成为 AI 的工作依据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CF42A9-7C43-41C2-B92E-7724AF712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953000"/>
            <a:ext cx="6572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77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18775D"/>
                </a:solidFill>
                <a:latin typeface="Microsoft YaHei"/>
                <a:ea typeface="Microsoft YaHei"/>
                <a:cs typeface="Microsoft YaHei"/>
              </a:rPr>
              <a:t>Let it know, Let it Work.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ebb2a826cab41e7"/>
          <a:stretch xmlns:a="http://schemas.openxmlformats.org/drawingml/2006/main"/>
        </p:blipFill>
        <p:spPr>
          <a:xfrm xmlns:a="http://schemas.openxmlformats.org/drawingml/2006/main">
            <a:off x="7924800" y="1209204"/>
            <a:ext cx="3581400" cy="4382441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C985BF3-B66D-4DB9-95F1-C59DDC8EB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267450"/>
            <a:ext cx="657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rPr>
              <a:t>Document Intelligence</a:t>
            </a:r>
          </a:p>
        </p:txBody>
      </p:sp>
    </p:spTree>
    <p:extLst>
      <p:ext uri="{BB962C8B-B14F-4D97-AF65-F5344CB8AC3E}">
        <p14:creationId xmlns:p14="http://schemas.microsoft.com/office/powerpoint/2010/main" val="10305980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9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E94CA1F-13CF-42A5-A1FC-C922F0C40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团队工作，需要共同的公司上下文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013F91-A088-4B5E-8470-A1A25534A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00800"/>
            <a:ext cx="285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rPr>
              <a:t>e by eternalgy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6861D9-C761-4838-9B1C-E5D273F51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72225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9B959B-B9EE-47CC-8BD1-3E936180E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95475"/>
            <a:ext cx="581025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每个成员带来任务</a:t>
            </a:r>
          </a:p>
          <a:p xmlns:a="http://schemas.openxmlformats.org/drawingml/2006/main">
            <a:pPr algn="l">
              <a:defRPr sz="3600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公司提供共同依据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1BBD9A-9B05-4EAA-AEEB-AE4568183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91000"/>
            <a:ext cx="5238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rPr>
              <a:t>成员经验与旧文件中的信息，</a:t>
            </a:r>
          </a:p>
          <a:p xmlns:a="http://schemas.openxmlformats.org/drawingml/2006/main">
            <a:pPr algn="l">
              <a:defRPr sz="2250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rPr>
              <a:t>需要延续到下一次工作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93CDDD4-D456-47D8-9A6B-4EEA327F3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114550"/>
            <a:ext cx="1714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9F6"/>
          </a:solidFill>
          <a:ln xmlns:a="http://schemas.openxmlformats.org/drawingml/2006/main" w="14288">
            <a:solidFill>
              <a:srgbClr val="CED9D1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36BA055-B880-489A-B630-99986FD63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190750"/>
            <a:ext cx="1524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销售任务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E2BF945-1EEF-465D-90EF-413AF2E8F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267075"/>
            <a:ext cx="1714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9F6"/>
          </a:solidFill>
          <a:ln xmlns:a="http://schemas.openxmlformats.org/drawingml/2006/main" w="14288">
            <a:solidFill>
              <a:srgbClr val="CED9D1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07B1BBF-C36B-4E0E-A05B-0591681A8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343275"/>
            <a:ext cx="1524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行政任务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EF77E0A-31DA-4D16-B61D-DD20247F3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419600"/>
            <a:ext cx="1714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9F6"/>
          </a:solidFill>
          <a:ln xmlns:a="http://schemas.openxmlformats.org/drawingml/2006/main" w="14288">
            <a:solidFill>
              <a:srgbClr val="CED9D1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D26FBAC-626B-4B01-A4BA-BDE104DDD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495800"/>
            <a:ext cx="1524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财务任务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A3030F5-308E-4591-8EFA-B48D0CAAA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971800"/>
            <a:ext cx="2190750" cy="1714500"/>
          </a:xfrm>
          <a:prstGeom xmlns:a="http://schemas.openxmlformats.org/drawingml/2006/main" prst="can">
            <a:avLst/>
          </a:prstGeom>
          <a:solidFill xmlns:a="http://schemas.openxmlformats.org/drawingml/2006/main">
            <a:srgbClr val="EAF2EB"/>
          </a:solidFill>
          <a:ln xmlns:a="http://schemas.openxmlformats.org/drawingml/2006/main" w="14288">
            <a:solidFill>
              <a:srgbClr val="18775D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5EA6A93-3534-426D-941A-5107580C3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048000"/>
            <a:ext cx="2000250" cy="156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共同的</a:t>
            </a:r>
          </a:p>
          <a:p xmlns:a="http://schemas.openxmlformats.org/drawingml/2006/main">
            <a:pPr algn="ctr">
              <a:defRPr sz="2250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公司上下文</a:t>
            </a:r>
          </a:p>
        </p:txBody>
      </p:sp>
      <p:cxnSp>
        <p:nvCxnSpPr>
          <p:cNvPr id="31" name=""/>
          <p:cNvCxnSpPr>
            <a:stCxn xmlns:a="http://schemas.openxmlformats.org/drawingml/2006/main" id="6" idx="3"/>
            <a:endCxn xmlns:a="http://schemas.openxmlformats.org/drawingml/2006/main" id="12" idx="2"/>
          </p:cNvCxnSpPr>
          <p:nvPr/>
        </p:nvCxnSpPr>
        <p:spPr>
          <a:xfrm xmlns:a="http://schemas.openxmlformats.org/drawingml/2006/main">
            <a:off x="8324850" y="2476500"/>
            <a:ext cx="819150" cy="13525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8775D"/>
            </a:solidFill>
            <a:tailEnd type="arrow" w="sm" len="sm"/>
          </a:ln>
        </p:spPr>
      </p:cxnSp>
      <p:cxnSp>
        <p:nvCxnSpPr>
          <p:cNvPr id="32" name=""/>
          <p:cNvCxnSpPr>
            <a:stCxn xmlns:a="http://schemas.openxmlformats.org/drawingml/2006/main" id="8" idx="3"/>
            <a:endCxn xmlns:a="http://schemas.openxmlformats.org/drawingml/2006/main" id="12" idx="2"/>
          </p:cNvCxnSpPr>
          <p:nvPr/>
        </p:nvCxnSpPr>
        <p:spPr>
          <a:xfrm xmlns:a="http://schemas.openxmlformats.org/drawingml/2006/main">
            <a:off x="8324850" y="3629025"/>
            <a:ext cx="819150" cy="2000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8775D"/>
            </a:solidFill>
            <a:tailEnd type="arrow" w="sm" len="sm"/>
          </a:ln>
        </p:spPr>
      </p:cxnSp>
      <p:cxnSp>
        <p:nvCxnSpPr>
          <p:cNvPr id="33" name=""/>
          <p:cNvCxnSpPr>
            <a:stCxn xmlns:a="http://schemas.openxmlformats.org/drawingml/2006/main" id="10" idx="3"/>
            <a:endCxn xmlns:a="http://schemas.openxmlformats.org/drawingml/2006/main" id="12" idx="2"/>
          </p:cNvCxnSpPr>
          <p:nvPr/>
        </p:nvCxnSpPr>
        <p:spPr>
          <a:xfrm xmlns:a="http://schemas.openxmlformats.org/drawingml/2006/main" flipV="1">
            <a:off x="8324850" y="3829050"/>
            <a:ext cx="819150" cy="9525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8775D"/>
            </a:solidFill>
            <a:tailEnd type="arrow" w="sm" len="sm"/>
          </a:ln>
        </p:spPr>
      </p:cxn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D1D85D4-BB53-41B7-A30E-15CBF5315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867400"/>
            <a:ext cx="104775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rPr>
              <a:t>产品方向：团队协作。多人账号与权限仍待完善。</a:t>
            </a:r>
          </a:p>
        </p:txBody>
      </p:sp>
    </p:spTree>
    <p:extLst>
      <p:ext uri="{BB962C8B-B14F-4D97-AF65-F5344CB8AC3E}">
        <p14:creationId xmlns:p14="http://schemas.microsoft.com/office/powerpoint/2010/main" val="160807854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9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15AA336-302D-4263-855F-46DE1BAFA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AI 变现的最后一里路，是使用门槛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228D3E-C2BD-4106-9824-D69A5590F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00800"/>
            <a:ext cx="285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rPr>
              <a:t>e by eternalgy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BB57DD-7E62-4A26-9D2F-60B0553DA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72225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8F9EA4-9C81-4BD6-B717-689829487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00200"/>
            <a:ext cx="10572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rPr>
              <a:t>模型能力像水源，真正的价值需要跨过三道门槛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c510c90770b4438"/>
          <a:stretch xmlns:a="http://schemas.openxmlformats.org/drawingml/2006/main"/>
        </p:blipFill>
        <p:spPr>
          <a:xfrm xmlns:a="http://schemas.openxmlformats.org/drawingml/2006/main">
            <a:off x="685800" y="2328156"/>
            <a:ext cx="10820400" cy="3287538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A8799F6-A2C9-4AC7-BAA1-2508890B0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5743575"/>
            <a:ext cx="590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AA8A5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AA8A54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8109EE-94B2-4978-A345-6F3E32742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5686425"/>
            <a:ext cx="1790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搭建门槛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5374627-02D4-4EB5-A36C-F7381377B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5743575"/>
            <a:ext cx="590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AA8A5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AA8A54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63EC89C-3E1F-411D-A383-3C85A390C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5686425"/>
            <a:ext cx="1790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使用门槛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A83E558-666A-4FD6-BC95-975C676ED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5743575"/>
            <a:ext cx="590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AA8A5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AA8A54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E78DE23-D1DE-4EC1-8EA3-43AC926FE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5686425"/>
            <a:ext cx="1790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稳定门槛</a:t>
            </a:r>
          </a:p>
        </p:txBody>
      </p:sp>
    </p:spTree>
    <p:extLst>
      <p:ext uri="{BB962C8B-B14F-4D97-AF65-F5344CB8AC3E}">
        <p14:creationId xmlns:p14="http://schemas.microsoft.com/office/powerpoint/2010/main" val="69485411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9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C87AEEE-82D4-4B25-930B-2DE72BA9B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Let it know, Let it Work.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B49A45-BA5B-43CB-9530-CDC661A6A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00800"/>
            <a:ext cx="285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rPr>
              <a:t>e by eternalgy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E590882-3F27-434C-83FD-ED210D306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72225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428C5F-72AE-40ED-8142-49AB23A1D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71675"/>
            <a:ext cx="4667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877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8775D"/>
                </a:solidFill>
                <a:latin typeface="Microsoft YaHei"/>
                <a:ea typeface="Microsoft YaHei"/>
                <a:cs typeface="Microsoft YaHei"/>
              </a:rPr>
              <a:t>让 e 知道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B4589E-4230-48BC-9A96-E37A59EE8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95625"/>
            <a:ext cx="49530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0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0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公司是谁</a:t>
            </a:r>
          </a:p>
          <a:p xmlns:a="http://schemas.openxmlformats.org/drawingml/2006/main">
            <a:pPr algn="l">
              <a:defRPr sz="2475" b="0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0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客户与商品是什么</a:t>
            </a:r>
          </a:p>
          <a:p xmlns:a="http://schemas.openxmlformats.org/drawingml/2006/main">
            <a:pPr algn="l">
              <a:defRPr sz="2475" b="0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0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文件与规则怎样运作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A4A4AB-DB06-4BC3-9C04-077E9C046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1971675"/>
            <a:ext cx="4667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877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8775D"/>
                </a:solidFill>
                <a:latin typeface="Microsoft YaHei"/>
                <a:ea typeface="Microsoft YaHei"/>
                <a:cs typeface="Microsoft YaHei"/>
              </a:rPr>
              <a:t>让 e 工作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0C1903-F8AA-40F9-A26C-A3F16D5D9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095625"/>
            <a:ext cx="48196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0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0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查记录，准备文件</a:t>
            </a:r>
          </a:p>
          <a:p xmlns:a="http://schemas.openxmlformats.org/drawingml/2006/main">
            <a:pPr algn="l">
              <a:defRPr sz="2475" b="0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0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发现缺项，先询问</a:t>
            </a:r>
          </a:p>
          <a:p xmlns:a="http://schemas.openxmlformats.org/drawingml/2006/main">
            <a:pPr algn="l">
              <a:defRPr sz="2475" b="0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0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保存成果，延续后续工作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4608E14-DDD1-490F-B292-61039B036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43100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ED9D1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810100E-4523-4D56-9D4F-FD4B0B57A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086475" y="2047875"/>
            <a:ext cx="0" cy="32480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ED9D1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1C378BA-8861-450C-B67B-AB57C4EAF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800725"/>
            <a:ext cx="1057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公司资料与规则，决定每一次工作怎样完成</a:t>
            </a:r>
          </a:p>
        </p:txBody>
      </p:sp>
    </p:spTree>
    <p:extLst>
      <p:ext uri="{BB962C8B-B14F-4D97-AF65-F5344CB8AC3E}">
        <p14:creationId xmlns:p14="http://schemas.microsoft.com/office/powerpoint/2010/main" val="86067597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9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203D3FE-D407-4572-88A2-187C24358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像新同事一样，先了解公司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271574D-D97A-41B1-AF5A-4674FCEB0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00800"/>
            <a:ext cx="285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rPr>
              <a:t>e by eternalgy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307E74-A801-4045-9E91-B14207173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72225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ec6f3e1d83c4358"/>
          <a:stretch xmlns:a="http://schemas.openxmlformats.org/drawingml/2006/main"/>
        </p:blipFill>
        <p:spPr>
          <a:xfrm xmlns:a="http://schemas.openxmlformats.org/drawingml/2006/main">
            <a:off x="852221" y="1781175"/>
            <a:ext cx="2838983" cy="40195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931DF74-F4C8-4A5D-A5DF-B3A05BC8C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857875"/>
            <a:ext cx="3524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rPr>
              <a:t>你已有的文件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AC1B67-ACEF-4ACA-9CC4-31E7580B8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2009775"/>
            <a:ext cx="6191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AA8A5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AA8A54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8396E3D-2A36-4F53-8ACC-99554F0CB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2009775"/>
            <a:ext cx="59436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读取核心信息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E1EB197-D52E-48CF-9FD1-C9F02FEAA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2590800"/>
            <a:ext cx="5905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rPr>
              <a:t>公司资料、旧报价单与 invoice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F846DE1-0B7F-4091-AA22-16FA9B39A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3295650"/>
            <a:ext cx="6191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AA8A5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AA8A54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958B224-6137-4FD8-A3B4-AB93023BE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3295650"/>
            <a:ext cx="59436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确认与保存设定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511762F-CBEC-4307-97C5-A5992F906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3876675"/>
            <a:ext cx="5905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rPr>
              <a:t>核对身份、付款条件与编号规则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669C07F-B70C-4095-A82B-C3A946306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4581525"/>
            <a:ext cx="6191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AA8A5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AA8A54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74EE052-650C-429F-9BB1-B853FDD8E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4581525"/>
            <a:ext cx="59436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预览并验证模板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60060FD-1268-4D13-9DF5-DBC31AA0B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5162550"/>
            <a:ext cx="5905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rPr>
              <a:t>用实际文件检查输出</a:t>
            </a:r>
          </a:p>
        </p:txBody>
      </p:sp>
    </p:spTree>
    <p:extLst>
      <p:ext uri="{BB962C8B-B14F-4D97-AF65-F5344CB8AC3E}">
        <p14:creationId xmlns:p14="http://schemas.microsoft.com/office/powerpoint/2010/main" val="147154037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9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CF68EE4-AB33-4011-BF98-F0412C2C8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天下武功，殊途同归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E458C1-130D-4BC8-BED0-E7137A211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00800"/>
            <a:ext cx="285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rPr>
              <a:t>e by eternalgy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0D68497-3EF2-4F8A-8176-9D6B00F4B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72225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DEC61A-5DC8-44C9-B509-7DC854F48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33600"/>
            <a:ext cx="57912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不同业务，</a:t>
            </a:r>
          </a:p>
          <a:p xmlns:a="http://schemas.openxmlformats.org/drawingml/2006/main">
            <a:pPr algn="l">
              <a:defRPr sz="3600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共享许多相同的结构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AC9309-8670-42CA-A63E-CF763B507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76750"/>
            <a:ext cx="5429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rPr>
              <a:t>以常用数据结构承接工作，</a:t>
            </a:r>
          </a:p>
          <a:p xmlns:a="http://schemas.openxmlformats.org/drawingml/2006/main">
            <a:pPr algn="l">
              <a:defRPr sz="2250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rPr>
              <a:t>再适应公司的设定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916AF6C-C9BC-41FB-AA0C-49C70570D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238500"/>
            <a:ext cx="2000250" cy="1238250"/>
          </a:xfrm>
          <a:prstGeom xmlns:a="http://schemas.openxmlformats.org/drawingml/2006/main" prst="can">
            <a:avLst/>
          </a:prstGeom>
          <a:solidFill xmlns:a="http://schemas.openxmlformats.org/drawingml/2006/main">
            <a:srgbClr val="EAF2EB"/>
          </a:solidFill>
          <a:ln xmlns:a="http://schemas.openxmlformats.org/drawingml/2006/main" w="14288">
            <a:solidFill>
              <a:srgbClr val="18775D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BB04505-C83C-44FD-8719-BEEE4408A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314700"/>
            <a:ext cx="180975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业务记录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9BD9E81-5F17-4F7B-BEBB-3F0E677F6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038350"/>
            <a:ext cx="102870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9F6"/>
          </a:solidFill>
          <a:ln xmlns:a="http://schemas.openxmlformats.org/drawingml/2006/main" w="14288">
            <a:solidFill>
              <a:srgbClr val="CED9D1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8C3DADF-DBB6-45BA-B119-F7ABC7F66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114550"/>
            <a:ext cx="8382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客户</a:t>
            </a:r>
          </a:p>
        </p:txBody>
      </p:sp>
      <p:cxnSp>
        <p:nvCxnSpPr>
          <p:cNvPr id="29" name=""/>
          <p:cNvCxnSpPr>
            <a:stCxn xmlns:a="http://schemas.openxmlformats.org/drawingml/2006/main" id="8" idx="3"/>
            <a:endCxn xmlns:a="http://schemas.openxmlformats.org/drawingml/2006/main" id="6" idx="2"/>
          </p:cNvCxnSpPr>
          <p:nvPr/>
        </p:nvCxnSpPr>
        <p:spPr>
          <a:xfrm xmlns:a="http://schemas.openxmlformats.org/drawingml/2006/main">
            <a:off x="7791450" y="2395538"/>
            <a:ext cx="381000" cy="1462088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8775D"/>
            </a:solidFill>
            <a:tailEnd type="arrow" w="sm" len="sm"/>
          </a:ln>
        </p:spPr>
      </p:cxn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DF651B5-C300-425D-A69F-7C90D5C78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2038350"/>
            <a:ext cx="102870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9F6"/>
          </a:solidFill>
          <a:ln xmlns:a="http://schemas.openxmlformats.org/drawingml/2006/main" w="14288">
            <a:solidFill>
              <a:srgbClr val="CED9D1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0D02095-A620-4924-ADEF-14AC80567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114550"/>
            <a:ext cx="8382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产品</a:t>
            </a:r>
          </a:p>
        </p:txBody>
      </p:sp>
      <p:cxnSp>
        <p:nvCxnSpPr>
          <p:cNvPr id="32" name=""/>
          <p:cNvCxnSpPr>
            <a:stCxn xmlns:a="http://schemas.openxmlformats.org/drawingml/2006/main" id="11" idx="1"/>
            <a:endCxn xmlns:a="http://schemas.openxmlformats.org/drawingml/2006/main" id="6" idx="4"/>
          </p:cNvCxnSpPr>
          <p:nvPr/>
        </p:nvCxnSpPr>
        <p:spPr>
          <a:xfrm xmlns:a="http://schemas.openxmlformats.org/drawingml/2006/main" flipH="1">
            <a:off x="10172700" y="2395538"/>
            <a:ext cx="304800" cy="1462088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8775D"/>
            </a:solidFill>
            <a:tailEnd type="arrow" w="sm" len="sm"/>
          </a:ln>
        </p:spPr>
      </p:cxn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4397BFA-EB0E-4EE9-A022-D1B573FC1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819650"/>
            <a:ext cx="102870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9F6"/>
          </a:solidFill>
          <a:ln xmlns:a="http://schemas.openxmlformats.org/drawingml/2006/main" w="14288">
            <a:solidFill>
              <a:srgbClr val="CED9D1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43FEF08-B4C9-4475-A650-79745BCBD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895850"/>
            <a:ext cx="8382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文件</a:t>
            </a:r>
          </a:p>
        </p:txBody>
      </p:sp>
      <p:cxnSp>
        <p:nvCxnSpPr>
          <p:cNvPr id="35" name=""/>
          <p:cNvCxnSpPr>
            <a:stCxn xmlns:a="http://schemas.openxmlformats.org/drawingml/2006/main" id="14" idx="3"/>
            <a:endCxn xmlns:a="http://schemas.openxmlformats.org/drawingml/2006/main" id="6" idx="2"/>
          </p:cNvCxnSpPr>
          <p:nvPr/>
        </p:nvCxnSpPr>
        <p:spPr>
          <a:xfrm xmlns:a="http://schemas.openxmlformats.org/drawingml/2006/main" flipV="1">
            <a:off x="7791450" y="3857625"/>
            <a:ext cx="381000" cy="1319213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8775D"/>
            </a:solidFill>
            <a:tailEnd type="arrow" w="sm" len="sm"/>
          </a:ln>
        </p:spPr>
      </p:cxn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9B10E9C-75CC-4234-BBA9-81D2E73C6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4819650"/>
            <a:ext cx="102870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9F6"/>
          </a:solidFill>
          <a:ln xmlns:a="http://schemas.openxmlformats.org/drawingml/2006/main" w="14288">
            <a:solidFill>
              <a:srgbClr val="CED9D1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9146668-DB06-47D3-8823-EF46ADAA5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4895850"/>
            <a:ext cx="8382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表单</a:t>
            </a:r>
          </a:p>
        </p:txBody>
      </p:sp>
      <p:cxnSp>
        <p:nvCxnSpPr>
          <p:cNvPr id="38" name=""/>
          <p:cNvCxnSpPr>
            <a:stCxn xmlns:a="http://schemas.openxmlformats.org/drawingml/2006/main" id="17" idx="1"/>
            <a:endCxn xmlns:a="http://schemas.openxmlformats.org/drawingml/2006/main" id="6" idx="4"/>
          </p:cNvCxnSpPr>
          <p:nvPr/>
        </p:nvCxnSpPr>
        <p:spPr>
          <a:xfrm xmlns:a="http://schemas.openxmlformats.org/drawingml/2006/main" flipH="1" flipV="1">
            <a:off x="10172700" y="3857625"/>
            <a:ext cx="304800" cy="1319213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8775D"/>
            </a:solidFill>
            <a:tailEnd type="arrow" w="sm" len="sm"/>
          </a:ln>
        </p:spPr>
      </p:cxnSp>
    </p:spTree>
    <p:extLst>
      <p:ext uri="{BB962C8B-B14F-4D97-AF65-F5344CB8AC3E}">
        <p14:creationId xmlns:p14="http://schemas.microsoft.com/office/powerpoint/2010/main" val="62180877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9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E49D37B-892E-4639-98E9-298B9889F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同一个开票请求，两种处理方式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C1B28D-DEA5-4D1D-BC37-A83AFDCB1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00800"/>
            <a:ext cx="285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rPr>
              <a:t>e by eternalgy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324500-C1E3-49A7-8B16-4F47566B2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72225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70CC92D-0FD3-49CA-8626-BCE7D42D3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52575"/>
            <a:ext cx="10763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877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8775D"/>
                </a:solidFill>
                <a:latin typeface="Microsoft YaHei"/>
                <a:ea typeface="Microsoft YaHei"/>
                <a:cs typeface="Microsoft YaHei"/>
              </a:rPr>
              <a:t>“Create 1 invoice for Acme…”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8F9C9C-C518-45BB-B26C-59158A5C9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2266950"/>
            <a:ext cx="3524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rPr>
              <a:t>单次文件输出</a:t>
            </a:r>
          </a:p>
        </p:txBody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3e089cfc4d74a93"/>
          <a:stretch xmlns:a="http://schemas.openxmlformats.org/drawingml/2006/main"/>
        </p:blipFill>
        <p:spPr>
          <a:xfrm xmlns:a="http://schemas.openxmlformats.org/drawingml/2006/main">
            <a:off x="1400175" y="2906210"/>
            <a:ext cx="1666875" cy="2360031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6C3E1A-AC63-45AB-853D-AE27C6D1D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5486400"/>
            <a:ext cx="314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rPr>
              <a:t>1 PDF Invoice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20087A5-A361-4CEF-AC6A-0BB999886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848100"/>
            <a:ext cx="762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rPr>
              <a:t>VS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9A3B14D-230F-4089-89BA-87021E9C3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266950"/>
            <a:ext cx="5562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877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8775D"/>
                </a:solidFill>
                <a:latin typeface="Microsoft YaHei"/>
                <a:ea typeface="Microsoft YaHei"/>
                <a:cs typeface="Microsoft YaHei"/>
              </a:rPr>
              <a:t>e：文档是一条业务流程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314B12C-148C-4E00-8E0A-B0F637EA0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058025" y="3429000"/>
            <a:ext cx="1409700" cy="7334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CED9D1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DDC4334-9B55-45EE-999F-F33754579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8467725" y="3429000"/>
            <a:ext cx="1409700" cy="7334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CED9D1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120C173-9677-432F-AF62-089534317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7058025" y="4162425"/>
            <a:ext cx="1409700" cy="8286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CED9D1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016D3B0-385E-4F70-849A-84DE5E677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8467725" y="4162425"/>
            <a:ext cx="1409700" cy="8286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CED9D1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F5AC004-DE64-4C79-8326-48A1C3B7F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752725"/>
            <a:ext cx="1447800" cy="1447800"/>
          </a:xfrm>
          <a:custGeom xmlns:a="http://schemas.openxmlformats.org/drawingml/2006/main">
            <a:pathLst>
              <a:path w="1447800" h="1447800">
                <a:moveTo>
                  <a:pt x="723900" y="14478"/>
                </a:moveTo>
                <a:lnTo>
                  <a:pt x="816498" y="20547"/>
                </a:lnTo>
                <a:lnTo>
                  <a:pt x="875661" y="157521"/>
                </a:lnTo>
                <a:lnTo>
                  <a:pt x="948290" y="182175"/>
                </a:lnTo>
                <a:lnTo>
                  <a:pt x="1078611" y="109523"/>
                </a:lnTo>
                <a:lnTo>
                  <a:pt x="1155769" y="161078"/>
                </a:lnTo>
                <a:lnTo>
                  <a:pt x="1138518" y="309282"/>
                </a:lnTo>
                <a:lnTo>
                  <a:pt x="1189090" y="366947"/>
                </a:lnTo>
                <a:lnTo>
                  <a:pt x="1338277" y="369189"/>
                </a:lnTo>
                <a:lnTo>
                  <a:pt x="1379320" y="452416"/>
                </a:lnTo>
                <a:lnTo>
                  <a:pt x="1290279" y="572139"/>
                </a:lnTo>
                <a:lnTo>
                  <a:pt x="1305243" y="647365"/>
                </a:lnTo>
                <a:lnTo>
                  <a:pt x="1433322" y="723900"/>
                </a:lnTo>
                <a:lnTo>
                  <a:pt x="1427253" y="816498"/>
                </a:lnTo>
                <a:lnTo>
                  <a:pt x="1290279" y="875661"/>
                </a:lnTo>
                <a:lnTo>
                  <a:pt x="1265625" y="948290"/>
                </a:lnTo>
                <a:lnTo>
                  <a:pt x="1338277" y="1078611"/>
                </a:lnTo>
                <a:lnTo>
                  <a:pt x="1286722" y="1155769"/>
                </a:lnTo>
                <a:lnTo>
                  <a:pt x="1138518" y="1138518"/>
                </a:lnTo>
                <a:lnTo>
                  <a:pt x="1080853" y="1189090"/>
                </a:lnTo>
                <a:lnTo>
                  <a:pt x="1078611" y="1338277"/>
                </a:lnTo>
                <a:lnTo>
                  <a:pt x="995384" y="1379320"/>
                </a:lnTo>
                <a:lnTo>
                  <a:pt x="875661" y="1290279"/>
                </a:lnTo>
                <a:lnTo>
                  <a:pt x="800435" y="1305243"/>
                </a:lnTo>
                <a:lnTo>
                  <a:pt x="723900" y="1433322"/>
                </a:lnTo>
                <a:lnTo>
                  <a:pt x="631302" y="1427253"/>
                </a:lnTo>
                <a:lnTo>
                  <a:pt x="572139" y="1290279"/>
                </a:lnTo>
                <a:lnTo>
                  <a:pt x="499510" y="1265625"/>
                </a:lnTo>
                <a:lnTo>
                  <a:pt x="369189" y="1338277"/>
                </a:lnTo>
                <a:lnTo>
                  <a:pt x="292031" y="1286722"/>
                </a:lnTo>
                <a:lnTo>
                  <a:pt x="309282" y="1138518"/>
                </a:lnTo>
                <a:lnTo>
                  <a:pt x="258710" y="1080853"/>
                </a:lnTo>
                <a:lnTo>
                  <a:pt x="109523" y="1078611"/>
                </a:lnTo>
                <a:lnTo>
                  <a:pt x="68480" y="995384"/>
                </a:lnTo>
                <a:lnTo>
                  <a:pt x="157521" y="875661"/>
                </a:lnTo>
                <a:lnTo>
                  <a:pt x="142557" y="800435"/>
                </a:lnTo>
                <a:lnTo>
                  <a:pt x="14478" y="723900"/>
                </a:lnTo>
                <a:lnTo>
                  <a:pt x="20547" y="631302"/>
                </a:lnTo>
                <a:lnTo>
                  <a:pt x="157521" y="572139"/>
                </a:lnTo>
                <a:lnTo>
                  <a:pt x="182175" y="499510"/>
                </a:lnTo>
                <a:lnTo>
                  <a:pt x="109523" y="369189"/>
                </a:lnTo>
                <a:lnTo>
                  <a:pt x="161078" y="292031"/>
                </a:lnTo>
                <a:lnTo>
                  <a:pt x="309282" y="309282"/>
                </a:lnTo>
                <a:lnTo>
                  <a:pt x="366947" y="258710"/>
                </a:lnTo>
                <a:lnTo>
                  <a:pt x="369189" y="109523"/>
                </a:lnTo>
                <a:lnTo>
                  <a:pt x="452416" y="68480"/>
                </a:lnTo>
                <a:lnTo>
                  <a:pt x="572139" y="157521"/>
                </a:lnTo>
                <a:lnTo>
                  <a:pt x="647365" y="142557"/>
                </a:lnTo>
                <a:close/>
              </a:path>
            </a:pathLst>
          </a:custGeom>
          <a:solidFill xmlns:a="http://schemas.openxmlformats.org/drawingml/2006/main">
            <a:srgbClr val="C6E4D7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B4FA9B0-0E8A-4E79-92DA-DF3E2C505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0251" y="2998851"/>
            <a:ext cx="955548" cy="9555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8F9F6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1C7FD29-C242-4E7C-BDD7-F0D52A8AE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2037" y="3187065"/>
            <a:ext cx="1331976" cy="579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Schema</a:t>
            </a:r>
          </a:p>
          <a:p xmlns:a="http://schemas.openxmlformats.org/drawingml/2006/main">
            <a:pPr algn="ctr">
              <a:defRPr sz="172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数据结构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5E85E64-BF68-4654-93CA-2E1F8BCF8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2752725"/>
            <a:ext cx="1447800" cy="1447800"/>
          </a:xfrm>
          <a:custGeom xmlns:a="http://schemas.openxmlformats.org/drawingml/2006/main">
            <a:pathLst>
              <a:path w="1447800" h="1447800">
                <a:moveTo>
                  <a:pt x="723900" y="14478"/>
                </a:moveTo>
                <a:lnTo>
                  <a:pt x="816498" y="20547"/>
                </a:lnTo>
                <a:lnTo>
                  <a:pt x="875661" y="157521"/>
                </a:lnTo>
                <a:lnTo>
                  <a:pt x="948290" y="182175"/>
                </a:lnTo>
                <a:lnTo>
                  <a:pt x="1078611" y="109523"/>
                </a:lnTo>
                <a:lnTo>
                  <a:pt x="1155769" y="161078"/>
                </a:lnTo>
                <a:lnTo>
                  <a:pt x="1138518" y="309282"/>
                </a:lnTo>
                <a:lnTo>
                  <a:pt x="1189090" y="366947"/>
                </a:lnTo>
                <a:lnTo>
                  <a:pt x="1338277" y="369189"/>
                </a:lnTo>
                <a:lnTo>
                  <a:pt x="1379320" y="452416"/>
                </a:lnTo>
                <a:lnTo>
                  <a:pt x="1290279" y="572139"/>
                </a:lnTo>
                <a:lnTo>
                  <a:pt x="1305243" y="647365"/>
                </a:lnTo>
                <a:lnTo>
                  <a:pt x="1433322" y="723900"/>
                </a:lnTo>
                <a:lnTo>
                  <a:pt x="1427253" y="816498"/>
                </a:lnTo>
                <a:lnTo>
                  <a:pt x="1290279" y="875661"/>
                </a:lnTo>
                <a:lnTo>
                  <a:pt x="1265625" y="948290"/>
                </a:lnTo>
                <a:lnTo>
                  <a:pt x="1338277" y="1078611"/>
                </a:lnTo>
                <a:lnTo>
                  <a:pt x="1286722" y="1155769"/>
                </a:lnTo>
                <a:lnTo>
                  <a:pt x="1138518" y="1138518"/>
                </a:lnTo>
                <a:lnTo>
                  <a:pt x="1080853" y="1189090"/>
                </a:lnTo>
                <a:lnTo>
                  <a:pt x="1078611" y="1338277"/>
                </a:lnTo>
                <a:lnTo>
                  <a:pt x="995384" y="1379320"/>
                </a:lnTo>
                <a:lnTo>
                  <a:pt x="875661" y="1290279"/>
                </a:lnTo>
                <a:lnTo>
                  <a:pt x="800435" y="1305243"/>
                </a:lnTo>
                <a:lnTo>
                  <a:pt x="723900" y="1433322"/>
                </a:lnTo>
                <a:lnTo>
                  <a:pt x="631302" y="1427253"/>
                </a:lnTo>
                <a:lnTo>
                  <a:pt x="572139" y="1290279"/>
                </a:lnTo>
                <a:lnTo>
                  <a:pt x="499510" y="1265625"/>
                </a:lnTo>
                <a:lnTo>
                  <a:pt x="369189" y="1338277"/>
                </a:lnTo>
                <a:lnTo>
                  <a:pt x="292031" y="1286722"/>
                </a:lnTo>
                <a:lnTo>
                  <a:pt x="309282" y="1138518"/>
                </a:lnTo>
                <a:lnTo>
                  <a:pt x="258710" y="1080853"/>
                </a:lnTo>
                <a:lnTo>
                  <a:pt x="109523" y="1078611"/>
                </a:lnTo>
                <a:lnTo>
                  <a:pt x="68480" y="995384"/>
                </a:lnTo>
                <a:lnTo>
                  <a:pt x="157521" y="875661"/>
                </a:lnTo>
                <a:lnTo>
                  <a:pt x="142557" y="800435"/>
                </a:lnTo>
                <a:lnTo>
                  <a:pt x="14478" y="723900"/>
                </a:lnTo>
                <a:lnTo>
                  <a:pt x="20547" y="631302"/>
                </a:lnTo>
                <a:lnTo>
                  <a:pt x="157521" y="572139"/>
                </a:lnTo>
                <a:lnTo>
                  <a:pt x="182175" y="499510"/>
                </a:lnTo>
                <a:lnTo>
                  <a:pt x="109523" y="369189"/>
                </a:lnTo>
                <a:lnTo>
                  <a:pt x="161078" y="292031"/>
                </a:lnTo>
                <a:lnTo>
                  <a:pt x="309282" y="309282"/>
                </a:lnTo>
                <a:lnTo>
                  <a:pt x="366947" y="258710"/>
                </a:lnTo>
                <a:lnTo>
                  <a:pt x="369189" y="109523"/>
                </a:lnTo>
                <a:lnTo>
                  <a:pt x="452416" y="68480"/>
                </a:lnTo>
                <a:lnTo>
                  <a:pt x="572139" y="157521"/>
                </a:lnTo>
                <a:lnTo>
                  <a:pt x="647365" y="142557"/>
                </a:lnTo>
                <a:close/>
              </a:path>
            </a:pathLst>
          </a:custGeom>
          <a:solidFill xmlns:a="http://schemas.openxmlformats.org/drawingml/2006/main">
            <a:srgbClr val="C6E4D7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B334429-91E7-4201-9AEF-11218715A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9651" y="2998851"/>
            <a:ext cx="955548" cy="9555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8F9F6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8253836-EFCC-4FDF-BCB2-D092D58F7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1437" y="3187065"/>
            <a:ext cx="1331976" cy="579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Workflow</a:t>
            </a:r>
          </a:p>
          <a:p xmlns:a="http://schemas.openxmlformats.org/drawingml/2006/main">
            <a:pPr algn="ctr">
              <a:defRPr sz="172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流程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BDE0F89-A1C6-47CB-8F71-7396DABB3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286250"/>
            <a:ext cx="1447800" cy="1447800"/>
          </a:xfrm>
          <a:custGeom xmlns:a="http://schemas.openxmlformats.org/drawingml/2006/main">
            <a:pathLst>
              <a:path w="1447800" h="1447800">
                <a:moveTo>
                  <a:pt x="723900" y="14478"/>
                </a:moveTo>
                <a:lnTo>
                  <a:pt x="816498" y="20547"/>
                </a:lnTo>
                <a:lnTo>
                  <a:pt x="875661" y="157521"/>
                </a:lnTo>
                <a:lnTo>
                  <a:pt x="948290" y="182175"/>
                </a:lnTo>
                <a:lnTo>
                  <a:pt x="1078611" y="109523"/>
                </a:lnTo>
                <a:lnTo>
                  <a:pt x="1155769" y="161078"/>
                </a:lnTo>
                <a:lnTo>
                  <a:pt x="1138518" y="309282"/>
                </a:lnTo>
                <a:lnTo>
                  <a:pt x="1189090" y="366947"/>
                </a:lnTo>
                <a:lnTo>
                  <a:pt x="1338277" y="369189"/>
                </a:lnTo>
                <a:lnTo>
                  <a:pt x="1379320" y="452416"/>
                </a:lnTo>
                <a:lnTo>
                  <a:pt x="1290279" y="572139"/>
                </a:lnTo>
                <a:lnTo>
                  <a:pt x="1305243" y="647365"/>
                </a:lnTo>
                <a:lnTo>
                  <a:pt x="1433322" y="723900"/>
                </a:lnTo>
                <a:lnTo>
                  <a:pt x="1427253" y="816498"/>
                </a:lnTo>
                <a:lnTo>
                  <a:pt x="1290279" y="875661"/>
                </a:lnTo>
                <a:lnTo>
                  <a:pt x="1265625" y="948290"/>
                </a:lnTo>
                <a:lnTo>
                  <a:pt x="1338277" y="1078611"/>
                </a:lnTo>
                <a:lnTo>
                  <a:pt x="1286722" y="1155769"/>
                </a:lnTo>
                <a:lnTo>
                  <a:pt x="1138518" y="1138518"/>
                </a:lnTo>
                <a:lnTo>
                  <a:pt x="1080853" y="1189090"/>
                </a:lnTo>
                <a:lnTo>
                  <a:pt x="1078611" y="1338277"/>
                </a:lnTo>
                <a:lnTo>
                  <a:pt x="995384" y="1379320"/>
                </a:lnTo>
                <a:lnTo>
                  <a:pt x="875661" y="1290279"/>
                </a:lnTo>
                <a:lnTo>
                  <a:pt x="800435" y="1305243"/>
                </a:lnTo>
                <a:lnTo>
                  <a:pt x="723900" y="1433322"/>
                </a:lnTo>
                <a:lnTo>
                  <a:pt x="631302" y="1427253"/>
                </a:lnTo>
                <a:lnTo>
                  <a:pt x="572139" y="1290279"/>
                </a:lnTo>
                <a:lnTo>
                  <a:pt x="499510" y="1265625"/>
                </a:lnTo>
                <a:lnTo>
                  <a:pt x="369189" y="1338277"/>
                </a:lnTo>
                <a:lnTo>
                  <a:pt x="292031" y="1286722"/>
                </a:lnTo>
                <a:lnTo>
                  <a:pt x="309282" y="1138518"/>
                </a:lnTo>
                <a:lnTo>
                  <a:pt x="258710" y="1080853"/>
                </a:lnTo>
                <a:lnTo>
                  <a:pt x="109523" y="1078611"/>
                </a:lnTo>
                <a:lnTo>
                  <a:pt x="68480" y="995384"/>
                </a:lnTo>
                <a:lnTo>
                  <a:pt x="157521" y="875661"/>
                </a:lnTo>
                <a:lnTo>
                  <a:pt x="142557" y="800435"/>
                </a:lnTo>
                <a:lnTo>
                  <a:pt x="14478" y="723900"/>
                </a:lnTo>
                <a:lnTo>
                  <a:pt x="20547" y="631302"/>
                </a:lnTo>
                <a:lnTo>
                  <a:pt x="157521" y="572139"/>
                </a:lnTo>
                <a:lnTo>
                  <a:pt x="182175" y="499510"/>
                </a:lnTo>
                <a:lnTo>
                  <a:pt x="109523" y="369189"/>
                </a:lnTo>
                <a:lnTo>
                  <a:pt x="161078" y="292031"/>
                </a:lnTo>
                <a:lnTo>
                  <a:pt x="309282" y="309282"/>
                </a:lnTo>
                <a:lnTo>
                  <a:pt x="366947" y="258710"/>
                </a:lnTo>
                <a:lnTo>
                  <a:pt x="369189" y="109523"/>
                </a:lnTo>
                <a:lnTo>
                  <a:pt x="452416" y="68480"/>
                </a:lnTo>
                <a:lnTo>
                  <a:pt x="572139" y="157521"/>
                </a:lnTo>
                <a:lnTo>
                  <a:pt x="647365" y="142557"/>
                </a:lnTo>
                <a:close/>
              </a:path>
            </a:pathLst>
          </a:custGeom>
          <a:solidFill xmlns:a="http://schemas.openxmlformats.org/drawingml/2006/main">
            <a:srgbClr val="C6E4D7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E3E571E-430F-41A5-9D1A-AD78B2AA4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0251" y="4532376"/>
            <a:ext cx="955548" cy="9555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8F9F6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97FEEE6-8AAB-4120-BB45-DAA159EEB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2037" y="4720590"/>
            <a:ext cx="1331976" cy="579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SOP</a:t>
            </a:r>
          </a:p>
          <a:p xmlns:a="http://schemas.openxmlformats.org/drawingml/2006/main">
            <a:pPr algn="ctr">
              <a:defRPr sz="172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工作规范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0DA1083-EE1C-406D-8A34-B44CCD420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4286250"/>
            <a:ext cx="1447800" cy="1447800"/>
          </a:xfrm>
          <a:custGeom xmlns:a="http://schemas.openxmlformats.org/drawingml/2006/main">
            <a:pathLst>
              <a:path w="1447800" h="1447800">
                <a:moveTo>
                  <a:pt x="723900" y="14478"/>
                </a:moveTo>
                <a:lnTo>
                  <a:pt x="816498" y="20547"/>
                </a:lnTo>
                <a:lnTo>
                  <a:pt x="875661" y="157521"/>
                </a:lnTo>
                <a:lnTo>
                  <a:pt x="948290" y="182175"/>
                </a:lnTo>
                <a:lnTo>
                  <a:pt x="1078611" y="109523"/>
                </a:lnTo>
                <a:lnTo>
                  <a:pt x="1155769" y="161078"/>
                </a:lnTo>
                <a:lnTo>
                  <a:pt x="1138518" y="309282"/>
                </a:lnTo>
                <a:lnTo>
                  <a:pt x="1189090" y="366947"/>
                </a:lnTo>
                <a:lnTo>
                  <a:pt x="1338277" y="369189"/>
                </a:lnTo>
                <a:lnTo>
                  <a:pt x="1379320" y="452416"/>
                </a:lnTo>
                <a:lnTo>
                  <a:pt x="1290279" y="572139"/>
                </a:lnTo>
                <a:lnTo>
                  <a:pt x="1305243" y="647365"/>
                </a:lnTo>
                <a:lnTo>
                  <a:pt x="1433322" y="723900"/>
                </a:lnTo>
                <a:lnTo>
                  <a:pt x="1427253" y="816498"/>
                </a:lnTo>
                <a:lnTo>
                  <a:pt x="1290279" y="875661"/>
                </a:lnTo>
                <a:lnTo>
                  <a:pt x="1265625" y="948290"/>
                </a:lnTo>
                <a:lnTo>
                  <a:pt x="1338277" y="1078611"/>
                </a:lnTo>
                <a:lnTo>
                  <a:pt x="1286722" y="1155769"/>
                </a:lnTo>
                <a:lnTo>
                  <a:pt x="1138518" y="1138518"/>
                </a:lnTo>
                <a:lnTo>
                  <a:pt x="1080853" y="1189090"/>
                </a:lnTo>
                <a:lnTo>
                  <a:pt x="1078611" y="1338277"/>
                </a:lnTo>
                <a:lnTo>
                  <a:pt x="995384" y="1379320"/>
                </a:lnTo>
                <a:lnTo>
                  <a:pt x="875661" y="1290279"/>
                </a:lnTo>
                <a:lnTo>
                  <a:pt x="800435" y="1305243"/>
                </a:lnTo>
                <a:lnTo>
                  <a:pt x="723900" y="1433322"/>
                </a:lnTo>
                <a:lnTo>
                  <a:pt x="631302" y="1427253"/>
                </a:lnTo>
                <a:lnTo>
                  <a:pt x="572139" y="1290279"/>
                </a:lnTo>
                <a:lnTo>
                  <a:pt x="499510" y="1265625"/>
                </a:lnTo>
                <a:lnTo>
                  <a:pt x="369189" y="1338277"/>
                </a:lnTo>
                <a:lnTo>
                  <a:pt x="292031" y="1286722"/>
                </a:lnTo>
                <a:lnTo>
                  <a:pt x="309282" y="1138518"/>
                </a:lnTo>
                <a:lnTo>
                  <a:pt x="258710" y="1080853"/>
                </a:lnTo>
                <a:lnTo>
                  <a:pt x="109523" y="1078611"/>
                </a:lnTo>
                <a:lnTo>
                  <a:pt x="68480" y="995384"/>
                </a:lnTo>
                <a:lnTo>
                  <a:pt x="157521" y="875661"/>
                </a:lnTo>
                <a:lnTo>
                  <a:pt x="142557" y="800435"/>
                </a:lnTo>
                <a:lnTo>
                  <a:pt x="14478" y="723900"/>
                </a:lnTo>
                <a:lnTo>
                  <a:pt x="20547" y="631302"/>
                </a:lnTo>
                <a:lnTo>
                  <a:pt x="157521" y="572139"/>
                </a:lnTo>
                <a:lnTo>
                  <a:pt x="182175" y="499510"/>
                </a:lnTo>
                <a:lnTo>
                  <a:pt x="109523" y="369189"/>
                </a:lnTo>
                <a:lnTo>
                  <a:pt x="161078" y="292031"/>
                </a:lnTo>
                <a:lnTo>
                  <a:pt x="309282" y="309282"/>
                </a:lnTo>
                <a:lnTo>
                  <a:pt x="366947" y="258710"/>
                </a:lnTo>
                <a:lnTo>
                  <a:pt x="369189" y="109523"/>
                </a:lnTo>
                <a:lnTo>
                  <a:pt x="452416" y="68480"/>
                </a:lnTo>
                <a:lnTo>
                  <a:pt x="572139" y="157521"/>
                </a:lnTo>
                <a:lnTo>
                  <a:pt x="647365" y="142557"/>
                </a:lnTo>
                <a:close/>
              </a:path>
            </a:pathLst>
          </a:custGeom>
          <a:solidFill xmlns:a="http://schemas.openxmlformats.org/drawingml/2006/main">
            <a:srgbClr val="C6E4D7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51B17D7-46AF-4F04-B018-7F11EB172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9651" y="4532376"/>
            <a:ext cx="955548" cy="9555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8F9F6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0F47789-2A24-4D5B-BC5D-29220281A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1437" y="4720590"/>
            <a:ext cx="1331976" cy="579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Template</a:t>
            </a:r>
          </a:p>
          <a:p xmlns:a="http://schemas.openxmlformats.org/drawingml/2006/main">
            <a:pPr algn="ctr">
              <a:defRPr sz="172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模板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CBDA444-8D14-439D-8591-3CC2C1A94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3333750"/>
            <a:ext cx="1657350" cy="1657350"/>
          </a:xfrm>
          <a:custGeom xmlns:a="http://schemas.openxmlformats.org/drawingml/2006/main">
            <a:pathLst>
              <a:path w="1657350" h="1657350">
                <a:moveTo>
                  <a:pt x="828675" y="16573"/>
                </a:moveTo>
                <a:lnTo>
                  <a:pt x="934676" y="23521"/>
                </a:lnTo>
                <a:lnTo>
                  <a:pt x="1002401" y="180320"/>
                </a:lnTo>
                <a:lnTo>
                  <a:pt x="1085542" y="208542"/>
                </a:lnTo>
                <a:lnTo>
                  <a:pt x="1234726" y="125374"/>
                </a:lnTo>
                <a:lnTo>
                  <a:pt x="1323051" y="184392"/>
                </a:lnTo>
                <a:lnTo>
                  <a:pt x="1303304" y="354046"/>
                </a:lnTo>
                <a:lnTo>
                  <a:pt x="1361195" y="420058"/>
                </a:lnTo>
                <a:lnTo>
                  <a:pt x="1531976" y="422624"/>
                </a:lnTo>
                <a:lnTo>
                  <a:pt x="1578959" y="517897"/>
                </a:lnTo>
                <a:lnTo>
                  <a:pt x="1477030" y="654949"/>
                </a:lnTo>
                <a:lnTo>
                  <a:pt x="1494159" y="741062"/>
                </a:lnTo>
                <a:lnTo>
                  <a:pt x="1640777" y="828675"/>
                </a:lnTo>
                <a:lnTo>
                  <a:pt x="1633829" y="934676"/>
                </a:lnTo>
                <a:lnTo>
                  <a:pt x="1477030" y="1002401"/>
                </a:lnTo>
                <a:lnTo>
                  <a:pt x="1448808" y="1085542"/>
                </a:lnTo>
                <a:lnTo>
                  <a:pt x="1531976" y="1234726"/>
                </a:lnTo>
                <a:lnTo>
                  <a:pt x="1472958" y="1323051"/>
                </a:lnTo>
                <a:lnTo>
                  <a:pt x="1303304" y="1303304"/>
                </a:lnTo>
                <a:lnTo>
                  <a:pt x="1237292" y="1361195"/>
                </a:lnTo>
                <a:lnTo>
                  <a:pt x="1234726" y="1531976"/>
                </a:lnTo>
                <a:lnTo>
                  <a:pt x="1139453" y="1578959"/>
                </a:lnTo>
                <a:lnTo>
                  <a:pt x="1002401" y="1477030"/>
                </a:lnTo>
                <a:lnTo>
                  <a:pt x="916288" y="1494159"/>
                </a:lnTo>
                <a:lnTo>
                  <a:pt x="828675" y="1640777"/>
                </a:lnTo>
                <a:lnTo>
                  <a:pt x="722674" y="1633829"/>
                </a:lnTo>
                <a:lnTo>
                  <a:pt x="654949" y="1477030"/>
                </a:lnTo>
                <a:lnTo>
                  <a:pt x="571808" y="1448808"/>
                </a:lnTo>
                <a:lnTo>
                  <a:pt x="422624" y="1531976"/>
                </a:lnTo>
                <a:lnTo>
                  <a:pt x="334299" y="1472958"/>
                </a:lnTo>
                <a:lnTo>
                  <a:pt x="354046" y="1303304"/>
                </a:lnTo>
                <a:lnTo>
                  <a:pt x="296155" y="1237292"/>
                </a:lnTo>
                <a:lnTo>
                  <a:pt x="125374" y="1234726"/>
                </a:lnTo>
                <a:lnTo>
                  <a:pt x="78391" y="1139453"/>
                </a:lnTo>
                <a:lnTo>
                  <a:pt x="180320" y="1002401"/>
                </a:lnTo>
                <a:lnTo>
                  <a:pt x="163191" y="916288"/>
                </a:lnTo>
                <a:lnTo>
                  <a:pt x="16573" y="828675"/>
                </a:lnTo>
                <a:lnTo>
                  <a:pt x="23521" y="722674"/>
                </a:lnTo>
                <a:lnTo>
                  <a:pt x="180320" y="654949"/>
                </a:lnTo>
                <a:lnTo>
                  <a:pt x="208542" y="571808"/>
                </a:lnTo>
                <a:lnTo>
                  <a:pt x="125374" y="422624"/>
                </a:lnTo>
                <a:lnTo>
                  <a:pt x="184392" y="334299"/>
                </a:lnTo>
                <a:lnTo>
                  <a:pt x="354046" y="354046"/>
                </a:lnTo>
                <a:lnTo>
                  <a:pt x="420058" y="296155"/>
                </a:lnTo>
                <a:lnTo>
                  <a:pt x="422624" y="125374"/>
                </a:lnTo>
                <a:lnTo>
                  <a:pt x="517897" y="78391"/>
                </a:lnTo>
                <a:lnTo>
                  <a:pt x="654949" y="180320"/>
                </a:lnTo>
                <a:lnTo>
                  <a:pt x="741062" y="163191"/>
                </a:lnTo>
                <a:close/>
              </a:path>
            </a:pathLst>
          </a:custGeom>
          <a:solidFill xmlns:a="http://schemas.openxmlformats.org/drawingml/2006/main">
            <a:srgbClr val="18775D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62A4AD9-D3D3-4479-A541-A342A6CB7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9850" y="3615500"/>
            <a:ext cx="1093851" cy="109385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8F9F6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75929D8-B451-4929-8F2F-69757B928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4394" y="3830955"/>
            <a:ext cx="1524762" cy="6629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DB</a:t>
            </a:r>
          </a:p>
          <a:p xmlns:a="http://schemas.openxmlformats.org/drawingml/2006/main">
            <a:pPr algn="ctr">
              <a:defRPr sz="172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业务记录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084665D-7A6A-44DD-B91E-28394FF1C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5924550"/>
            <a:ext cx="56007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查记录、补缺项、发行文件、保存关联、追踪付款</a:t>
            </a:r>
          </a:p>
        </p:txBody>
      </p:sp>
    </p:spTree>
    <p:extLst>
      <p:ext uri="{BB962C8B-B14F-4D97-AF65-F5344CB8AC3E}">
        <p14:creationId xmlns:p14="http://schemas.microsoft.com/office/powerpoint/2010/main" val="205908225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9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0D43CDD-2123-426C-92B2-58ED9E515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文件与业务记录，延续到付款之后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219BB09-7DBE-4AE5-8A98-F426245CA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00800"/>
            <a:ext cx="285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rPr>
              <a:t>e by eternalgy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F59C68-51A4-4B99-8E9E-DCBC23701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72225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F04232-1C60-4C96-9DB1-29311E7A8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14550"/>
            <a:ext cx="2000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AA8A5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AA8A54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5831037-D24B-43BB-A34E-A8B60EEF3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52750"/>
            <a:ext cx="220980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9F6"/>
          </a:solidFill>
          <a:ln xmlns:a="http://schemas.openxmlformats.org/drawingml/2006/main" w="14288">
            <a:solidFill>
              <a:srgbClr val="18775D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852C7D8-3EC3-4CEF-93CB-2B24364C4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28950"/>
            <a:ext cx="20193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77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7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准备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1D8511-E70E-4C9C-AF51-07EEF81E7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10050"/>
            <a:ext cx="23050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rPr>
              <a:t>识别客户与商品</a:t>
            </a:r>
          </a:p>
          <a:p xmlns:a="http://schemas.openxmlformats.org/drawingml/2006/main">
            <a:pPr algn="l">
              <a:defRPr sz="2175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rPr>
              <a:t>检查缺项与规则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B48F5DF-E329-4019-A9E5-E7F2C03E3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114550"/>
            <a:ext cx="2000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AA8A5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AA8A54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06F0590-30F9-4319-B676-8D3218BED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952750"/>
            <a:ext cx="220980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9F6"/>
          </a:solidFill>
          <a:ln xmlns:a="http://schemas.openxmlformats.org/drawingml/2006/main" w="14288">
            <a:solidFill>
              <a:srgbClr val="18775D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9051D8A-1867-490E-80C0-914848E07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028950"/>
            <a:ext cx="20193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77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7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草稿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073E6AD-8CE5-48FA-804E-14A213495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4210050"/>
            <a:ext cx="23050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rPr>
              <a:t>核对内容与金额</a:t>
            </a:r>
          </a:p>
          <a:p xmlns:a="http://schemas.openxmlformats.org/drawingml/2006/main">
            <a:pPr algn="l">
              <a:defRPr sz="2175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rPr>
              <a:t>确认后再发行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1A74D0B-0CE2-44E3-9EC0-9AA78C06F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114550"/>
            <a:ext cx="2000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AA8A5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AA8A54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14B809D-A1C5-4EEA-9F5E-906A94F02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952750"/>
            <a:ext cx="220980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9F6"/>
          </a:solidFill>
          <a:ln xmlns:a="http://schemas.openxmlformats.org/drawingml/2006/main" w="14288">
            <a:solidFill>
              <a:srgbClr val="18775D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480CDB9-1E5F-446E-AE2B-5EDB0AE35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028950"/>
            <a:ext cx="20193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77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7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发行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9D1EC81-E578-4225-B236-AD5304EAE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10050"/>
            <a:ext cx="23050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rPr>
              <a:t>编号与历史快照</a:t>
            </a:r>
          </a:p>
          <a:p xmlns:a="http://schemas.openxmlformats.org/drawingml/2006/main">
            <a:pPr algn="l">
              <a:defRPr sz="2175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rPr>
              <a:t>PDF 与业务关联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B44B1F3-BC9F-4CBE-8BDC-8A22BA71D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114550"/>
            <a:ext cx="2000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AA8A5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AA8A54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6666A13-86B1-44DD-9CD9-3E90A3DF4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952750"/>
            <a:ext cx="220980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9F6"/>
          </a:solidFill>
          <a:ln xmlns:a="http://schemas.openxmlformats.org/drawingml/2006/main" w="14288">
            <a:solidFill>
              <a:srgbClr val="18775D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6302B0F-C709-4216-B72E-64E3FE856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028950"/>
            <a:ext cx="20193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77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7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付款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A7DC667-85E7-4210-9F55-696755D2A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4210050"/>
            <a:ext cx="23050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rPr>
              <a:t>记录分配与余额</a:t>
            </a:r>
          </a:p>
          <a:p xmlns:a="http://schemas.openxmlformats.org/drawingml/2006/main">
            <a:pPr algn="l">
              <a:defRPr sz="2175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rPr>
              <a:t>追踪应收状态</a:t>
            </a:r>
          </a:p>
        </p:txBody>
      </p:sp>
      <p:cxnSp>
        <p:nvCxnSpPr>
          <p:cNvPr id="43" name=""/>
          <p:cNvCxnSpPr>
            <a:stCxn xmlns:a="http://schemas.openxmlformats.org/drawingml/2006/main" id="5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2895600" y="3357563"/>
            <a:ext cx="6477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8775D"/>
            </a:solidFill>
            <a:tailEnd type="arrow" w="sm" len="sm"/>
          </a:ln>
        </p:spPr>
      </p:cxnSp>
      <p:cxnSp>
        <p:nvCxnSpPr>
          <p:cNvPr id="44" name=""/>
          <p:cNvCxnSpPr>
            <a:stCxn xmlns:a="http://schemas.openxmlformats.org/drawingml/2006/main" id="9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5753100" y="3357563"/>
            <a:ext cx="6477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8775D"/>
            </a:solidFill>
            <a:tailEnd type="arrow" w="sm" len="sm"/>
          </a:ln>
        </p:spPr>
      </p:cxnSp>
      <p:cxnSp>
        <p:nvCxnSpPr>
          <p:cNvPr id="45" name=""/>
          <p:cNvCxnSpPr>
            <a:stCxn xmlns:a="http://schemas.openxmlformats.org/drawingml/2006/main" id="13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>
            <a:off x="8610600" y="3357563"/>
            <a:ext cx="6477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8775D"/>
            </a:solidFill>
            <a:tailEnd type="arrow" w="sm" len="sm"/>
          </a:ln>
        </p:spPr>
      </p:cxn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086B696-90FB-4521-A551-66FECB67B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848350"/>
            <a:ext cx="105727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下一次工作，从已有记录继续</a:t>
            </a:r>
          </a:p>
        </p:txBody>
      </p:sp>
    </p:spTree>
    <p:extLst>
      <p:ext uri="{BB962C8B-B14F-4D97-AF65-F5344CB8AC3E}">
        <p14:creationId xmlns:p14="http://schemas.microsoft.com/office/powerpoint/2010/main" val="50302221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9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9F7BF52-F4F0-4501-9FCC-7FB6D36C7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Form 收集信息，e 处理后续工作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E82ABA-37AC-468D-9796-653CFF37F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00800"/>
            <a:ext cx="285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rPr>
              <a:t>e by eternalgy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A80642-CDDC-4832-BAF5-BCB8B9315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72225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A6CB7D-36AD-45E5-8F5A-4BC0E0F80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38300"/>
            <a:ext cx="10763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rPr>
              <a:t>工程报告 / 客户订单 / 问卷 / 每日打卡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FB5F89-AE4C-40E5-86E5-9516594B3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76550"/>
            <a:ext cx="2133600" cy="1657350"/>
          </a:xfrm>
          <a:prstGeom xmlns:a="http://schemas.openxmlformats.org/drawingml/2006/main" prst="flowChartDocumen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8775D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FDA39A0-12A0-42BC-B1C5-4C8B64483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52750"/>
            <a:ext cx="1943100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Form</a:t>
            </a:r>
          </a:p>
          <a:p xmlns:a="http://schemas.openxmlformats.org/drawingml/2006/main">
            <a:pPr algn="ctr">
              <a:defRPr sz="2250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收集与校验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9C78F95-1A2F-488E-ADE0-7D8227A00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876550"/>
            <a:ext cx="2133600" cy="1657350"/>
          </a:xfrm>
          <a:prstGeom xmlns:a="http://schemas.openxmlformats.org/drawingml/2006/main" prst="can">
            <a:avLst/>
          </a:prstGeom>
          <a:solidFill xmlns:a="http://schemas.openxmlformats.org/drawingml/2006/main">
            <a:srgbClr val="EAF2EB"/>
          </a:solidFill>
          <a:ln xmlns:a="http://schemas.openxmlformats.org/drawingml/2006/main" w="14288">
            <a:solidFill>
              <a:srgbClr val="18775D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91AC5E8-181B-4E10-A5F9-5250D1F4A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2952750"/>
            <a:ext cx="1943100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DB</a:t>
            </a:r>
          </a:p>
          <a:p xmlns:a="http://schemas.openxmlformats.org/drawingml/2006/main">
            <a:pPr algn="ctr">
              <a:defRPr sz="2250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保存提交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44DBBC1-3AE2-4438-81E9-33D186046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876550"/>
            <a:ext cx="2133600" cy="1657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8775D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411D568-5BAF-4F37-811F-E828F7FA4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952750"/>
            <a:ext cx="1943100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专职 AI</a:t>
            </a:r>
          </a:p>
          <a:p xmlns:a="http://schemas.openxmlformats.org/drawingml/2006/main">
            <a:pPr algn="ctr">
              <a:defRPr sz="2250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审阅与处理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68D680C-DF2C-45C1-A80D-432230C69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876550"/>
            <a:ext cx="2133600" cy="1657350"/>
          </a:xfrm>
          <a:prstGeom xmlns:a="http://schemas.openxmlformats.org/drawingml/2006/main" prst="flowChartDocumen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8775D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E9CC9CD-85FD-4C71-B831-82E00336E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952750"/>
            <a:ext cx="1943100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工作成果</a:t>
            </a:r>
          </a:p>
          <a:p xmlns:a="http://schemas.openxmlformats.org/drawingml/2006/main">
            <a:pPr algn="ctr">
              <a:defRPr sz="187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记录 / 摘要 / CSV</a:t>
            </a:r>
          </a:p>
        </p:txBody>
      </p:sp>
      <p:cxnSp>
        <p:nvCxnSpPr>
          <p:cNvPr id="29" name=""/>
          <p:cNvCxnSpPr>
            <a:stCxn xmlns:a="http://schemas.openxmlformats.org/drawingml/2006/main" id="5" idx="3"/>
            <a:endCxn xmlns:a="http://schemas.openxmlformats.org/drawingml/2006/main" id="7" idx="2"/>
          </p:cNvCxnSpPr>
          <p:nvPr/>
        </p:nvCxnSpPr>
        <p:spPr>
          <a:xfrm xmlns:a="http://schemas.openxmlformats.org/drawingml/2006/main">
            <a:off x="2819400" y="3705225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8775D"/>
            </a:solidFill>
            <a:tailEnd type="arrow" w="sm" len="sm"/>
          </a:ln>
        </p:spPr>
      </p:cxnSp>
      <p:cxnSp>
        <p:nvCxnSpPr>
          <p:cNvPr id="30" name=""/>
          <p:cNvCxnSpPr>
            <a:stCxn xmlns:a="http://schemas.openxmlformats.org/drawingml/2006/main" id="7" idx="4"/>
            <a:endCxn xmlns:a="http://schemas.openxmlformats.org/drawingml/2006/main" id="9" idx="2"/>
          </p:cNvCxnSpPr>
          <p:nvPr/>
        </p:nvCxnSpPr>
        <p:spPr>
          <a:xfrm xmlns:a="http://schemas.openxmlformats.org/drawingml/2006/main">
            <a:off x="5715000" y="3705225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8775D"/>
            </a:solidFill>
            <a:tailEnd type="arrow" w="sm" len="sm"/>
          </a:ln>
        </p:spPr>
      </p:cxnSp>
      <p:cxnSp>
        <p:nvCxnSpPr>
          <p:cNvPr id="31" name=""/>
          <p:cNvCxnSpPr>
            <a:stCxn xmlns:a="http://schemas.openxmlformats.org/drawingml/2006/main" id="9" idx="6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8610600" y="3705225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8775D"/>
            </a:solidFill>
            <a:tailEnd type="arrow" w="sm" len="sm"/>
          </a:ln>
        </p:spPr>
      </p:cxn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7F6DA68-FA52-4ACF-90B9-11DF56ABA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91175"/>
            <a:ext cx="10477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按字段绑定，关联客户、文件与下一步工作</a:t>
            </a:r>
          </a:p>
        </p:txBody>
      </p:sp>
    </p:spTree>
    <p:extLst>
      <p:ext uri="{BB962C8B-B14F-4D97-AF65-F5344CB8AC3E}">
        <p14:creationId xmlns:p14="http://schemas.microsoft.com/office/powerpoint/2010/main" val="173946854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9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7484DBB-D1E4-461A-BA4B-679FF4EB8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业务记录，让工作状态可见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6375FD-302F-40AB-9E84-692D0773B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00800"/>
            <a:ext cx="285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rPr>
              <a:t>e by eternalgy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9D3E96-3E2D-4E10-982D-6A769F92F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72225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4D7EDF-0AC1-4F66-AC4C-4FADAA7E4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62200"/>
            <a:ext cx="4572000" cy="2238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未收款项</a:t>
            </a:r>
          </a:p>
          <a:p xmlns:a="http://schemas.openxmlformats.org/drawingml/2006/main">
            <a:pPr algn="l">
              <a:defRPr sz="2700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逾期 invoice</a:t>
            </a:r>
          </a:p>
          <a:p xmlns:a="http://schemas.openxmlformats.org/drawingml/2006/main">
            <a:pPr algn="l">
              <a:defRPr sz="2700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待跟进 quotation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3B7EA2F-4F04-4FF4-87F1-C11C9B40E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095875"/>
            <a:ext cx="45720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rPr>
              <a:t>已有数据，形成业务概览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e69c48ea7834ad6"/>
          <a:stretch xmlns:a="http://schemas.openxmlformats.org/drawingml/2006/main"/>
        </p:blipFill>
        <p:spPr>
          <a:xfrm xmlns:a="http://schemas.openxmlformats.org/drawingml/2006/main">
            <a:off x="6153990" y="1724025"/>
            <a:ext cx="4751294" cy="40386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F7366AF-203A-4B45-B86F-E86779E98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1175" y="5943600"/>
            <a:ext cx="5905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rPr>
              <a:t>现有界面预览。图中金额与数量为演示数据。</a:t>
            </a:r>
          </a:p>
        </p:txBody>
      </p:sp>
    </p:spTree>
    <p:extLst>
      <p:ext uri="{BB962C8B-B14F-4D97-AF65-F5344CB8AC3E}">
        <p14:creationId xmlns:p14="http://schemas.microsoft.com/office/powerpoint/2010/main" val="183876996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9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3CA96B0-570D-4FBE-BBE0-DC76FA515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一个 Orchestrator，一组专职 AI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8C1BB7-4876-4673-94B7-8F240EBC2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00800"/>
            <a:ext cx="285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rPr>
              <a:t>e by eternalgy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EE65F8-4017-43B0-9685-BA5A39A4A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72225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76B9D3-E635-4DCE-8CFC-C7753CA38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1781175"/>
            <a:ext cx="3848100" cy="866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EB"/>
          </a:solidFill>
          <a:ln xmlns:a="http://schemas.openxmlformats.org/drawingml/2006/main" w="14288">
            <a:solidFill>
              <a:srgbClr val="18775D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0365C3-4269-48C2-B039-8E0A1CE9A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1857375"/>
            <a:ext cx="36576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Orchestrator</a:t>
            </a:r>
          </a:p>
          <a:p xmlns:a="http://schemas.openxmlformats.org/drawingml/2006/main">
            <a:pPr algn="ctr">
              <a:defRPr sz="217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需求分配与结果协调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BE1FFD-5162-4189-86DF-89420761F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096000" y="2647950"/>
            <a:ext cx="0" cy="4667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8775D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8135976-C364-4C78-8714-5C9BE22D4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409700" y="3114675"/>
            <a:ext cx="9372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8775D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8150CBF-A700-40D6-9BD2-4E41B5F6D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409700" y="3114675"/>
            <a:ext cx="0" cy="3524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8775D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A5DD55F-45A6-47C2-9D0D-5240DB2F2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09975"/>
            <a:ext cx="14478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资料</a:t>
            </a:r>
          </a:p>
          <a:p xmlns:a="http://schemas.openxmlformats.org/drawingml/2006/main">
            <a:pPr algn="ctr">
              <a:defRPr sz="217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专员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26D61AB-14A8-4122-A304-1C6B9A25A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409700" y="4591050"/>
            <a:ext cx="0" cy="228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ED9D1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2F43BF0-F75D-4238-B0FD-D1108AEAA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971800" y="3114675"/>
            <a:ext cx="0" cy="3524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8775D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9EE7151-4A91-4A2D-9F8C-3502445AD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3609975"/>
            <a:ext cx="14478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文件</a:t>
            </a:r>
          </a:p>
          <a:p xmlns:a="http://schemas.openxmlformats.org/drawingml/2006/main">
            <a:pPr algn="ctr">
              <a:defRPr sz="217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专员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4A6D47C-F071-4D60-A065-6FDBF6615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971800" y="4591050"/>
            <a:ext cx="0" cy="228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ED9D1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4535104-274C-41DF-A888-BC3BA4203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533900" y="3114675"/>
            <a:ext cx="0" cy="3524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8775D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CB4CE4C-307B-4AFD-9951-4057DBD1F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609975"/>
            <a:ext cx="14478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表单</a:t>
            </a:r>
          </a:p>
          <a:p xmlns:a="http://schemas.openxmlformats.org/drawingml/2006/main">
            <a:pPr algn="ctr">
              <a:defRPr sz="217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设计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AC037DE-D934-46A6-A089-E52E189F7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533900" y="4591050"/>
            <a:ext cx="0" cy="228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ED9D1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2C78289-CAED-45DA-AAFB-084A0209A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096000" y="3114675"/>
            <a:ext cx="0" cy="3524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8775D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DA2FD48-FC8A-4465-A0F8-48D51DD0A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3609975"/>
            <a:ext cx="14478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表单</a:t>
            </a:r>
          </a:p>
          <a:p xmlns:a="http://schemas.openxmlformats.org/drawingml/2006/main">
            <a:pPr algn="ctr">
              <a:defRPr sz="217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审阅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B3FE7D1-D17D-4AC5-8396-81F25D9A7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096000" y="4591050"/>
            <a:ext cx="0" cy="228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ED9D1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C71F544-8A88-4894-90D4-8834CA870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658100" y="3114675"/>
            <a:ext cx="0" cy="3524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8775D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11D18A3-E493-481A-BB17-7D9D63990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609975"/>
            <a:ext cx="14478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公司</a:t>
            </a:r>
          </a:p>
          <a:p xmlns:a="http://schemas.openxmlformats.org/drawingml/2006/main">
            <a:pPr algn="ctr">
              <a:defRPr sz="217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入职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DE807B1-1939-4481-9324-C583667FC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658100" y="4591050"/>
            <a:ext cx="0" cy="228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ED9D1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5F142EF-5D39-44FD-9726-F727542D7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9220200" y="3114675"/>
            <a:ext cx="0" cy="3524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8775D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9F44373-4A46-44AC-A8CC-C10ACBA12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609975"/>
            <a:ext cx="14478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模板</a:t>
            </a:r>
          </a:p>
          <a:p xmlns:a="http://schemas.openxmlformats.org/drawingml/2006/main">
            <a:pPr algn="ctr">
              <a:defRPr sz="217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设计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E41A8BC-A467-4FC5-8CD5-4677F5601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9220200" y="4591050"/>
            <a:ext cx="0" cy="228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ED9D1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64CEDE2-AF2A-4517-8765-2F7042A15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0782300" y="3114675"/>
            <a:ext cx="0" cy="3524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8775D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74312F5-CAAE-412D-B259-167EFA59A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3609975"/>
            <a:ext cx="14478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数据库</a:t>
            </a:r>
          </a:p>
          <a:p xmlns:a="http://schemas.openxmlformats.org/drawingml/2006/main">
            <a:pPr algn="ctr">
              <a:defRPr sz="217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管理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7A8EEA9-F1BC-4F0D-B9FD-4BBA830A5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0782300" y="4591050"/>
            <a:ext cx="0" cy="228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ED9D1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821933B-5A90-461D-BE13-510F50303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409700" y="4819650"/>
            <a:ext cx="9372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ED9D1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150D25D-F383-4C5B-AB00-F5073E5C7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096000" y="4819650"/>
            <a:ext cx="0" cy="285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ED9D1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8225526-9184-4F03-A684-D43991FB6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5124450"/>
            <a:ext cx="3638550" cy="685800"/>
          </a:xfrm>
          <a:prstGeom xmlns:a="http://schemas.openxmlformats.org/drawingml/2006/main" prst="can">
            <a:avLst/>
          </a:prstGeom>
          <a:solidFill xmlns:a="http://schemas.openxmlformats.org/drawingml/2006/main">
            <a:srgbClr val="F8F9F6"/>
          </a:solidFill>
          <a:ln xmlns:a="http://schemas.openxmlformats.org/drawingml/2006/main" w="14288">
            <a:solidFill>
              <a:srgbClr val="18775D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B34AF46-163D-4B74-A32A-171EFD518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5200650"/>
            <a:ext cx="3448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共同的业务记录</a:t>
            </a:r>
          </a:p>
        </p:txBody>
      </p:sp>
    </p:spTree>
    <p:extLst>
      <p:ext uri="{BB962C8B-B14F-4D97-AF65-F5344CB8AC3E}">
        <p14:creationId xmlns:p14="http://schemas.microsoft.com/office/powerpoint/2010/main" val="179303878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9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2d57fe1c175454a"/>
          <a:stretch xmlns:a="http://schemas.openxmlformats.org/drawingml/2006/main"/>
        </p:blipFill>
        <p:spPr>
          <a:xfrm xmlns:a="http://schemas.openxmlformats.org/drawingml/2006/main">
            <a:off x="3239" y="0"/>
            <a:ext cx="12185522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618B57-3680-4CB1-A53D-0C8245FB5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Stupid = Smart：细胞级 AI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EBA7C8-3239-4907-B1F8-FCF2E7986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72225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E19BCD-62A8-4C1F-8EE4-9A544ED1E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7048500" cy="1438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7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7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聪明的人，</a:t>
            </a:r>
          </a:p>
          <a:p xmlns:a="http://schemas.openxmlformats.org/drawingml/2006/main">
            <a:pPr algn="l">
              <a:defRPr sz="367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7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需要每个细胞都聪明吗？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D54045-F9CF-49D0-8A4E-1D3B793FA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52850"/>
            <a:ext cx="6477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rPr>
              <a:t>“聪明的红血球？”</a:t>
            </a:r>
          </a:p>
          <a:p xmlns:a="http://schemas.openxmlformats.org/drawingml/2006/main">
            <a:pPr algn="l">
              <a:defRPr sz="2550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rPr>
              <a:t>“聪明的大肠细胞？”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21B7D6-44A1-41C6-8084-4F0FF3C7F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743575"/>
            <a:ext cx="6572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整体的能力，来自分工与协作</a:t>
            </a:r>
          </a:p>
        </p:txBody>
      </p:sp>
    </p:spTree>
    <p:extLst>
      <p:ext uri="{BB962C8B-B14F-4D97-AF65-F5344CB8AC3E}">
        <p14:creationId xmlns:p14="http://schemas.microsoft.com/office/powerpoint/2010/main" val="2079586552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8F9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db9c129567943b3"/>
          <a:stretch xmlns:a="http://schemas.openxmlformats.org/drawingml/2006/main"/>
        </p:blipFill>
        <p:spPr>
          <a:xfrm xmlns:a="http://schemas.openxmlformats.org/drawingml/2006/main">
            <a:off x="3239" y="0"/>
            <a:ext cx="12185522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F820E2-50B0-439E-9E56-3EC94E922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细胞级 AI 的协作方式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D1908B-A50C-41D6-8374-EFA3A8E16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72225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2F93D5-4E2D-4A12-9724-1D0D954E3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466850"/>
            <a:ext cx="4667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rPr>
              <a:t>扩大一个 AI 的职责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8450CA-74A8-40C1-8183-62BFF74B0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1466850"/>
            <a:ext cx="4667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877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8775D"/>
                </a:solidFill>
                <a:latin typeface="Microsoft YaHei"/>
                <a:ea typeface="Microsoft YaHei"/>
                <a:cs typeface="Microsoft YaHei"/>
              </a:rPr>
              <a:t>e：组合细胞级 AI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077F3B-EB34-49E3-8BE0-2CA0BEC01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2895600"/>
            <a:ext cx="25717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一个 AI</a:t>
            </a:r>
          </a:p>
          <a:p xmlns:a="http://schemas.openxmlformats.org/drawingml/2006/main">
            <a:pPr algn="ctr">
              <a:defRPr sz="232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包办所有工作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89038E1-E835-4818-8E24-C490A8ECD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3075" y="3286125"/>
            <a:ext cx="762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rPr>
              <a:t>VS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D9A958B-28E9-4ABE-AD8A-C38947C91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8975" y="2152650"/>
            <a:ext cx="1047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资料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0EBCCF6-0892-4C9D-920C-F7FFA26FB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2152650"/>
            <a:ext cx="1047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模板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0C265D1-9002-4ED5-86AB-EB4797EDB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8975" y="4219575"/>
            <a:ext cx="1047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文件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DE2033D-CB7A-4065-967D-C8ED66BD9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4219575"/>
            <a:ext cx="1047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表单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C455467-2C73-47A1-B640-DEB5179D4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038475"/>
            <a:ext cx="15240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调度</a:t>
            </a:r>
          </a:p>
          <a:p xmlns:a="http://schemas.openxmlformats.org/drawingml/2006/main">
            <a:pPr algn="ctr">
              <a:defRPr sz="23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协作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5A398C4-6E02-484C-9F8D-95FE49F28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819775"/>
            <a:ext cx="4714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职责越广，验证组合越多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6A29BE9-2D35-47E4-80C6-2C2F46E11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5819775"/>
            <a:ext cx="4714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877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8775D"/>
                </a:solidFill>
                <a:latin typeface="Microsoft YaHei"/>
                <a:ea typeface="Microsoft YaHei"/>
                <a:cs typeface="Microsoft YaHei"/>
              </a:rPr>
              <a:t>明确任务、SOP、权限与测试</a:t>
            </a:r>
          </a:p>
        </p:txBody>
      </p:sp>
    </p:spTree>
    <p:extLst>
      <p:ext uri="{BB962C8B-B14F-4D97-AF65-F5344CB8AC3E}">
        <p14:creationId xmlns:p14="http://schemas.microsoft.com/office/powerpoint/2010/main" val="1747766257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8F9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774BB36-0AD4-4584-BDAD-46E5CF401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可靠性，来自可检查的边界设计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4361E9-CC67-4D18-B478-5CCA536D1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00800"/>
            <a:ext cx="285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rPr>
              <a:t>e by eternalgy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9511EF-AC01-4200-97EB-FBC081CD1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72225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rPr>
              <a:t>14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20D1CE-1799-4BEA-8C4C-4D104B25E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62150"/>
            <a:ext cx="21431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877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8775D"/>
                </a:solidFill>
                <a:latin typeface="Microsoft YaHei"/>
                <a:ea typeface="Microsoft YaHei"/>
                <a:cs typeface="Microsoft YaHei"/>
              </a:rPr>
              <a:t>任务范围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E52130-07D1-406B-8D12-311A52148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1962150"/>
            <a:ext cx="8096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每位专员只使用获授权的工具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46D23EA-1FAE-4C2A-A9CA-FD954480C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552700"/>
            <a:ext cx="80962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rPr>
              <a:t>越权请求，由系统拒绝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61BC8D-9722-4EFD-9B5E-F51306195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86100"/>
            <a:ext cx="10782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ED9D1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012D41B-86AC-4FD3-BCB4-5EBFBEBF1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05175"/>
            <a:ext cx="21431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877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8775D"/>
                </a:solidFill>
                <a:latin typeface="Microsoft YaHei"/>
                <a:ea typeface="Microsoft YaHei"/>
                <a:cs typeface="Microsoft YaHei"/>
              </a:rPr>
              <a:t>发行规则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37AC238-AA4B-4DE7-83C0-17D8DAA06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305175"/>
            <a:ext cx="8096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发行前检查必填信息与公司规则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778B506-EFA8-4364-A4B9-7E62F2170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895725"/>
            <a:ext cx="80962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rPr>
              <a:t>资料未补齐，不能发行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BD69646-28BF-4AF2-8AC1-B7A7A0465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29125"/>
            <a:ext cx="10782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ED9D1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8EFF6DD-25FD-4856-A18F-EAB431E27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48200"/>
            <a:ext cx="21431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877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8775D"/>
                </a:solidFill>
                <a:latin typeface="Microsoft YaHei"/>
                <a:ea typeface="Microsoft YaHei"/>
                <a:cs typeface="Microsoft YaHei"/>
              </a:rPr>
              <a:t>记录约束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8FD294D-8291-4850-A368-D098EC5DC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4648200"/>
            <a:ext cx="8096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发行后冻结内容，并保存历史快照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6A20BE6-C8C6-49B3-8626-39ACD32CF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5238750"/>
            <a:ext cx="80962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rPr>
              <a:t>后续修改，不改写旧文件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5A4E9F1-BE48-4A2B-8290-EDBF8CEAD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00750"/>
            <a:ext cx="10763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rPr>
              <a:t>单元测试、调度与集成验证，共同检验整体交付</a:t>
            </a:r>
          </a:p>
        </p:txBody>
      </p:sp>
    </p:spTree>
    <p:extLst>
      <p:ext uri="{BB962C8B-B14F-4D97-AF65-F5344CB8AC3E}">
        <p14:creationId xmlns:p14="http://schemas.microsoft.com/office/powerpoint/2010/main" val="2053970898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8F9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6872BBD-11CB-4B64-BF4A-B7EF18BEE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Document Intelligence 是当前切入点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358FFA-AECA-4BC4-B7EF-9449BC394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00800"/>
            <a:ext cx="285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rPr>
              <a:t>e by eternalgy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3844CC-2978-46ED-A5D9-550EF3E4D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72225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rPr>
              <a:t>15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F81409-9E53-45C8-8915-F0AFA17CB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19300"/>
            <a:ext cx="4953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877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925" b="1">
                <a:solidFill>
                  <a:srgbClr val="18775D"/>
                </a:solidFill>
                <a:latin typeface="Microsoft YaHei"/>
                <a:ea typeface="Microsoft YaHei"/>
                <a:cs typeface="Microsoft YaHei"/>
              </a:rPr>
              <a:t>现有 MVP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E07568-DC57-46C5-952D-B914AB0D2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24200"/>
            <a:ext cx="51435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0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客户与商品记录</a:t>
            </a:r>
          </a:p>
          <a:p xmlns:a="http://schemas.openxmlformats.org/drawingml/2006/main">
            <a:pPr algn="l">
              <a:defRPr sz="2325" b="0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Quotation、invoice 与付款流程</a:t>
            </a:r>
          </a:p>
          <a:p xmlns:a="http://schemas.openxmlformats.org/drawingml/2006/main">
            <a:pPr algn="l">
              <a:defRPr sz="2325" b="0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表单、模板与业务概览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9159BF0-0147-4D68-A14B-978301BC3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019300"/>
            <a:ext cx="4667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877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925" b="1">
                <a:solidFill>
                  <a:srgbClr val="18775D"/>
                </a:solidFill>
                <a:latin typeface="Microsoft YaHei"/>
                <a:ea typeface="Microsoft YaHei"/>
                <a:cs typeface="Microsoft YaHei"/>
              </a:rPr>
              <a:t>产品方向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AF625B8-A56F-43E2-B1BA-FFF7A97B0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124200"/>
            <a:ext cx="48196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0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多人账号与团队权限</a:t>
            </a:r>
          </a:p>
          <a:p xmlns:a="http://schemas.openxmlformats.org/drawingml/2006/main">
            <a:pPr algn="l">
              <a:defRPr sz="2325" b="0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更自动化的资料 onboarding</a:t>
            </a:r>
          </a:p>
          <a:p xmlns:a="http://schemas.openxmlformats.org/drawingml/2006/main">
            <a:pPr algn="l">
              <a:defRPr sz="2325" b="0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更多可验证的业务流程与分析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63700EF-987F-4962-B003-B425B5C03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086475" y="2085975"/>
            <a:ext cx="0" cy="3276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ED9D1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F17DA83-C7A6-4F52-AAA9-14E15B6E8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895975"/>
            <a:ext cx="1076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rPr>
              <a:t>当前 host：单一操作员、默认公司。MyInvois 尚未整合提交。</a:t>
            </a:r>
          </a:p>
        </p:txBody>
      </p:sp>
    </p:spTree>
    <p:extLst>
      <p:ext uri="{BB962C8B-B14F-4D97-AF65-F5344CB8AC3E}">
        <p14:creationId xmlns:p14="http://schemas.microsoft.com/office/powerpoint/2010/main" val="1968365261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8F9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A8860E8-86CD-47E1-8CAE-45DB71CD1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客户试点，以一条真实流程开始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735A2E-F972-4AC1-84CD-14438F029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00800"/>
            <a:ext cx="285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rPr>
              <a:t>e by eternalgy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31EE7F-9862-47E7-A488-68A02C3C8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72225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rPr>
              <a:t>16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4CF10A-3B6A-476D-9A42-8FCD6D72C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43100"/>
            <a:ext cx="8953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0">
                <a:solidFill>
                  <a:srgbClr val="AA8A5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0">
                <a:solidFill>
                  <a:srgbClr val="AA8A54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08062F-819C-4F0E-80B6-CE5F63201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1943100"/>
            <a:ext cx="34480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7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选流程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1E8318-58B1-4FBE-9E95-FE1591B59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981200"/>
            <a:ext cx="5086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rPr>
              <a:t>开票，或表单采集与处理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D1F7872-2495-4619-B88D-A622D33F3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2714625"/>
            <a:ext cx="94392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ED9D1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A31DC84-4685-4F8E-99FD-F2E553DF1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81325"/>
            <a:ext cx="8953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0">
                <a:solidFill>
                  <a:srgbClr val="AA8A5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0">
                <a:solidFill>
                  <a:srgbClr val="AA8A54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879DBE-7F45-49B0-BFBC-A37CB510C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2981325"/>
            <a:ext cx="34480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7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用资料配置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24FF7D5-245A-4C64-8733-F4ABC9256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019425"/>
            <a:ext cx="5086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rPr>
              <a:t>旧文件、规则与客户记录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7B639CE-EE66-4E5C-80FC-A4DCAB274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3752850"/>
            <a:ext cx="94392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ED9D1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AA86025-F17A-46DA-AC59-C400A31E2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19550"/>
            <a:ext cx="8953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0">
                <a:solidFill>
                  <a:srgbClr val="AA8A5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0">
                <a:solidFill>
                  <a:srgbClr val="AA8A54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4B10FD8-E431-4413-9CDE-E00CDCEFB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4019550"/>
            <a:ext cx="34480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7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运行真实工作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71AE0BA-8B6B-41A9-B032-657A54EBF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057650"/>
            <a:ext cx="5086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rPr>
              <a:t>确认输入，检查交付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0B4BB08-3E0B-4A74-869E-D56B9D2A8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4791075"/>
            <a:ext cx="94392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ED9D1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0A8C1C1-C76B-4367-8B81-EA954D06C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057775"/>
            <a:ext cx="8953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0">
                <a:solidFill>
                  <a:srgbClr val="AA8A5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0">
                <a:solidFill>
                  <a:srgbClr val="AA8A54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2B0C202-E02C-48A0-AD3A-209706BF6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5057775"/>
            <a:ext cx="34480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7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对照指标验收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0EF391B-F646-4E6B-81F5-8ED931983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5095875"/>
            <a:ext cx="5086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rPr>
              <a:t>时间、返工与数据完整性</a:t>
            </a:r>
          </a:p>
        </p:txBody>
      </p:sp>
    </p:spTree>
    <p:extLst>
      <p:ext uri="{BB962C8B-B14F-4D97-AF65-F5344CB8AC3E}">
        <p14:creationId xmlns:p14="http://schemas.microsoft.com/office/powerpoint/2010/main" val="1675002192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8F9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75FAB27-E3FE-4132-9B85-B8E2C8BA4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投资验证：门槛降低能否带来付费使用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F3607B-E899-4905-8E49-1E2AFCB30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00800"/>
            <a:ext cx="285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rPr>
              <a:t>e by eternalgy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2A2926-74E4-4C9D-81FE-385B13815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72225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rPr>
              <a:t>17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02D1B3-7230-4491-9B74-F63969700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47850"/>
            <a:ext cx="10668000" cy="1400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7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7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以重复文件工作切入，</a:t>
            </a:r>
          </a:p>
          <a:p xmlns:a="http://schemas.openxmlformats.org/drawingml/2006/main">
            <a:pPr algn="l">
              <a:defRPr sz="367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7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围绕公司上下文扩展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004F3B-0B6C-4DB2-A795-3B0DC1997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43325"/>
            <a:ext cx="4857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1877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18775D"/>
                </a:solidFill>
                <a:latin typeface="Microsoft YaHei"/>
                <a:ea typeface="Microsoft YaHei"/>
                <a:cs typeface="Microsoft YaHei"/>
              </a:rPr>
              <a:t>配置成本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C6DA45-A252-4118-9A82-AC8CD01B0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43400"/>
            <a:ext cx="4857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rPr>
              <a:t>能否更快进入实际工作？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A79998-145F-41F7-BA69-00DF9C9F1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743325"/>
            <a:ext cx="4857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1877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18775D"/>
                </a:solidFill>
                <a:latin typeface="Microsoft YaHei"/>
                <a:ea typeface="Microsoft YaHei"/>
                <a:cs typeface="Microsoft YaHei"/>
              </a:rPr>
              <a:t>任务可靠性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908021C-00CB-4635-97D5-8EA92FBDB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343400"/>
            <a:ext cx="4857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rPr>
              <a:t>能否持续交付可检查的结果？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0127DBA-9FD8-4913-AD33-1B3B9F545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086350"/>
            <a:ext cx="4857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1877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18775D"/>
                </a:solidFill>
                <a:latin typeface="Microsoft YaHei"/>
                <a:ea typeface="Microsoft YaHei"/>
                <a:cs typeface="Microsoft YaHei"/>
              </a:rPr>
              <a:t>持续使用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B9143FA-F435-43AC-BBB0-1B547666F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686425"/>
            <a:ext cx="4857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rPr>
              <a:t>是否成为重复工作的习惯？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7A25804-A9F2-49DF-8CCE-97C49F9EA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5086350"/>
            <a:ext cx="4857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1877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18775D"/>
                </a:solidFill>
                <a:latin typeface="Microsoft YaHei"/>
                <a:ea typeface="Microsoft YaHei"/>
                <a:cs typeface="Microsoft YaHei"/>
              </a:rPr>
              <a:t>付费意愿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72A2B7C-257A-425D-B22E-1B0755DA9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5686425"/>
            <a:ext cx="4857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rPr>
              <a:t>价值是否足以支持商业化？</a:t>
            </a:r>
          </a:p>
        </p:txBody>
      </p:sp>
    </p:spTree>
    <p:extLst>
      <p:ext uri="{BB962C8B-B14F-4D97-AF65-F5344CB8AC3E}">
        <p14:creationId xmlns:p14="http://schemas.microsoft.com/office/powerpoint/2010/main" val="1592652559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8F9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1A6DC9-353D-41EA-AD4C-22AA4B2B5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62000"/>
            <a:ext cx="7429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e by eternalgy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C26FC4-8BA6-49CF-A82B-8150F7BC3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19325"/>
            <a:ext cx="1057275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5850" b="1">
                <a:solidFill>
                  <a:srgbClr val="1877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850" b="1">
                <a:solidFill>
                  <a:srgbClr val="18775D"/>
                </a:solidFill>
                <a:latin typeface="Microsoft YaHei"/>
                <a:ea typeface="Microsoft YaHei"/>
                <a:cs typeface="Microsoft YaHei"/>
              </a:rPr>
              <a:t>Let it know,</a:t>
            </a:r>
          </a:p>
          <a:p xmlns:a="http://schemas.openxmlformats.org/drawingml/2006/main">
            <a:pPr algn="l">
              <a:defRPr sz="5850" b="1">
                <a:solidFill>
                  <a:srgbClr val="1877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850" b="1">
                <a:solidFill>
                  <a:srgbClr val="18775D"/>
                </a:solidFill>
                <a:latin typeface="Microsoft YaHei"/>
                <a:ea typeface="Microsoft YaHei"/>
                <a:cs typeface="Microsoft YaHei"/>
              </a:rPr>
              <a:t>Let it Work.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DB349C-B060-4971-BEE8-28D164166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76850"/>
            <a:ext cx="9525000" cy="1038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0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客户：带一条真实工作流程来试点</a:t>
            </a:r>
          </a:p>
          <a:p xmlns:a="http://schemas.openxmlformats.org/drawingml/2006/main">
            <a:pPr algn="l">
              <a:defRPr sz="2325" b="0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投资者：共同验证团队 AI 的产品路径</a:t>
            </a:r>
          </a:p>
        </p:txBody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6f4d05bc3174ecb"/>
          <a:stretch xmlns:a="http://schemas.openxmlformats.org/drawingml/2006/main"/>
        </p:blipFill>
        <p:spPr>
          <a:xfrm xmlns:a="http://schemas.openxmlformats.org/drawingml/2006/main">
            <a:off x="9753600" y="4629150"/>
            <a:ext cx="1619250" cy="16192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0377850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8F9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F201156-43E5-41D5-AF93-A15DB85A0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资料与产品边界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16B97B-DB43-4ED8-886C-AB1397817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00800"/>
            <a:ext cx="285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rPr>
              <a:t>e by eternalgy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968133-D110-4BA6-9E19-725EB512B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72225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rPr>
              <a:t>19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64FC02-7287-49A1-A44D-B83DB400C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28825"/>
            <a:ext cx="22288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877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8775D"/>
                </a:solidFill>
                <a:latin typeface="Microsoft YaHei"/>
                <a:ea typeface="Microsoft YaHei"/>
                <a:cs typeface="Microsoft YaHei"/>
              </a:rPr>
              <a:t>产品定位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1B97F5A-94DF-4D24-9F48-6B3C5CEA6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028825"/>
            <a:ext cx="80962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创始人提供的六个核心理念与团队 AI 方向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6DD98F-3882-4B73-962A-3F86A4BAF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33725"/>
            <a:ext cx="10782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ED9D1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8EB8714-76F8-4243-9E41-281AF0B15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81375"/>
            <a:ext cx="22288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877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8775D"/>
                </a:solidFill>
                <a:latin typeface="Microsoft YaHei"/>
                <a:ea typeface="Microsoft YaHei"/>
                <a:cs typeface="Microsoft YaHei"/>
              </a:rPr>
              <a:t>实现依据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7B7019A-0C1B-408E-95EC-64D6257CB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381375"/>
            <a:ext cx="80962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README.md / ONBOARDING.md / host.mjs</a:t>
            </a:r>
          </a:p>
          <a:p xmlns:a="http://schemas.openxmlformats.org/drawingml/2006/main">
            <a:pPr algn="l">
              <a:defRPr sz="2025" b="0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core/tools.mjs / documents.mjs / forms.mjs / dashboard.mjs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BFB8E97-7370-4D5F-A250-36C9475DC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86275"/>
            <a:ext cx="10782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ED9D1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3E15560-4E2C-465B-8299-D33F88CB5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33925"/>
            <a:ext cx="22288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877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8775D"/>
                </a:solidFill>
                <a:latin typeface="Microsoft YaHei"/>
                <a:ea typeface="Microsoft YaHei"/>
                <a:cs typeface="Microsoft YaHei"/>
              </a:rPr>
              <a:t>证据边界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9C300B3-B140-4129-974B-B5795FAD7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4733925"/>
            <a:ext cx="80962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代码与预览支持功能说明，不代表部署验收或客户业绩</a:t>
            </a:r>
          </a:p>
          <a:p xmlns:a="http://schemas.openxmlformats.org/drawingml/2006/main">
            <a:pPr algn="l">
              <a:defRPr sz="2025" b="0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可靠性、使用与商业指标，需要在真实试点中验证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1F52B5A-9BB1-4ACA-8491-CBCD4FA44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57900"/>
            <a:ext cx="1057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rPr>
              <a:t>资料日期：2026-10-01</a:t>
            </a:r>
          </a:p>
        </p:txBody>
      </p:sp>
    </p:spTree>
    <p:extLst>
      <p:ext uri="{BB962C8B-B14F-4D97-AF65-F5344CB8AC3E}">
        <p14:creationId xmlns:p14="http://schemas.microsoft.com/office/powerpoint/2010/main" val="101046227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2026-10-01T08:40:46.0680000Z</dcterms:created>
  <dcterms:modified xsi:type="dcterms:W3CDTF">2026-10-01T08:40:46.0690000Z</dcterms:modified>
</coreProperties>
</file>