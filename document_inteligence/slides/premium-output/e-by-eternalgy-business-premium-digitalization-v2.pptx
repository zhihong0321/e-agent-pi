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c3ebcf2eef4420" /><Relationship Type="http://schemas.openxmlformats.org/officeDocument/2006/relationships/extended-properties" Target="/docProps/app.xml" Id="R2cf944d45fd74430" /><Relationship Type="http://schemas.openxmlformats.org/officeDocument/2006/relationships/officeDocument" Target="/ppt/presentation.xml" Id="R8876fc7380e049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7509ee5ae245f1"/>
  </p:sldMasterIdLst>
  <p:notesMasterIdLst>
    <p:notesMasterId xmlns:r="http://schemas.openxmlformats.org/officeDocument/2006/relationships" r:id="R0183ffde80274faf"/>
  </p:notesMasterIdLst>
  <p:sldIdLst>
    <p:sldId xmlns:r="http://schemas.openxmlformats.org/officeDocument/2006/relationships" id="256" r:id="R6b23010f623b4b8e"/>
    <p:sldId xmlns:r="http://schemas.openxmlformats.org/officeDocument/2006/relationships" id="257" r:id="R1b2708b161a04ece"/>
    <p:sldId xmlns:r="http://schemas.openxmlformats.org/officeDocument/2006/relationships" id="258" r:id="R7fba34d737464c58"/>
    <p:sldId xmlns:r="http://schemas.openxmlformats.org/officeDocument/2006/relationships" id="259" r:id="R24c5a54f108a4d45"/>
    <p:sldId xmlns:r="http://schemas.openxmlformats.org/officeDocument/2006/relationships" id="260" r:id="Rb1599b483a1a4613"/>
    <p:sldId xmlns:r="http://schemas.openxmlformats.org/officeDocument/2006/relationships" id="261" r:id="R605a44f6235e42b0"/>
    <p:sldId xmlns:r="http://schemas.openxmlformats.org/officeDocument/2006/relationships" id="262" r:id="R09e7466d9edd425b"/>
    <p:sldId xmlns:r="http://schemas.openxmlformats.org/officeDocument/2006/relationships" id="263" r:id="R8e7a5ac7528041dc"/>
    <p:sldId xmlns:r="http://schemas.openxmlformats.org/officeDocument/2006/relationships" id="264" r:id="R615039c450d2405e"/>
    <p:sldId xmlns:r="http://schemas.openxmlformats.org/officeDocument/2006/relationships" id="265" r:id="R3c85605c9b714e1b"/>
    <p:sldId xmlns:r="http://schemas.openxmlformats.org/officeDocument/2006/relationships" id="266" r:id="R53e93a97ae2e47c6"/>
    <p:sldId xmlns:r="http://schemas.openxmlformats.org/officeDocument/2006/relationships" id="267" r:id="R38ed9c8fbcd84336"/>
    <p:sldId xmlns:r="http://schemas.openxmlformats.org/officeDocument/2006/relationships" id="268" r:id="R807000d3bf0a454c"/>
    <p:sldId xmlns:r="http://schemas.openxmlformats.org/officeDocument/2006/relationships" id="269" r:id="R2be24635b213499e"/>
    <p:sldId xmlns:r="http://schemas.openxmlformats.org/officeDocument/2006/relationships" id="270" r:id="R3a772368582b40ee"/>
    <p:sldId xmlns:r="http://schemas.openxmlformats.org/officeDocument/2006/relationships" id="271" r:id="R325bf1f33fb440b6"/>
    <p:sldId xmlns:r="http://schemas.openxmlformats.org/officeDocument/2006/relationships" id="272" r:id="R87f40366dc014176"/>
    <p:sldId xmlns:r="http://schemas.openxmlformats.org/officeDocument/2006/relationships" id="273" r:id="R8eff99efd31b4eb9"/>
    <p:sldId xmlns:r="http://schemas.openxmlformats.org/officeDocument/2006/relationships" id="274" r:id="Re1e22ecf907c4291"/>
    <p:sldId xmlns:r="http://schemas.openxmlformats.org/officeDocument/2006/relationships" id="275" r:id="R84be0390941e4dfb"/>
    <p:sldId xmlns:r="http://schemas.openxmlformats.org/officeDocument/2006/relationships" id="276" r:id="R26779e1f83b64211"/>
    <p:sldId xmlns:r="http://schemas.openxmlformats.org/officeDocument/2006/relationships" id="277" r:id="R9e16e2f4798c47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a6c6b6e7c94ef4" /><Relationship Type="http://schemas.openxmlformats.org/officeDocument/2006/relationships/slideMaster" Target="/ppt/slideMasters/slideMaster1.xml" Id="R3e7509ee5ae245f1" /><Relationship Type="http://schemas.openxmlformats.org/officeDocument/2006/relationships/notesMaster" Target="/ppt/notesMasters/notesMaster1.xml" Id="R0183ffde80274faf" /><Relationship Type="http://schemas.openxmlformats.org/officeDocument/2006/relationships/presProps" Target="/ppt/presProps.xml" Id="R7ef62b4213c34aa8" /><Relationship Type="http://schemas.openxmlformats.org/officeDocument/2006/relationships/tableStyles" Target="/ppt/tableStyles.xml" Id="Rfa48ab1b30a747e7" /><Relationship Type="http://schemas.openxmlformats.org/officeDocument/2006/relationships/slide" Target="/ppt/slides/slide1.xml" Id="R6b23010f623b4b8e" /><Relationship Type="http://schemas.openxmlformats.org/officeDocument/2006/relationships/slide" Target="/ppt/slides/slide2.xml" Id="R1b2708b161a04ece" /><Relationship Type="http://schemas.openxmlformats.org/officeDocument/2006/relationships/slide" Target="/ppt/slides/slide3.xml" Id="R7fba34d737464c58" /><Relationship Type="http://schemas.openxmlformats.org/officeDocument/2006/relationships/slide" Target="/ppt/slides/slide4.xml" Id="R24c5a54f108a4d45" /><Relationship Type="http://schemas.openxmlformats.org/officeDocument/2006/relationships/slide" Target="/ppt/slides/slide5.xml" Id="Rb1599b483a1a4613" /><Relationship Type="http://schemas.openxmlformats.org/officeDocument/2006/relationships/slide" Target="/ppt/slides/slide6.xml" Id="R605a44f6235e42b0" /><Relationship Type="http://schemas.openxmlformats.org/officeDocument/2006/relationships/slide" Target="/ppt/slides/slide7.xml" Id="R09e7466d9edd425b" /><Relationship Type="http://schemas.openxmlformats.org/officeDocument/2006/relationships/slide" Target="/ppt/slides/slide8.xml" Id="R8e7a5ac7528041dc" /><Relationship Type="http://schemas.openxmlformats.org/officeDocument/2006/relationships/slide" Target="/ppt/slides/slide9.xml" Id="R615039c450d2405e" /><Relationship Type="http://schemas.openxmlformats.org/officeDocument/2006/relationships/slide" Target="/ppt/slides/slide10.xml" Id="R3c85605c9b714e1b" /><Relationship Type="http://schemas.openxmlformats.org/officeDocument/2006/relationships/slide" Target="/ppt/slides/slide11.xml" Id="R53e93a97ae2e47c6" /><Relationship Type="http://schemas.openxmlformats.org/officeDocument/2006/relationships/slide" Target="/ppt/slides/slide12.xml" Id="R38ed9c8fbcd84336" /><Relationship Type="http://schemas.openxmlformats.org/officeDocument/2006/relationships/slide" Target="/ppt/slides/slide13.xml" Id="R807000d3bf0a454c" /><Relationship Type="http://schemas.openxmlformats.org/officeDocument/2006/relationships/slide" Target="/ppt/slides/slide14.xml" Id="R2be24635b213499e" /><Relationship Type="http://schemas.openxmlformats.org/officeDocument/2006/relationships/slide" Target="/ppt/slides/slide15.xml" Id="R3a772368582b40ee" /><Relationship Type="http://schemas.openxmlformats.org/officeDocument/2006/relationships/slide" Target="/ppt/slides/slide16.xml" Id="R325bf1f33fb440b6" /><Relationship Type="http://schemas.openxmlformats.org/officeDocument/2006/relationships/slide" Target="/ppt/slides/slide17.xml" Id="R87f40366dc014176" /><Relationship Type="http://schemas.openxmlformats.org/officeDocument/2006/relationships/slide" Target="/ppt/slides/slide18.xml" Id="R8eff99efd31b4eb9" /><Relationship Type="http://schemas.openxmlformats.org/officeDocument/2006/relationships/slide" Target="/ppt/slides/slide19.xml" Id="Re1e22ecf907c4291" /><Relationship Type="http://schemas.openxmlformats.org/officeDocument/2006/relationships/slide" Target="/ppt/slides/slide20.xml" Id="R84be0390941e4dfb" /><Relationship Type="http://schemas.openxmlformats.org/officeDocument/2006/relationships/slide" Target="/ppt/slides/slide21.xml" Id="R26779e1f83b64211" /><Relationship Type="http://schemas.openxmlformats.org/officeDocument/2006/relationships/slide" Target="/ppt/slides/slide22.xml" Id="R9e16e2f4798c47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1eba865e248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b25881ea384866" /><Relationship Type="http://schemas.openxmlformats.org/officeDocument/2006/relationships/notesMaster" Target="/ppt/notesMasters/notesMaster1.xml" Id="R65f091dbf64e41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ffc2fe8fda4a27" /><Relationship Type="http://schemas.openxmlformats.org/officeDocument/2006/relationships/notesMaster" Target="/ppt/notesMasters/notesMaster1.xml" Id="R210caaec35cb4a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e4264cbb7a4f41" /><Relationship Type="http://schemas.openxmlformats.org/officeDocument/2006/relationships/notesMaster" Target="/ppt/notesMasters/notesMaster1.xml" Id="Rb2ada3e64909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fa2b00405d4f98" /><Relationship Type="http://schemas.openxmlformats.org/officeDocument/2006/relationships/notesMaster" Target="/ppt/notesMasters/notesMaster1.xml" Id="R6a798f2033a746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2df9d75e0d4e1d" /><Relationship Type="http://schemas.openxmlformats.org/officeDocument/2006/relationships/notesMaster" Target="/ppt/notesMasters/notesMaster1.xml" Id="Rfa9b689263bf41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9ba476844b4513" /><Relationship Type="http://schemas.openxmlformats.org/officeDocument/2006/relationships/notesMaster" Target="/ppt/notesMasters/notesMaster1.xml" Id="R56bbd22948684b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c47bdd921844eb" /><Relationship Type="http://schemas.openxmlformats.org/officeDocument/2006/relationships/notesMaster" Target="/ppt/notesMasters/notesMaster1.xml" Id="R39ea16d0feed43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7c48ebb4b4ae5" /><Relationship Type="http://schemas.openxmlformats.org/officeDocument/2006/relationships/notesMaster" Target="/ppt/notesMasters/notesMaster1.xml" Id="R308b707ba16543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b9bab1401c4dd9" /><Relationship Type="http://schemas.openxmlformats.org/officeDocument/2006/relationships/notesMaster" Target="/ppt/notesMasters/notesMaster1.xml" Id="Rcfea417d44bc42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ed5a803b764528" /><Relationship Type="http://schemas.openxmlformats.org/officeDocument/2006/relationships/notesMaster" Target="/ppt/notesMasters/notesMaster1.xml" Id="Rc14c3870371c48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d481860c0f4d24" /><Relationship Type="http://schemas.openxmlformats.org/officeDocument/2006/relationships/notesMaster" Target="/ppt/notesMasters/notesMaster1.xml" Id="Rad93b9c82d3940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7de82add0c4b2e" /><Relationship Type="http://schemas.openxmlformats.org/officeDocument/2006/relationships/notesMaster" Target="/ppt/notesMasters/notesMaster1.xml" Id="R60744097a7df44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8517220b274e78" /><Relationship Type="http://schemas.openxmlformats.org/officeDocument/2006/relationships/notesMaster" Target="/ppt/notesMasters/notesMaster1.xml" Id="Rc2c006e56c0c46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e421c5365843fe" /><Relationship Type="http://schemas.openxmlformats.org/officeDocument/2006/relationships/notesMaster" Target="/ppt/notesMasters/notesMaster1.xml" Id="R83a58eb5642f4f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38a4fb5480491d" /><Relationship Type="http://schemas.openxmlformats.org/officeDocument/2006/relationships/notesMaster" Target="/ppt/notesMasters/notesMaster1.xml" Id="R95e296f8744d48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9f481fd86d4356" /><Relationship Type="http://schemas.openxmlformats.org/officeDocument/2006/relationships/notesMaster" Target="/ppt/notesMasters/notesMaster1.xml" Id="R9566c09651104f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ebb374983e41ef" /><Relationship Type="http://schemas.openxmlformats.org/officeDocument/2006/relationships/notesMaster" Target="/ppt/notesMasters/notesMaster1.xml" Id="R1a471ee0071445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dc5186deb14e86" /><Relationship Type="http://schemas.openxmlformats.org/officeDocument/2006/relationships/notesMaster" Target="/ppt/notesMasters/notesMaster1.xml" Id="Rbc76af5f09c345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7d234d5b08443e" /><Relationship Type="http://schemas.openxmlformats.org/officeDocument/2006/relationships/notesMaster" Target="/ppt/notesMasters/notesMaster1.xml" Id="R7f4afcb5120b41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aa9dcfbd144f2d" /><Relationship Type="http://schemas.openxmlformats.org/officeDocument/2006/relationships/notesMaster" Target="/ppt/notesMasters/notesMaster1.xml" Id="R3947d1751a7c43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ef75795ed6406a" /><Relationship Type="http://schemas.openxmlformats.org/officeDocument/2006/relationships/notesMaster" Target="/ppt/notesMasters/notesMaster1.xml" Id="R324091981ed442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49109e6e8cf4ca4" /><Relationship Type="http://schemas.openxmlformats.org/officeDocument/2006/relationships/notesMaster" Target="/ppt/notesMasters/notesMaster1.xml" Id="R4c3d697654ac49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by Eternalgy 是为团队设计的 AI，当前以 Document Intelligence 切入。公司上下文与流程是产品定位。现有 host 仍为单一操作员与默认公司。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这是问题定义与设计方向。团队角色示意不表示当前 host 已具有多成员账号或团队权限。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水坝是创始人的商业化比喻，不是行业研究结论。搭建、使用、稳定三道门槛是产品设计与试点验证重点。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公司理解指明确保存并被任务调用的公司上下文，不是模型自动训练。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可以用旧 invoice、quotation、company profile 与可读官网内容提供背景。抽取事实需用户确认。此 repo 没有新增独立 OCR 或 crawler 服务，不能承诺只看几张文件即自动完成。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常见业务共享客户、商品、文件、采集与规则等结构。e 当前使用预置业务 schema，可按公司配置字段、模板和规则，不是自动创建任意数据库。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Expert of Digitalization 是创始人补充的定位。单次生成 PDF 并不自动建立关联业务记录。数字化的定义是将业务信息转为计算机可理解、可关联、可计算的数据。此页比较输出方式，不概括所有竞品。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core/documents.mjs:67-78,353-392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关系示意简化自现有 schema：di.document(customer_id,issue_date,total,custom)、di.document_line(document_id,product_id,quantity,discount_amount)、di.customer、di.product。人员归属可配置为 custom 字段，不是默认 sales-agent 外键。右侧为可扩展分析示例，不是已交付的报表。收入需公司定义确认口径；热门商品需选数量或金额；折扣比例需定义分母与汇总口径。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core/documents.mjs:67-78,353-392; core/admin.mjs:57-82; core/dashboard.mjs:23-128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创始人将 e 定位为 Expert of Digitalization。PostgreSQL、schema 查询和自定义字段、公开 HTML 表单发布、文件存储与分享为 repo 可证实的能力。Cloud Storage 为用户指定的部署方向，当前 repo 通过宿主 filesRoot/workspace 与 publicUrl 存储和发布，不代表已整合某一云对象存储服务。订单表单、工作报告表单是可配置采集用途，不是完整订单或工单产品。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core/admin.mjs:57-82; core/actions.mjs:31-114; core/forms.mjs:552-574; host.mjs:197-242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单次文件输出与 e 的流程方式做概念对比，不将所有其他 AI 归为只会 PDF。五个齿轮代表预置 schema、数据库记录、文档生命周期、SOP 与模板。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准备不写记录，草稿可以修改，issue 时验证并编号，保存 snapshots，PDF 与付款记录进入持续流程。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表单、review、stats 与 CSV 是现有工具。工程报告、每日打卡是可配置的数据采集例子，不代表完整工单、考勤或薪资系统。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资料依据：core/forms.mjs:418-481,552-574,830-884,991-1060,1084-1178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CRM preview，金额与数量为演示数据。代码实现应收、逾期、开票与收款趋势、报价pipeline，截图不代表经营业绩。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资料依据：core/dashboard.mjs:23-128; preview/crm-desktop.png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registry 七个 DI specialist。Orchestrator 所在外围 UIv2 host 接收需求与派发任务，specialist 共享记录但工具各有授权范围。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用细胞比喻说明分工与协作产生系统能力。修辞不对细胞认知能力作科学断言，也不等于仅靠单个 agent 就能保证整体可靠性。</a:t>
            </a:r>
          </a:p>
          <a:p xmlns:a="http://schemas.openxmlformats.org/drawingml/2006/main">
            <a:r>
              <a:t>依据：core/tools.mjs:16-24,729-737; host.mjs:26-70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两种架构思路的概念对比，不概括全部竞品。资料、模板、文件、表单为当前 specialist 职责例子。单元、调度与交接都需验证。</a:t>
            </a:r>
          </a:p>
          <a:p xmlns:a="http://schemas.openxmlformats.org/drawingml/2006/main">
            <a:r>
              <a:t>依据：core/tools.mjs:16-24,729-737; host.mjs:26-70; core/documents.mjs:210-339,353-392,467-493,504-549,568-602; core/actions.mjs:31-114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可检查机制是代码事实，不等于已验证成功率、低错误率或零错误。RLS 隔离在 di_app 角色可用时生效，数据库角色 unavailable 时有降级限制。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 定义 MVP/working demo。当前 host 单操作员/default company，数据库 tenant-aware 不表示已有团队用户权限。MyInvois 尚无提交整合。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这是建议试点方法，不是正式套餐、价格、承诺期限或已取得客户成果。由客户选一条适合现有功能的流程，使用其真实资料并确认后运行。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投资命题是待验证的假设。没有 supplied traction、收入、市场规模、投资额、估值或财务数据，本页不虚构这些指标。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下一步：客户选一条真实流程试点，投资者共同验证商业化路径。不是报价、合同或募资条件。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所有产品实现依据为本地 repo。生成图仅作视觉比喻，截图为演示数据。资料截至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core/forms.mjs:418-481,552-574,830-884,991-1060,1084-1178</a:t>
            </a:r>
          </a:p>
          <a:p xmlns:a="http://schemas.openxmlformats.org/drawingml/2006/main">
            <a:r>
              <a:t>ONBOARDING.md; README.md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3a31fb304f41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8d044e50c6416e" /><Relationship Type="http://schemas.openxmlformats.org/officeDocument/2006/relationships/slideLayout" Target="/ppt/slideLayouts/slideLayout1.xml" Id="R9df8a4add69f4b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f8a4add69f4b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7f87ceae8483d" /><Relationship Type="http://schemas.openxmlformats.org/officeDocument/2006/relationships/image" Target="/ppt/media/image.png" Id="R0b6b89fff35c4428" /><Relationship Type="http://schemas.openxmlformats.org/officeDocument/2006/relationships/image" Target="/ppt/media/image2.png" Id="R0aeb1c0c46734c9f" /><Relationship Type="http://schemas.openxmlformats.org/officeDocument/2006/relationships/notesSlide" Target="/ppt/notesSlides/notesSlide1.xml" Id="Rd53f5f88697b48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72246f85a48b2" /><Relationship Type="http://schemas.openxmlformats.org/officeDocument/2006/relationships/notesSlide" Target="/ppt/notesSlides/notesSlide2.xml" Id="R5eb6beca25f749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59224e9014fb4" /><Relationship Type="http://schemas.openxmlformats.org/officeDocument/2006/relationships/image" Target="/ppt/media/image3.png" Id="R796ee8f13521494b" /><Relationship Type="http://schemas.openxmlformats.org/officeDocument/2006/relationships/notesSlide" Target="/ppt/notesSlides/notesSlide3.xml" Id="R69b1aa29a3fe4c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cbb6fe828404d" /><Relationship Type="http://schemas.openxmlformats.org/officeDocument/2006/relationships/notesSlide" Target="/ppt/notesSlides/notesSlide4.xml" Id="R6b34394f53fb41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dc0986eab4ee5" /><Relationship Type="http://schemas.openxmlformats.org/officeDocument/2006/relationships/image" Target="/ppt/media/image4.png" Id="R404974fad8734113" /><Relationship Type="http://schemas.openxmlformats.org/officeDocument/2006/relationships/notesSlide" Target="/ppt/notesSlides/notesSlide5.xml" Id="R80770645318e49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abdb575af4769" /><Relationship Type="http://schemas.openxmlformats.org/officeDocument/2006/relationships/notesSlide" Target="/ppt/notesSlides/notesSlide6.xml" Id="Rda7c406954f947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cf0a97a634c8e" /><Relationship Type="http://schemas.openxmlformats.org/officeDocument/2006/relationships/notesSlide" Target="/ppt/notesSlides/notesSlide7.xml" Id="R86c7d9c5b84946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6fe53b5054b66" /><Relationship Type="http://schemas.openxmlformats.org/officeDocument/2006/relationships/notesSlide" Target="/ppt/notesSlides/notesSlide8.xml" Id="Rc8bf6ba0241646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6c6ffcacf481c" /><Relationship Type="http://schemas.openxmlformats.org/officeDocument/2006/relationships/notesSlide" Target="/ppt/notesSlides/notesSlide9.xml" Id="R36ba31455d454a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d92ac6c49415e" /><Relationship Type="http://schemas.openxmlformats.org/officeDocument/2006/relationships/image" Target="/ppt/media/image5.png" Id="R07778de4c6374a22" /><Relationship Type="http://schemas.openxmlformats.org/officeDocument/2006/relationships/notesSlide" Target="/ppt/notesSlides/notesSlide10.xml" Id="R65cebd20331d43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724faeda34afe" /><Relationship Type="http://schemas.openxmlformats.org/officeDocument/2006/relationships/notesSlide" Target="/ppt/notesSlides/notesSlide11.xml" Id="Re5962362f5b349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b10df02af4e37" /><Relationship Type="http://schemas.openxmlformats.org/officeDocument/2006/relationships/notesSlide" Target="/ppt/notesSlides/notesSlide12.xml" Id="R8607c838691a42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98b763ebc4e48" /><Relationship Type="http://schemas.openxmlformats.org/officeDocument/2006/relationships/image" Target="/ppt/media/image6.png" Id="R9cbbe049f66240a7" /><Relationship Type="http://schemas.openxmlformats.org/officeDocument/2006/relationships/notesSlide" Target="/ppt/notesSlides/notesSlide13.xml" Id="R14d12a6cd96044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8baf7bf164f9b" /><Relationship Type="http://schemas.openxmlformats.org/officeDocument/2006/relationships/notesSlide" Target="/ppt/notesSlides/notesSlide14.xml" Id="R5dd309d1c1e045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776206e004121" /><Relationship Type="http://schemas.openxmlformats.org/officeDocument/2006/relationships/image" Target="/ppt/media/image7.png" Id="Rabe85878fad442aa" /><Relationship Type="http://schemas.openxmlformats.org/officeDocument/2006/relationships/notesSlide" Target="/ppt/notesSlides/notesSlide15.xml" Id="R0e94c11aa80245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d8a3c80464070" /><Relationship Type="http://schemas.openxmlformats.org/officeDocument/2006/relationships/image" Target="/ppt/media/image8.png" Id="R9e33261759a8488e" /><Relationship Type="http://schemas.openxmlformats.org/officeDocument/2006/relationships/notesSlide" Target="/ppt/notesSlides/notesSlide16.xml" Id="R30b9f40d0e414b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9b074ddef44e8" /><Relationship Type="http://schemas.openxmlformats.org/officeDocument/2006/relationships/notesSlide" Target="/ppt/notesSlides/notesSlide17.xml" Id="R01b5a2e617b74b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5fff0d01a45d3" /><Relationship Type="http://schemas.openxmlformats.org/officeDocument/2006/relationships/notesSlide" Target="/ppt/notesSlides/notesSlide18.xml" Id="R436e558b6b864a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1f16fca4244fb" /><Relationship Type="http://schemas.openxmlformats.org/officeDocument/2006/relationships/notesSlide" Target="/ppt/notesSlides/notesSlide19.xml" Id="R1d304bafb01242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9c651d5f04bf0" /><Relationship Type="http://schemas.openxmlformats.org/officeDocument/2006/relationships/notesSlide" Target="/ppt/notesSlides/notesSlide20.xml" Id="Rf5e49849fa2e47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cbf0ee6ea4561" /><Relationship Type="http://schemas.openxmlformats.org/officeDocument/2006/relationships/image" Target="/ppt/media/image9.png" Id="R8d559e242c0d4be8" /><Relationship Type="http://schemas.openxmlformats.org/officeDocument/2006/relationships/notesSlide" Target="/ppt/notesSlides/notesSlide21.xml" Id="R1450a40ec53549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ade9705ab4387" /><Relationship Type="http://schemas.openxmlformats.org/officeDocument/2006/relationships/notesSlide" Target="/ppt/notesSlides/notesSlide22.xml" Id="R1e9f10d692bb43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b89fff35c4428"/>
          <a:stretch xmlns:a="http://schemas.openxmlformats.org/drawingml/2006/main"/>
        </p:blipFill>
        <p:spPr>
          <a:xfrm xmlns:a="http://schemas.openxmlformats.org/drawingml/2006/main">
            <a:off x="704850" y="723900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8AA23-AA18-4BCB-A05A-EB6DDBF6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001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C8077-DA96-4949-9A4F-13A64EF7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6972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0FFE0-AF31-4248-ACAC-1A733ECF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52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让公司资料，成为 AI 的工作依据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90422-87D2-4E40-A1CC-2D6D973D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b1c0c46734c9f"/>
          <a:stretch xmlns:a="http://schemas.openxmlformats.org/drawingml/2006/main"/>
        </p:blipFill>
        <p:spPr>
          <a:xfrm xmlns:a="http://schemas.openxmlformats.org/drawingml/2006/main">
            <a:off x="7924800" y="1209204"/>
            <a:ext cx="3581400" cy="43824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38BD4-5990-4D50-854B-9E714BD6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 Intelligence</a:t>
            </a:r>
          </a:p>
        </p:txBody>
      </p:sp>
    </p:spTree>
    <p:extLst>
      <p:ext uri="{BB962C8B-B14F-4D97-AF65-F5344CB8AC3E}">
        <p14:creationId xmlns:p14="http://schemas.microsoft.com/office/powerpoint/2010/main" val="836938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AEE8A-AF59-4377-957B-BA8C8D5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E5586-58C8-4AEA-BCE6-0652D586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87714-EFCB-408D-8538-90B26A35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A91D8-45C5-4741-9359-7A48751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每个成员带来任务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公司提供共同依据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ED07D-4766-40FF-BBC2-21F7C50C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成员经验与旧文件中的信息，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需要延续到下一次工作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BA804-1FFC-4E83-9F57-A9AAF867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DA59A-DED5-460B-80FA-E60E499F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销售任务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8032D-DBD3-4779-847E-F27252D8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3CB4E-0540-4B8A-95D5-5EB5BD52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行政任务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7CC4-8ED9-4159-9269-6B0CC42B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E3AD0-68DC-4A73-964A-7DE3EF1C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财务任务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1CF35-1C1D-4B3B-9F5E-B6419E9B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190750" cy="17145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D730E-144D-4FF9-9DA1-44B038DB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公司上下文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2476500"/>
            <a:ext cx="8191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3629025"/>
            <a:ext cx="8191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8324850" y="3829050"/>
            <a:ext cx="8191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E07F8-8814-4A0E-AEA1-575C9F88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产品方向：团队协作。多人账号与权限仍待完善。</a:t>
            </a:r>
          </a:p>
        </p:txBody>
      </p:sp>
    </p:spTree>
    <p:extLst>
      <p:ext uri="{BB962C8B-B14F-4D97-AF65-F5344CB8AC3E}">
        <p14:creationId xmlns:p14="http://schemas.microsoft.com/office/powerpoint/2010/main" val="1130054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204C8-6BA2-479C-92FF-AABEBA9A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AI 变现的最后一里路，是使用门槛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992D8-243F-48DF-AE7C-FA7D6CBD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FAFEC-6491-401E-A88B-7854EB2B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2B35D-3D5A-4428-9405-C95E977B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模型能力像水源，真正的价值需要跨过三道门槛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ee8f13521494b"/>
          <a:stretch xmlns:a="http://schemas.openxmlformats.org/drawingml/2006/main"/>
        </p:blipFill>
        <p:spPr>
          <a:xfrm xmlns:a="http://schemas.openxmlformats.org/drawingml/2006/main">
            <a:off x="685800" y="2328156"/>
            <a:ext cx="10820400" cy="3287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8DE4C-A8F4-4598-AC02-82F36DF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1D423-2AC8-4578-9629-5E6DE0CF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搭建门槛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B56B9-A23F-41F2-9A7B-AAE687C6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CA642-8CC1-49CB-B65E-87AA7FD3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使用门槛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1FD35-34C4-469D-A0CB-16FCB38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B91B1-9A2F-4017-B5D5-A6354011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稳定门槛</a:t>
            </a:r>
          </a:p>
        </p:txBody>
      </p:sp>
    </p:spTree>
    <p:extLst>
      <p:ext uri="{BB962C8B-B14F-4D97-AF65-F5344CB8AC3E}">
        <p14:creationId xmlns:p14="http://schemas.microsoft.com/office/powerpoint/2010/main" val="1455237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31DCE-396E-48B8-ABCF-9DC0D157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1ACB3-A9B8-43FF-ADF4-EE70FB3C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9BD27-35E2-4B6B-81B8-7AF37DA6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427B9-493B-4D24-9343-F00FDFDE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DC158-CAF1-4F23-ACCD-2FF1E7A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文件与规则怎样运作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5A3A2-6672-46F6-9D0C-041B1E4D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BFC97-DEB7-4D61-A8BE-95DF9E27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95625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查记录，准备文件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发现缺项，先询问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保存成果，延续后续工作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77208-91F2-4320-8550-96E23AE4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ABDA2-736E-4802-8FEC-8C87341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47875"/>
            <a:ext cx="0" cy="3248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A9C1C-16BF-45D2-BDC2-99CCBD41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公司资料与规则，决定每一次工作怎样完成</a:t>
            </a:r>
          </a:p>
        </p:txBody>
      </p:sp>
    </p:spTree>
    <p:extLst>
      <p:ext uri="{BB962C8B-B14F-4D97-AF65-F5344CB8AC3E}">
        <p14:creationId xmlns:p14="http://schemas.microsoft.com/office/powerpoint/2010/main" val="1659579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786E1-D094-4F2A-A668-93ADB1E9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ED14C-9408-444B-BE3C-49CA33C1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E30C4-97B7-469D-AE68-7074CCA0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974fad8734113"/>
          <a:stretch xmlns:a="http://schemas.openxmlformats.org/drawingml/2006/main"/>
        </p:blipFill>
        <p:spPr>
          <a:xfrm xmlns:a="http://schemas.openxmlformats.org/drawingml/2006/main">
            <a:off x="852221" y="1781175"/>
            <a:ext cx="2838983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4FF94-4106-454D-8E8C-571837BE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你已有的文件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FAA22-FC01-46E0-8D23-5DC9685C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097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05B87-3737-4B82-A290-B36F3C86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977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读取核心信息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4C8FC-980F-45CC-8F07-2E6D3E3B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公司资料、旧报价单与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2BA89-E238-4834-9907-CE08F5D3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956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8B356-2CD3-440F-8657-5B853ED8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确认与保存设定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653A5-0167-4E96-BD77-3A16FC72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766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核对身份、付款条件与编号规则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D5AC2-9D4D-4674-A2B8-C379F564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815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FFF31-6561-4486-9B07-5639E4CE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8152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预览并验证模板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5640E-B766-4B01-AD25-66CB14E1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625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用实际文件检查输出</a:t>
            </a:r>
          </a:p>
        </p:txBody>
      </p:sp>
    </p:spTree>
    <p:extLst>
      <p:ext uri="{BB962C8B-B14F-4D97-AF65-F5344CB8AC3E}">
        <p14:creationId xmlns:p14="http://schemas.microsoft.com/office/powerpoint/2010/main" val="1033047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EC80F-B942-4C31-8E42-89BC3BE2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4684B-C62C-4239-BA51-34D7C058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870F0-F597-4BDE-9874-49E9883F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59091-AA93-43BE-98DE-7F711559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79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不同业务，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共享许多相同的结构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9B1AF-34DB-4260-A16C-17EA6888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5791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Expert of Digitalization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B35B3-1EA1-4486-A3FC-E71B0AEF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以常用数据结构承接工作，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再适应公司的设定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9DA11-5F51-4A37-A8AE-0FC9D524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000250" cy="1238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D1876-BAAA-4E6F-9BE3-F3A113F2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1809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659D6-1E0C-4C4C-A600-DEEB9D83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42BD6-197F-4BD7-93AD-391ACABE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7791450" y="2395538"/>
            <a:ext cx="3810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C9683-82D9-402D-8FBB-E465EB0A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9D83B-BBA4-4A5F-A424-041B26E3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cxnSp>
        <p:nvCxnSpPr>
          <p:cNvPr id="34" name=""/>
          <p:cNvCxnSpPr>
            <a:stCxn xmlns:a="http://schemas.openxmlformats.org/drawingml/2006/main" id="12" idx="1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>
            <a:off x="10172700" y="2395538"/>
            <a:ext cx="3048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AC135-53F1-4DEF-A231-2FBA78AF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3695F-E0F9-4969-BF19-9DD4127D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cxnSp>
        <p:nvCxnSpPr>
          <p:cNvPr id="37" name=""/>
          <p:cNvCxnSpPr>
            <a:stCxn xmlns:a="http://schemas.openxmlformats.org/drawingml/2006/main" id="1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7791450" y="3857625"/>
            <a:ext cx="3810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59CBD-C98D-4B29-8AB8-1B5FFDF3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EC1F9-42F6-4915-9EA7-0551B866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cxnSp>
        <p:nvCxnSpPr>
          <p:cNvPr id="40" name=""/>
          <p:cNvCxnSpPr>
            <a:stCxn xmlns:a="http://schemas.openxmlformats.org/drawingml/2006/main" id="18" idx="1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 flipV="1">
            <a:off x="10172700" y="3857625"/>
            <a:ext cx="3048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577160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1AD9D-74EA-4086-A5D8-7DDECB1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数字化：让 DATA 在计算世界里活起来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4777D-A8FA-4EFC-B8B0-35844355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0920C-708C-4237-ADC6-6CF5DA0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A3A04-AA4A-4308-B03C-1850C3C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Paperless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3DF51-3919-40FB-BBC4-6E57D49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纸张变成 PDF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方便保存与传递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A0E66-22BB-4C69-B6C1-108F0071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Computer-meaningful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2311A-275D-4939-B31C-EEA306E1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525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客户、商品、金额、时间</a:t>
            </a:r>
          </a:p>
          <a:p xmlns:a="http://schemas.openxmlformats.org/drawingml/2006/main">
            <a:pPr algn="l">
              <a:def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成为可关联、可计算的数据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07C62-AE9C-4D6F-820F-C7461065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91200" y="1962150"/>
            <a:ext cx="0" cy="3486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6787E-8253-43DE-AC0D-ECEAA094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81425"/>
            <a:ext cx="2686050" cy="14668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CEE0D-4A51-4E29-9F63-B8A24C1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57625"/>
            <a:ext cx="2495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</a:t>
            </a:r>
          </a:p>
          <a:p xmlns:a="http://schemas.openxmlformats.org/drawingml/2006/main">
            <a:pPr algn="ctr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490C9-CF49-424D-91A1-AF07B0B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81425"/>
            <a:ext cx="2838450" cy="14668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D0CAB-DA92-4733-AD8D-8FFB73F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57625"/>
            <a:ext cx="2647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  <a:p xmlns:a="http://schemas.openxmlformats.org/drawingml/2006/main">
            <a:pPr algn="ctr">
              <a:def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关系数据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06965-E5F9-4934-959E-C4AA6BD2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在交付文件的同时，将业务信息保存为结构化记录</a:t>
            </a:r>
          </a:p>
        </p:txBody>
      </p:sp>
    </p:spTree>
    <p:extLst>
      <p:ext uri="{BB962C8B-B14F-4D97-AF65-F5344CB8AC3E}">
        <p14:creationId xmlns:p14="http://schemas.microsoft.com/office/powerpoint/2010/main" val="760234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EF4AA-345E-4A42-A20B-59424CA6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一张 Invoice，成为可持续计算的数据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EE99C-7078-41BE-8159-468784B4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409C9-16AB-444F-8A28-FFD49A6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96381-C63A-411E-9B97-E470BD79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Relational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2EF52-450E-46D8-B08F-ACB0AFBA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972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分析示例：依实际字段与公司计算口径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92F3B-CE29-4568-88D2-9DED6AD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924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99163-14AB-4DBE-A1C5-79F65DDD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FFAB4-0D77-4B2E-96E7-BFFD13DD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FDB54-D47F-45D2-B1B2-5FD6D4B8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1695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653D6-F6C1-488E-A891-A8256101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14575"/>
            <a:ext cx="242887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548F1-31F6-4792-95B2-859C7197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28875"/>
            <a:ext cx="2200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991F8-B0C5-4A39-AB71-674ABF86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2200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F7A96-BD1B-4B51-A364-4B180CB2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62275"/>
            <a:ext cx="22002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customer_id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issue_date / total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人员归属（配置）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45542-713B-4EC2-B433-D13E824A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924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FAF9D-B161-48AB-AC0D-303EC5B9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C2C2A-6371-411A-A4DA-E367644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21326-6156-466C-B4A7-D53D078B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1695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8B199-2369-4FCD-8D64-B72B3D6E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33875"/>
            <a:ext cx="242887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CACCC-4E8C-4ADD-9B54-5F639C20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48175"/>
            <a:ext cx="2200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DED01-7E87-49AF-8579-766471A3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76800"/>
            <a:ext cx="2200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E26C5-BD6B-4ECB-B3F4-583C070C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81575"/>
            <a:ext cx="22002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document_id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product_id / quantity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discount_amount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609850" y="3176588"/>
            <a:ext cx="6858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609850" y="5143500"/>
            <a:ext cx="685800" cy="523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510088" y="40386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F3E4C-AF89-4B01-B704-9837A8F9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145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每位销售人员的收入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3B9BF-51E4-492E-8C6D-EABC3A57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关联人员归属与收入确认口径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14D7D6-4C29-49E4-B04E-65BD3424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670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每月业绩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D728E3-785B-4A43-BFF6-F0E754AF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按月份汇总开票与收款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939950-2AD3-4995-A5EC-0287A4F5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95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热门商品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E3463A-F1C9-461D-9862-D53E17B8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767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按商品汇总数量或金额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ADAA48-94A8-41A5-91D6-72D25980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20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每位销售人员的折扣比例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0EB0D-CEC5-43A9-81E7-2D66675E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292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关联人员与折扣明细，按统一口径比较</a:t>
            </a:r>
          </a:p>
        </p:txBody>
      </p:sp>
    </p:spTree>
    <p:extLst>
      <p:ext uri="{BB962C8B-B14F-4D97-AF65-F5344CB8AC3E}">
        <p14:creationId xmlns:p14="http://schemas.microsoft.com/office/powerpoint/2010/main" val="39570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38083-809B-4285-B8A1-30D189EA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的数字化工作方式与工具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0621C-89E2-4EE6-96B8-885A8E83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A668D-5976-405B-90D5-36E3DCFE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3290E-134C-4A7D-8F5B-8B6AE061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数字化专业知识，落实到每一步数据处理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93E81-96A8-45F4-9FC0-68D157F3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F7F7C-A1D8-4AEB-977A-73100E63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20782-742E-471E-A803-7CF9C950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Publishable 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D0CE1-371F-4701-B001-E29A853F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HTML 表单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订单、工作报告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45F3E-AFB2-421C-8D69-2DA892A4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765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E1948-B7AC-4E36-B272-E467F5C3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35DB4-3060-464A-95ED-ED6A915F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47E06-C979-4265-8BF1-1DC541BA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C6E72-F9D4-4BB2-BB95-C8B0EFF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理解字段与关系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按公司设定校验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42606-4148-451E-883A-9E0188B2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340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81B22-2E8A-410E-9DA0-0C64450D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1A047-0CA6-454A-B12C-07477FCA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4869B-BE34-4356-B072-2C365A89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AA4E4-26C3-4A94-90DF-5057D129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保存关联业务记录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承接查询与计算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B0530-E27B-452A-A880-44A86F4C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15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3F511-4586-410A-A0A0-A2DDDA9A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8EE58-3B1D-46AA-9670-5A4CBADF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4C996-1AAD-4FFE-A9FE-C5E7595E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Cloud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D612B-F1BF-4A75-B658-0D0E7A95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文件保存与分享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云存储依部署配置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194B22-4736-4BBE-805E-75FDFAC3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表单发布、schema 与数据记录已有实现；云端文件存储取决于部署配置。</a:t>
            </a:r>
          </a:p>
        </p:txBody>
      </p:sp>
    </p:spTree>
    <p:extLst>
      <p:ext uri="{BB962C8B-B14F-4D97-AF65-F5344CB8AC3E}">
        <p14:creationId xmlns:p14="http://schemas.microsoft.com/office/powerpoint/2010/main" val="1759688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FD670-7357-4B7B-B40A-7517C979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58617-0F4C-4B33-AB5B-79316349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9DEA-3D83-4F3C-8703-E96A1422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1FB41-8D2C-4E3F-8475-B0E5B831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7AA4A-DAE3-47FA-A68F-963BD844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单次文件输出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78de4c6374a22"/>
          <a:stretch xmlns:a="http://schemas.openxmlformats.org/drawingml/2006/main"/>
        </p:blipFill>
        <p:spPr>
          <a:xfrm xmlns:a="http://schemas.openxmlformats.org/drawingml/2006/main">
            <a:off x="1400175" y="2906210"/>
            <a:ext cx="1666875" cy="23600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E6235-A95D-4009-852B-01679CCC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86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C332D-C191-46B8-A9AD-FC26AFB5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9A3EA-9CCF-4C4B-B8A9-8DF69CB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556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e：文档是一条业务流程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934DF-B6A1-4565-B011-72518590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580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4A9F4-0CC1-4B80-9616-2C668F5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677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18549-6844-495B-9E8D-97F2C47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80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93634-8697-4262-822F-DEA339F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677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86CA4-96BE-44B0-B2C0-DEAFCBA5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93D9E-A140-4399-86A3-C6A8C365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23428-D6F2-4F89-AD6C-D5B1D5AA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F4A2D-3D60-4E2D-A496-82FB3B1D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92DE7-CE46-44B3-AF5B-DFFBA17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E3DD6B-27AC-4AA4-90C1-C9D7F130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14A87-B4A4-4DEB-9126-C4FD720F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2C62D-075C-4AF4-A5A5-B9AA1FA5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A6A54-46C9-4943-BFB9-634A6985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CC5A4-533B-47D2-83EC-C311E954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21F1B-3137-4308-B82F-90AE84E4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849AD-95EC-4954-9D35-2365E93E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9CC7A-65B3-44A3-95AE-E37BBAA4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657350" cy="1657350"/>
          </a:xfrm>
          <a:custGeom xmlns:a="http://schemas.openxmlformats.org/drawingml/2006/main">
            <a:pathLst>
              <a:path w="1657350" h="1657350">
                <a:moveTo>
                  <a:pt x="828675" y="16573"/>
                </a:moveTo>
                <a:lnTo>
                  <a:pt x="934676" y="23521"/>
                </a:lnTo>
                <a:lnTo>
                  <a:pt x="1002401" y="180320"/>
                </a:lnTo>
                <a:lnTo>
                  <a:pt x="1085542" y="208542"/>
                </a:lnTo>
                <a:lnTo>
                  <a:pt x="1234726" y="125374"/>
                </a:lnTo>
                <a:lnTo>
                  <a:pt x="1323051" y="184392"/>
                </a:lnTo>
                <a:lnTo>
                  <a:pt x="1303304" y="354046"/>
                </a:lnTo>
                <a:lnTo>
                  <a:pt x="1361195" y="420058"/>
                </a:lnTo>
                <a:lnTo>
                  <a:pt x="1531976" y="422624"/>
                </a:lnTo>
                <a:lnTo>
                  <a:pt x="1578959" y="517897"/>
                </a:lnTo>
                <a:lnTo>
                  <a:pt x="1477030" y="654949"/>
                </a:lnTo>
                <a:lnTo>
                  <a:pt x="1494159" y="741062"/>
                </a:lnTo>
                <a:lnTo>
                  <a:pt x="1640777" y="828675"/>
                </a:lnTo>
                <a:lnTo>
                  <a:pt x="1633829" y="934676"/>
                </a:lnTo>
                <a:lnTo>
                  <a:pt x="1477030" y="1002401"/>
                </a:lnTo>
                <a:lnTo>
                  <a:pt x="1448808" y="1085542"/>
                </a:lnTo>
                <a:lnTo>
                  <a:pt x="1531976" y="1234726"/>
                </a:lnTo>
                <a:lnTo>
                  <a:pt x="1472958" y="1323051"/>
                </a:lnTo>
                <a:lnTo>
                  <a:pt x="1303304" y="1303304"/>
                </a:lnTo>
                <a:lnTo>
                  <a:pt x="1237292" y="1361195"/>
                </a:lnTo>
                <a:lnTo>
                  <a:pt x="1234726" y="1531976"/>
                </a:lnTo>
                <a:lnTo>
                  <a:pt x="1139453" y="1578959"/>
                </a:lnTo>
                <a:lnTo>
                  <a:pt x="1002401" y="1477030"/>
                </a:lnTo>
                <a:lnTo>
                  <a:pt x="916288" y="1494159"/>
                </a:lnTo>
                <a:lnTo>
                  <a:pt x="828675" y="1640777"/>
                </a:lnTo>
                <a:lnTo>
                  <a:pt x="722674" y="1633829"/>
                </a:lnTo>
                <a:lnTo>
                  <a:pt x="654949" y="1477030"/>
                </a:lnTo>
                <a:lnTo>
                  <a:pt x="571808" y="1448808"/>
                </a:lnTo>
                <a:lnTo>
                  <a:pt x="422624" y="1531976"/>
                </a:lnTo>
                <a:lnTo>
                  <a:pt x="334299" y="1472958"/>
                </a:lnTo>
                <a:lnTo>
                  <a:pt x="354046" y="1303304"/>
                </a:lnTo>
                <a:lnTo>
                  <a:pt x="296155" y="1237292"/>
                </a:lnTo>
                <a:lnTo>
                  <a:pt x="125374" y="1234726"/>
                </a:lnTo>
                <a:lnTo>
                  <a:pt x="78391" y="1139453"/>
                </a:lnTo>
                <a:lnTo>
                  <a:pt x="180320" y="1002401"/>
                </a:lnTo>
                <a:lnTo>
                  <a:pt x="163191" y="916288"/>
                </a:lnTo>
                <a:lnTo>
                  <a:pt x="16573" y="828675"/>
                </a:lnTo>
                <a:lnTo>
                  <a:pt x="23521" y="722674"/>
                </a:lnTo>
                <a:lnTo>
                  <a:pt x="180320" y="654949"/>
                </a:lnTo>
                <a:lnTo>
                  <a:pt x="208542" y="571808"/>
                </a:lnTo>
                <a:lnTo>
                  <a:pt x="125374" y="422624"/>
                </a:lnTo>
                <a:lnTo>
                  <a:pt x="184392" y="334299"/>
                </a:lnTo>
                <a:lnTo>
                  <a:pt x="354046" y="354046"/>
                </a:lnTo>
                <a:lnTo>
                  <a:pt x="420058" y="296155"/>
                </a:lnTo>
                <a:lnTo>
                  <a:pt x="422624" y="125374"/>
                </a:lnTo>
                <a:lnTo>
                  <a:pt x="517897" y="78391"/>
                </a:lnTo>
                <a:lnTo>
                  <a:pt x="654949" y="180320"/>
                </a:lnTo>
                <a:lnTo>
                  <a:pt x="741062" y="163191"/>
                </a:lnTo>
                <a:close/>
              </a:path>
            </a:pathLst>
          </a:custGeom>
          <a:solidFill xmlns:a="http://schemas.openxmlformats.org/drawingml/2006/main">
            <a:srgbClr val="18775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45B0D-B276-47C6-BCD1-49A599EE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850" y="3615500"/>
            <a:ext cx="1093851" cy="1093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CA7FA-6DC5-4472-8B10-4C97CD82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394" y="3830955"/>
            <a:ext cx="1524762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C6F9B6-9AF7-48A6-A3E3-943E8601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24550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查记录、补缺项、发行文件、保存关联、追踪付款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1701042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06879-E734-4795-8F28-32740727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文件与业务记录，延续到付款之后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30451-F732-48BC-96CA-8CEADA25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54160-2CEC-49D3-AE0D-ED8D68B1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C8686-1DB0-446F-91D7-0FC50C3B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F91C6-6A8E-4768-A6EF-FAA7060C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C4275-1798-4AE8-A328-7AF0C55C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2A566-37BD-4F01-91AB-2DCEC7F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识别客户与商品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检查缺项与规则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898AF-B56D-4192-8583-210AA419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660B2-9993-4971-B68D-02B3E308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F649D-98B1-48AA-8502-A03DD8E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5AAAF-B8DE-44EE-8EA7-E45E780D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核对内容与金额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确认后再发行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76D4B-EAD7-437E-8034-495BDF1B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83F72-2C0A-42DE-A037-D99329C4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6E134-3DEE-4C51-A7D0-D319169A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C8C6B-E6DD-42BF-A685-8DDADE8F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编号与历史快照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PDF 与业务关联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637F8-F305-4035-89BF-E43E5600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20402-AC56-47F3-976E-BBF46DE5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04F6F-719E-4980-A8DE-419E7FE1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付款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2ABEC-3A7D-486E-A38D-EB4125FA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记录分配与余额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追踪应收状态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95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531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3A5A3-9B4B-4D8F-A108-EFFAB942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下一次工作，从已有记录继续</a:t>
            </a:r>
          </a:p>
        </p:txBody>
      </p:sp>
    </p:spTree>
    <p:extLst>
      <p:ext uri="{BB962C8B-B14F-4D97-AF65-F5344CB8AC3E}">
        <p14:creationId xmlns:p14="http://schemas.microsoft.com/office/powerpoint/2010/main" val="13513512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934DE-5C10-4C09-9181-EE0F78F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 收集信息，e 处理后续工作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A2901-4307-414D-8F5F-03B66A5A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F5FD-5814-4F1D-999E-9A954AD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F960C-0B5B-41A0-B8B7-A9465081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15A96-ECC8-44BE-8531-C01F3B11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0347C-CE95-4AD8-B2B1-75F23BB5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E2903-3428-4B1D-A485-7C52BAF9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133600" cy="1657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0B869-DD54-432C-8363-94981922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ED57C-E349-4B5A-83C8-26F357D6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213360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A85BF-0D3D-4410-A7D8-1EDC643D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EA454-E0AF-4057-BDA0-F8C33B89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80666-381D-4100-A455-A09A24CD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8194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7" idx="4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57150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9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106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71B6E-D888-4406-AF53-2605D58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按字段绑定，关联客户、文件与下一步工作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9469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12DA9-8761-4EC6-B380-48922D0C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业务记录，让工作状态可见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0D312-7E46-4AE0-AB0F-C058B1C2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BCC47-56E8-446E-A9B8-566D59C0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E3DD1-D4C5-44CB-A7AA-0283A7BE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未收款项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逾期 invoice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待跟进 quotation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6C6A0-3FCF-4B21-A59B-38A8CE89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已有数据，形成业务概览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be049f66240a7"/>
          <a:stretch xmlns:a="http://schemas.openxmlformats.org/drawingml/2006/main"/>
        </p:blipFill>
        <p:spPr>
          <a:xfrm xmlns:a="http://schemas.openxmlformats.org/drawingml/2006/main">
            <a:off x="6153990" y="1724025"/>
            <a:ext cx="4751294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D32A2-8B92-4324-9F48-7E82718A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436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现有界面预览。图中金额与数量为演示数据。</a:t>
            </a:r>
          </a:p>
        </p:txBody>
      </p:sp>
    </p:spTree>
    <p:extLst>
      <p:ext uri="{BB962C8B-B14F-4D97-AF65-F5344CB8AC3E}">
        <p14:creationId xmlns:p14="http://schemas.microsoft.com/office/powerpoint/2010/main" val="5579655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C88D60-2EFD-4933-98C5-331E5AA4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7255A-4DF6-4728-B88D-5ED346C0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65D55-0A36-402E-A96A-A3A8E356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5EF40-B202-4AD2-B0F4-14A5D46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81175"/>
            <a:ext cx="3848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06CE5-0B3E-4872-B128-01E25D2F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3657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需求分配与结果协调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4658C-3C97-4740-B6A0-5E1673DB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2647950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7F7F1-DC76-422C-8C47-99B1176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6C77A-48E5-4BAE-8DFF-0B6D947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02EBB-0D90-4F7D-9C7B-254844DD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3FC4D-6FC4-4F57-8871-63289FD0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AEFFF-9C49-43BD-83C3-87584B55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7319D-3B0F-4F57-8B0E-D9677BDF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EB629-B3D9-46C3-9428-902E6C8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E8787-E819-4909-B853-0F62A64B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55D9F-BB01-47FB-BD1B-A80685B1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5AB7F-10B2-4B77-83CF-4DE46E21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2F46D-267A-4C56-B341-6C3C1AB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0D0A6-7800-4CB6-800A-647CA0DC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419DD-1CE2-4CD7-B60E-442E3E9B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1DC45-65A9-4EA0-B958-C359EDD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3B29D-3045-44EC-B77F-09145D1E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7B8A0-606F-446E-B280-6CB35BC1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59CE2-F368-4198-A149-23E4B859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934EB-459E-4043-9859-98FB7784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3991D-001E-4D28-BCA1-81547C90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7E27D-BFF2-4310-8C76-213D2282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D96A8-83BC-4625-8B5D-6D44F96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21A98-F0E0-46F6-85F7-501AA504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21D7E7-608B-47FB-9FE8-9CE1A5CB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819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20ECCA-17F5-40D6-8D6F-07A5AAD7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819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DFD59-CBE2-4B1C-AB9E-BF7A71B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24450"/>
            <a:ext cx="36385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5481B4-F695-466C-8465-A10DA3C7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4773070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85878fad442a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4A2B3-E907-44DE-8742-704D0DE0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B61D5-DAC7-45EB-A541-32F498BF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0BC85-FA99-432C-AF2C-F36EE57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1E300-9B23-4DF1-8EA7-133D3444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823F9-BDE7-4A68-A056-9FB8D3DC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15957260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3261759a8488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40235-AAC4-42BF-BD00-E7608017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细胞级 AI 的协作方式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2AC18-1165-486E-AFD6-23DAA240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B3F33-EFA3-4378-BED0-4005E955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139A8-DAC6-4BE4-9902-82CB0D32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F1BA8-1847-4217-B804-753E035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4116A-3644-4AF5-AC19-C6B3A3D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86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7163A-431A-49BB-BCCF-98A9D01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ED596-C7D2-496B-959B-FA8F37D0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C8FDA-6930-4372-9411-581E5641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428E0-48BC-4A70-85A7-0925175F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0C787-0B66-4532-BD55-6B955ABD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AB5B6-EE3D-4242-BD23-91B793D2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职责越广，验证组合越多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B034E-CCAE-478B-B06A-D9241C80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明确任务、SOP、权限与测试</a:t>
            </a:r>
          </a:p>
        </p:txBody>
      </p:sp>
    </p:spTree>
    <p:extLst>
      <p:ext uri="{BB962C8B-B14F-4D97-AF65-F5344CB8AC3E}">
        <p14:creationId xmlns:p14="http://schemas.microsoft.com/office/powerpoint/2010/main" val="12725578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3F054-83B3-498E-85B0-930923BF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可靠性，来自可检查的边界设计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E2D52-4EF1-4058-9A18-2EA2F42A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A1128-0498-46E7-9998-A920806F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6EAE4-E749-40A8-9306-8BE2BDD7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ECF93-DB52-4695-9BC1-B351758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每位专员只使用获授权的工具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3804C-706D-4BA1-B5B4-CE04081D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越权请求，由系统拒绝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01F21-853B-42A5-831F-AC1ADDCA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FE72D-A9B2-4EED-A103-BB124BAB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发行规则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259B3-0A32-4259-BCC9-5AE96A26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051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发行前检查必填信息与公司规则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F98B6-1D12-41D6-9062-28E7ADF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95725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资料未补齐，不能发行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421B9-E028-4D8D-AC4B-F2920D0F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EC16F-FB7B-43B0-B7CC-F94B1192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2FD21-C047-43FE-8963-818C07D9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发行后冻结内容，并保存历史快照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38057-134A-4EB6-878C-DB3F7ECF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3875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后续修改，不改写旧文件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7E57A-82B5-4210-9005-76D5F7E8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单元测试、调度与集成验证，共同检验整体交付</a:t>
            </a:r>
          </a:p>
        </p:txBody>
      </p:sp>
    </p:spTree>
    <p:extLst>
      <p:ext uri="{BB962C8B-B14F-4D97-AF65-F5344CB8AC3E}">
        <p14:creationId xmlns:p14="http://schemas.microsoft.com/office/powerpoint/2010/main" val="18614920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6F3D7-3878-405C-B03F-15E60F35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21DFB-428C-46F8-8CD5-B7E6CACB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4CBE5-1B0B-44DC-BABD-34D8F7EF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EB1EA-81BA-4AE9-A9C6-E7054A35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E4F36-4883-4562-B484-88E2270F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客户与商品记录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Quotation、invoice 与付款流程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表单、模板与业务概览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2960C-90FC-4A66-A7AF-4B4CAAE9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601D7-D43D-4144-A9D8-48B47664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更多可验证的业务流程与分析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DF8D3-7F60-4D6A-AEC2-26C95FA1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85975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30A77-2C6A-428C-B110-EB2B0154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1847588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5BE76-C8AE-4E0A-AE6E-FE4D8B2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客户试点，以一条真实流程开始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52A86-479B-477B-91A4-8380DB56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DF8FD-F965-4A23-8FF1-F733A239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61BCA-615E-4945-91C9-2FD05661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26F3E-CD32-4AB7-9590-28338D84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431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选流程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EAF4C-56FC-4D20-ABDD-FB12539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开票，或表单采集与处理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E3887-C1E5-498A-85A3-45F2AE25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1462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5B16B-D064-425D-97D8-2C6B1F07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99D59-17B6-45E4-B815-60FC003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8132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用资料配置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6859A-A640-452E-9B8A-9B7E54D0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旧文件、规则与客户记录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5C245-5553-4084-B0FF-A7283F0D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52850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693C5-D2F7-418A-B244-3975424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9631E-1C9A-465F-B5EA-F0FC2C8E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9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运行真实工作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1B16E-F3D7-4C6B-8467-80A10A4D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确认输入，检查交付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D2ABD-37FE-4523-A61C-5D42F34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9107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66025-8EE7-4C6B-9F70-817D1404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02954-C180-4A9B-BC43-433B84C2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5777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对照指标验收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4D4B4-FC4B-4201-B9AE-E257EDB9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时间、返工与数据完整性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18454917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F3635-3901-4195-A45A-23771B18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投资验证：门槛降低能否带来付费使用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E3F9E-19CF-4691-8FA0-CA56C2F9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1E241-D763-4B9F-9902-1A9E399F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2B80B-B0C3-4366-AF46-FE7CC603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以重复文件工作切入，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围绕公司上下文扩展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3B5F5-78CE-4AAB-8298-20DD097B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配置成本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CA163-1371-499E-A000-F755D4CE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能否更快进入实际工作？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243BB-F6D2-4E75-8AFC-BDD36D6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任务可靠性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F2D36-75FE-41F3-95D3-79721903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能否持续交付可检查的结果？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A00BC-A795-422C-AB69-C75F6A7C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00001-1182-43DD-A2F6-31EBAB86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是否成为重复工作的习惯？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21589-F917-41C1-94B0-B7DD6B18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付费意愿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7288A-55BB-4226-99C4-84EC2EA4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价值是否足以支持商业化？</a:t>
            </a:r>
          </a:p>
        </p:txBody>
      </p:sp>
    </p:spTree>
    <p:extLst>
      <p:ext uri="{BB962C8B-B14F-4D97-AF65-F5344CB8AC3E}">
        <p14:creationId xmlns:p14="http://schemas.microsoft.com/office/powerpoint/2010/main" val="3214143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DCAA0-B303-4F44-8630-E81E6951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BDFBF-FE84-4BBA-8CE5-2B7E0129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731F2-58B2-4AFD-9D88-F175FFC2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525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投资者：共同验证团队 AI 的产品路径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59e242c0d4be8"/>
          <a:stretch xmlns:a="http://schemas.openxmlformats.org/drawingml/2006/main"/>
        </p:blipFill>
        <p:spPr>
          <a:xfrm xmlns:a="http://schemas.openxmlformats.org/drawingml/2006/main">
            <a:off x="9753600" y="4629150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197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0ECC4-953E-4981-A277-63B081B0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B6062-55BE-4469-BC53-B4A15C32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3E7A5-6219-45B2-8FC7-02001F4A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7A23C-A93A-4761-ACA9-715087DC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613E4-466E-4D43-BBD1-10364A24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288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AFFF8-51BD-4BEF-823D-545A8C3A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AF9E4-866C-4BC3-B99E-DBE7E060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B7971-EE86-48B2-BF7B-993D9766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8137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B8BCF-C49E-49CC-B66A-268B396F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B684D-88E5-4A2A-A196-14E9031C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757EA-C6B4-4F98-939F-A1FB893D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339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代码与预览支持功能说明，不代表部署验收或客户业绩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可靠性、使用与商业指标，需要在真实试点中验证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71ACB-2017-478C-93CE-05ED897D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173488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2026-10-01T09:06:38.8370000Z</dcterms:created>
  <dcterms:modified xsi:type="dcterms:W3CDTF">2026-10-01T09:06:38.8380000Z</dcterms:modified>
</coreProperties>
</file>