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33862b71264b01" /><Relationship Type="http://schemas.openxmlformats.org/officeDocument/2006/relationships/extended-properties" Target="/docProps/app.xml" Id="Rcc1eb60645b64feb" /><Relationship Type="http://schemas.openxmlformats.org/officeDocument/2006/relationships/officeDocument" Target="/ppt/presentation.xml" Id="R7ea3b7239f1c42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60370d1114466"/>
  </p:sldMasterIdLst>
  <p:notesMasterIdLst>
    <p:notesMasterId xmlns:r="http://schemas.openxmlformats.org/officeDocument/2006/relationships" r:id="Rcab9457ee1554616"/>
  </p:notesMasterIdLst>
  <p:sldIdLst>
    <p:sldId xmlns:r="http://schemas.openxmlformats.org/officeDocument/2006/relationships" id="256" r:id="Rc29c0fd7d0284a38"/>
    <p:sldId xmlns:r="http://schemas.openxmlformats.org/officeDocument/2006/relationships" id="257" r:id="R7f07faaaea7f4300"/>
    <p:sldId xmlns:r="http://schemas.openxmlformats.org/officeDocument/2006/relationships" id="258" r:id="R228e4995e7ab42cb"/>
    <p:sldId xmlns:r="http://schemas.openxmlformats.org/officeDocument/2006/relationships" id="259" r:id="R77410e674fea467f"/>
    <p:sldId xmlns:r="http://schemas.openxmlformats.org/officeDocument/2006/relationships" id="260" r:id="R61326523cf634519"/>
    <p:sldId xmlns:r="http://schemas.openxmlformats.org/officeDocument/2006/relationships" id="261" r:id="R3adee11797b74c90"/>
    <p:sldId xmlns:r="http://schemas.openxmlformats.org/officeDocument/2006/relationships" id="262" r:id="R3fd6b204735b44c6"/>
    <p:sldId xmlns:r="http://schemas.openxmlformats.org/officeDocument/2006/relationships" id="263" r:id="Ra00d908609a6433f"/>
    <p:sldId xmlns:r="http://schemas.openxmlformats.org/officeDocument/2006/relationships" id="264" r:id="R1b3c74fafeb54ebd"/>
    <p:sldId xmlns:r="http://schemas.openxmlformats.org/officeDocument/2006/relationships" id="265" r:id="Rf40a21565d0f41ff"/>
    <p:sldId xmlns:r="http://schemas.openxmlformats.org/officeDocument/2006/relationships" id="266" r:id="R04e3e55fcf0847cb"/>
    <p:sldId xmlns:r="http://schemas.openxmlformats.org/officeDocument/2006/relationships" id="267" r:id="R6bc5a8d9a71f458c"/>
    <p:sldId xmlns:r="http://schemas.openxmlformats.org/officeDocument/2006/relationships" id="268" r:id="Rc067672fce03417a"/>
    <p:sldId xmlns:r="http://schemas.openxmlformats.org/officeDocument/2006/relationships" id="269" r:id="Re7b6b34afb3042d8"/>
    <p:sldId xmlns:r="http://schemas.openxmlformats.org/officeDocument/2006/relationships" id="270" r:id="Ra9cd676c7f06480a"/>
    <p:sldId xmlns:r="http://schemas.openxmlformats.org/officeDocument/2006/relationships" id="271" r:id="R48997f44de8b4253"/>
    <p:sldId xmlns:r="http://schemas.openxmlformats.org/officeDocument/2006/relationships" id="272" r:id="R9019045d1d2e4972"/>
    <p:sldId xmlns:r="http://schemas.openxmlformats.org/officeDocument/2006/relationships" id="273" r:id="R9fd1a42203a34ccd"/>
    <p:sldId xmlns:r="http://schemas.openxmlformats.org/officeDocument/2006/relationships" id="274" r:id="Ra0287d0b75214525"/>
    <p:sldId xmlns:r="http://schemas.openxmlformats.org/officeDocument/2006/relationships" id="275" r:id="R5d4ea0381aa94552"/>
    <p:sldId xmlns:r="http://schemas.openxmlformats.org/officeDocument/2006/relationships" id="276" r:id="Rd735aa2e1cbe4f86"/>
    <p:sldId xmlns:r="http://schemas.openxmlformats.org/officeDocument/2006/relationships" id="277" r:id="R5b495c2b09584d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1c30f411114eb3" /><Relationship Type="http://schemas.openxmlformats.org/officeDocument/2006/relationships/slideMaster" Target="/ppt/slideMasters/slideMaster1.xml" Id="Rf4360370d1114466" /><Relationship Type="http://schemas.openxmlformats.org/officeDocument/2006/relationships/notesMaster" Target="/ppt/notesMasters/notesMaster1.xml" Id="Rcab9457ee1554616" /><Relationship Type="http://schemas.openxmlformats.org/officeDocument/2006/relationships/presProps" Target="/ppt/presProps.xml" Id="R620b6344bbc542a6" /><Relationship Type="http://schemas.openxmlformats.org/officeDocument/2006/relationships/tableStyles" Target="/ppt/tableStyles.xml" Id="Rc7cbd3c962bb4fcc" /><Relationship Type="http://schemas.openxmlformats.org/officeDocument/2006/relationships/slide" Target="/ppt/slides/slide1.xml" Id="Rc29c0fd7d0284a38" /><Relationship Type="http://schemas.openxmlformats.org/officeDocument/2006/relationships/slide" Target="/ppt/slides/slide2.xml" Id="R7f07faaaea7f4300" /><Relationship Type="http://schemas.openxmlformats.org/officeDocument/2006/relationships/slide" Target="/ppt/slides/slide3.xml" Id="R228e4995e7ab42cb" /><Relationship Type="http://schemas.openxmlformats.org/officeDocument/2006/relationships/slide" Target="/ppt/slides/slide4.xml" Id="R77410e674fea467f" /><Relationship Type="http://schemas.openxmlformats.org/officeDocument/2006/relationships/slide" Target="/ppt/slides/slide5.xml" Id="R61326523cf634519" /><Relationship Type="http://schemas.openxmlformats.org/officeDocument/2006/relationships/slide" Target="/ppt/slides/slide6.xml" Id="R3adee11797b74c90" /><Relationship Type="http://schemas.openxmlformats.org/officeDocument/2006/relationships/slide" Target="/ppt/slides/slide7.xml" Id="R3fd6b204735b44c6" /><Relationship Type="http://schemas.openxmlformats.org/officeDocument/2006/relationships/slide" Target="/ppt/slides/slide8.xml" Id="Ra00d908609a6433f" /><Relationship Type="http://schemas.openxmlformats.org/officeDocument/2006/relationships/slide" Target="/ppt/slides/slide9.xml" Id="R1b3c74fafeb54ebd" /><Relationship Type="http://schemas.openxmlformats.org/officeDocument/2006/relationships/slide" Target="/ppt/slides/slide10.xml" Id="Rf40a21565d0f41ff" /><Relationship Type="http://schemas.openxmlformats.org/officeDocument/2006/relationships/slide" Target="/ppt/slides/slide11.xml" Id="R04e3e55fcf0847cb" /><Relationship Type="http://schemas.openxmlformats.org/officeDocument/2006/relationships/slide" Target="/ppt/slides/slide12.xml" Id="R6bc5a8d9a71f458c" /><Relationship Type="http://schemas.openxmlformats.org/officeDocument/2006/relationships/slide" Target="/ppt/slides/slide13.xml" Id="Rc067672fce03417a" /><Relationship Type="http://schemas.openxmlformats.org/officeDocument/2006/relationships/slide" Target="/ppt/slides/slide14.xml" Id="Re7b6b34afb3042d8" /><Relationship Type="http://schemas.openxmlformats.org/officeDocument/2006/relationships/slide" Target="/ppt/slides/slide15.xml" Id="Ra9cd676c7f06480a" /><Relationship Type="http://schemas.openxmlformats.org/officeDocument/2006/relationships/slide" Target="/ppt/slides/slide16.xml" Id="R48997f44de8b4253" /><Relationship Type="http://schemas.openxmlformats.org/officeDocument/2006/relationships/slide" Target="/ppt/slides/slide17.xml" Id="R9019045d1d2e4972" /><Relationship Type="http://schemas.openxmlformats.org/officeDocument/2006/relationships/slide" Target="/ppt/slides/slide18.xml" Id="R9fd1a42203a34ccd" /><Relationship Type="http://schemas.openxmlformats.org/officeDocument/2006/relationships/slide" Target="/ppt/slides/slide19.xml" Id="Ra0287d0b75214525" /><Relationship Type="http://schemas.openxmlformats.org/officeDocument/2006/relationships/slide" Target="/ppt/slides/slide20.xml" Id="R5d4ea0381aa94552" /><Relationship Type="http://schemas.openxmlformats.org/officeDocument/2006/relationships/slide" Target="/ppt/slides/slide21.xml" Id="Rd735aa2e1cbe4f86" /><Relationship Type="http://schemas.openxmlformats.org/officeDocument/2006/relationships/slide" Target="/ppt/slides/slide22.xml" Id="R5b495c2b09584d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b9396c0384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32abd717b94ede" /><Relationship Type="http://schemas.openxmlformats.org/officeDocument/2006/relationships/notesMaster" Target="/ppt/notesMasters/notesMaster1.xml" Id="R318379d26c514d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5dd65670ca4101" /><Relationship Type="http://schemas.openxmlformats.org/officeDocument/2006/relationships/notesMaster" Target="/ppt/notesMasters/notesMaster1.xml" Id="R68980f4daa9146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84e65484654d14" /><Relationship Type="http://schemas.openxmlformats.org/officeDocument/2006/relationships/notesMaster" Target="/ppt/notesMasters/notesMaster1.xml" Id="R34fe00ab601945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f03df393634ea2" /><Relationship Type="http://schemas.openxmlformats.org/officeDocument/2006/relationships/notesMaster" Target="/ppt/notesMasters/notesMaster1.xml" Id="Re9297af3d4f347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cddff211694bf5" /><Relationship Type="http://schemas.openxmlformats.org/officeDocument/2006/relationships/notesMaster" Target="/ppt/notesMasters/notesMaster1.xml" Id="Rd65bcd15a805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a68c583d6647fd" /><Relationship Type="http://schemas.openxmlformats.org/officeDocument/2006/relationships/notesMaster" Target="/ppt/notesMasters/notesMaster1.xml" Id="R3e79b8ff82f842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ac5d6fcff44e81" /><Relationship Type="http://schemas.openxmlformats.org/officeDocument/2006/relationships/notesMaster" Target="/ppt/notesMasters/notesMaster1.xml" Id="R3b2dc062905e42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7afd9562d7470b" /><Relationship Type="http://schemas.openxmlformats.org/officeDocument/2006/relationships/notesMaster" Target="/ppt/notesMasters/notesMaster1.xml" Id="Rf68dfaeda5fc43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eb8823e8974b7b" /><Relationship Type="http://schemas.openxmlformats.org/officeDocument/2006/relationships/notesMaster" Target="/ppt/notesMasters/notesMaster1.xml" Id="R3672b017cb6140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853f2f5cc746fc" /><Relationship Type="http://schemas.openxmlformats.org/officeDocument/2006/relationships/notesMaster" Target="/ppt/notesMasters/notesMaster1.xml" Id="R0bcb722faf974d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edd690a4754d3f" /><Relationship Type="http://schemas.openxmlformats.org/officeDocument/2006/relationships/notesMaster" Target="/ppt/notesMasters/notesMaster1.xml" Id="R78d740a19e4449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f1854704664d68" /><Relationship Type="http://schemas.openxmlformats.org/officeDocument/2006/relationships/notesMaster" Target="/ppt/notesMasters/notesMaster1.xml" Id="R5ea0169297d54a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c0027526e5496c" /><Relationship Type="http://schemas.openxmlformats.org/officeDocument/2006/relationships/notesMaster" Target="/ppt/notesMasters/notesMaster1.xml" Id="R36df9c052b9e40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1f8047911a4efa" /><Relationship Type="http://schemas.openxmlformats.org/officeDocument/2006/relationships/notesMaster" Target="/ppt/notesMasters/notesMaster1.xml" Id="R93699748160941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c2c50433454e96" /><Relationship Type="http://schemas.openxmlformats.org/officeDocument/2006/relationships/notesMaster" Target="/ppt/notesMasters/notesMaster1.xml" Id="Rb467b69489224e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5e7948e8e74233" /><Relationship Type="http://schemas.openxmlformats.org/officeDocument/2006/relationships/notesMaster" Target="/ppt/notesMasters/notesMaster1.xml" Id="R269ec7b16f4a4e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484266e0814d1b" /><Relationship Type="http://schemas.openxmlformats.org/officeDocument/2006/relationships/notesMaster" Target="/ppt/notesMasters/notesMaster1.xml" Id="Rfd48f26d503e40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0463d4e2b24741" /><Relationship Type="http://schemas.openxmlformats.org/officeDocument/2006/relationships/notesMaster" Target="/ppt/notesMasters/notesMaster1.xml" Id="R89cbd5afbea94d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ea15b0ddfa4d90" /><Relationship Type="http://schemas.openxmlformats.org/officeDocument/2006/relationships/notesMaster" Target="/ppt/notesMasters/notesMaster1.xml" Id="Redaa1ead47434b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43ee0900c945d2" /><Relationship Type="http://schemas.openxmlformats.org/officeDocument/2006/relationships/notesMaster" Target="/ppt/notesMasters/notesMaster1.xml" Id="Rc89cb153022b47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aed66e34a1419c" /><Relationship Type="http://schemas.openxmlformats.org/officeDocument/2006/relationships/notesMaster" Target="/ppt/notesMasters/notesMaster1.xml" Id="R430508917f9d46c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8813a713e6a4c4f" /><Relationship Type="http://schemas.openxmlformats.org/officeDocument/2006/relationships/notesMaster" Target="/ppt/notesMasters/notesMaster1.xml" Id="Rd054b62b544b4c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by Eternalgy 是为团队设计的 AI，当前以 Document Intelligence 切入。公司上下文与流程是产品定位。现有 host 仍为单一操作员与默认公司。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这是问题定义与设计方向。团队角色示意不表示当前 host 已具有多成员账号或团队权限。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水坝是创始人的商业化比喻，不是行业研究结论。搭建、使用、稳定三道门槛是产品设计与试点验证重点。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公司理解指明确保存并被任务调用的公司上下文，不是模型自动训练。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可以用旧 invoice、quotation、company profile 与可读官网内容提供背景。抽取事实需用户确认。此 repo 没有新增独立 OCR 或 crawler 服务，不能承诺只看几张文件即自动完成。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常见业务共享客户、商品、文件、采集与规则等结构。e 当前使用预置业务 schema，可按公司配置字段、模板和规则，不是自动创建任意数据库。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Expert of Digitalization 是创始人补充的定位。单次生成 PDF 并不自动建立关联业务记录。数字化的定义是将业务信息转为计算机可理解、可关联、可计算的数据。此页比较输出方式，不概括所有竞品。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core/documents.mjs:67-78,353-392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关系示意简化自现有 schema：di.document(customer_id,issue_date,total,custom)、di.document_line(document_id,product_id,quantity,discount_amount)、di.customer、di.product。人员归属可配置为 custom 字段，不是默认 sales-agent 外键。右侧为可扩展分析示例，不是已交付的报表。收入需公司定义确认口径；热门商品需选数量或金额；折扣比例需定义分母与汇总口径。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core/documents.mjs:67-78,353-392; core/admin.mjs:57-82; core/dashboard.mjs:23-128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创始人将 e 定位为 Expert of Digitalization。PostgreSQL、schema 查询和自定义字段、公开 HTML 表单发布、文件存储与分享为 repo 可证实的能力。Cloud Storage 为用户指定的部署方向，当前 repo 通过宿主 filesRoot/workspace 与 publicUrl 存储和发布，不代表已整合某一云对象存储服务。订单表单、工作报告表单是可配置采集用途，不是完整订单或工单产品。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core/admin.mjs:57-82; core/actions.mjs:31-114; core/forms.mjs:552-574; host.mjs:197-242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单次文件输出与 e 的流程方式做概念对比，不将所有其他 AI 归为只会 PDF。五个齿轮代表预置 schema、数据库记录、文档生命周期、SOP 与模板。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准备不写记录，草稿可以修改，issue 时验证并编号，保存 snapshots，PDF 与付款记录进入持续流程。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表单、review、stats 与 CSV 是现有工具。工程报告、每日打卡是可配置的数据采集例子，不代表完整工单、考勤或薪资系统。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资料依据：core/forms.mjs:418-481,552-574,830-884,991-1060,1084-1178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CRM preview，金额与数量为演示数据。代码实现应收、逾期、开票与收款趋势、报价pipeline，截图不代表经营业绩。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资料依据：core/dashboard.mjs:23-128; preview/crm-desktop.png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registry 七个 DI specialist。Orchestrator 所在外围 UIv2 host 接收需求与派发任务，specialist 共享记录但工具各有授权范围。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用细胞比喻说明分工与协作产生系统能力。修辞不对细胞认知能力作科学断言，也不等于仅靠单个 agent 就能保证整体可靠性。</a:t>
            </a:r>
          </a:p>
          <a:p xmlns:a="http://schemas.openxmlformats.org/drawingml/2006/main">
            <a:r>
              <a:t>依据：core/tools.mjs:16-24,729-737; host.mjs:26-70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两种架构思路的概念对比，不概括全部竞品。资料、模板、文件、表单为当前 specialist 职责例子。单元、调度与交接都需验证。</a:t>
            </a:r>
          </a:p>
          <a:p xmlns:a="http://schemas.openxmlformats.org/drawingml/2006/main">
            <a:r>
              <a:t>依据：core/tools.mjs:16-24,729-737; host.mjs:26-70; core/documents.mjs:210-339,353-392,467-493,504-549,568-602; core/actions.mjs:31-114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可检查机制是代码事实，不等于已验证成功率、低错误率或零错误。RLS 隔离在 di_app 角色可用时生效，数据库角色 unavailable 时有降级限制。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定义 MVP/working demo。当前 host 单操作员/default company，数据库 tenant-aware 不表示已有团队用户权限。MyInvois 尚无提交整合。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这是建议试点方法，不是正式套餐、价格、承诺期限或已取得客户成果。由客户选一条适合现有功能的流程，使用其真实资料并确认后运行。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投资命题是待验证的假设。没有 supplied traction、收入、市场规模、投资额、估值或财务数据，本页不虚构这些指标。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下一步：客户选一条真实流程试点，投资者共同验证商业化路径。不是报价、合同或募资条件。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所有产品实现依据为本地 repo。生成图仅作视觉比喻，截图为演示数据。资料截至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core/forms.mjs:418-481,552-574,830-884,991-1060,1084-1178</a:t>
            </a:r>
          </a:p>
          <a:p xmlns:a="http://schemas.openxmlformats.org/drawingml/2006/main">
            <a:r>
              <a:t>ONBOARDING.md; README.md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be7764a6144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c21e87a08f4a60" /><Relationship Type="http://schemas.openxmlformats.org/officeDocument/2006/relationships/slideLayout" Target="/ppt/slideLayouts/slideLayout1.xml" Id="R9148c0b3b60f40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48c0b3b60f40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11ab7c11a4f02" /><Relationship Type="http://schemas.openxmlformats.org/officeDocument/2006/relationships/image" Target="/ppt/media/image.png" Id="Rf9fb486d29634f45" /><Relationship Type="http://schemas.openxmlformats.org/officeDocument/2006/relationships/image" Target="/ppt/media/image2.png" Id="Rce5d2d2030ed41c2" /><Relationship Type="http://schemas.openxmlformats.org/officeDocument/2006/relationships/notesSlide" Target="/ppt/notesSlides/notesSlide1.xml" Id="Ra335999e7b1045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9cdb13f6403b" /><Relationship Type="http://schemas.openxmlformats.org/officeDocument/2006/relationships/notesSlide" Target="/ppt/notesSlides/notesSlide2.xml" Id="R04f161e2a3f44f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5afd7751a439d" /><Relationship Type="http://schemas.openxmlformats.org/officeDocument/2006/relationships/image" Target="/ppt/media/image3.png" Id="Rdac721e5ca084870" /><Relationship Type="http://schemas.openxmlformats.org/officeDocument/2006/relationships/notesSlide" Target="/ppt/notesSlides/notesSlide3.xml" Id="Rbc19bd7c86cd44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863602a184c43" /><Relationship Type="http://schemas.openxmlformats.org/officeDocument/2006/relationships/notesSlide" Target="/ppt/notesSlides/notesSlide4.xml" Id="Rf857e1d67cdf41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59dd92de8409d" /><Relationship Type="http://schemas.openxmlformats.org/officeDocument/2006/relationships/image" Target="/ppt/media/image4.png" Id="Rfa03d708b5e14940" /><Relationship Type="http://schemas.openxmlformats.org/officeDocument/2006/relationships/notesSlide" Target="/ppt/notesSlides/notesSlide5.xml" Id="R0829baeb97e344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ebeeec37d44c8" /><Relationship Type="http://schemas.openxmlformats.org/officeDocument/2006/relationships/notesSlide" Target="/ppt/notesSlides/notesSlide6.xml" Id="Ra84e2783fffa4f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7680de1434098" /><Relationship Type="http://schemas.openxmlformats.org/officeDocument/2006/relationships/notesSlide" Target="/ppt/notesSlides/notesSlide7.xml" Id="R39930403833747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51746088342f0" /><Relationship Type="http://schemas.openxmlformats.org/officeDocument/2006/relationships/notesSlide" Target="/ppt/notesSlides/notesSlide8.xml" Id="R89ae79e8b9e441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e7dc697cc4496" /><Relationship Type="http://schemas.openxmlformats.org/officeDocument/2006/relationships/notesSlide" Target="/ppt/notesSlides/notesSlide9.xml" Id="R00c1ab990e6e4b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7f9ec26fa4171" /><Relationship Type="http://schemas.openxmlformats.org/officeDocument/2006/relationships/image" Target="/ppt/media/image5.png" Id="R87d7ea418c0148bc" /><Relationship Type="http://schemas.openxmlformats.org/officeDocument/2006/relationships/notesSlide" Target="/ppt/notesSlides/notesSlide10.xml" Id="R8203d078d14342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776c43ec14a2f" /><Relationship Type="http://schemas.openxmlformats.org/officeDocument/2006/relationships/notesSlide" Target="/ppt/notesSlides/notesSlide11.xml" Id="R56aaf131f13d4f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84f065e1a425f" /><Relationship Type="http://schemas.openxmlformats.org/officeDocument/2006/relationships/notesSlide" Target="/ppt/notesSlides/notesSlide12.xml" Id="Rf36d40e075f142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67fc13a3f4a8f" /><Relationship Type="http://schemas.openxmlformats.org/officeDocument/2006/relationships/image" Target="/ppt/media/image6.png" Id="R17ec9fa30dac4644" /><Relationship Type="http://schemas.openxmlformats.org/officeDocument/2006/relationships/notesSlide" Target="/ppt/notesSlides/notesSlide13.xml" Id="R7e9e64dff8b543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2c2a0daf245d8" /><Relationship Type="http://schemas.openxmlformats.org/officeDocument/2006/relationships/notesSlide" Target="/ppt/notesSlides/notesSlide14.xml" Id="R29eb4a6a47094d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bc9447f5b4ff8" /><Relationship Type="http://schemas.openxmlformats.org/officeDocument/2006/relationships/image" Target="/ppt/media/image7.png" Id="R5e233d17a9174b6d" /><Relationship Type="http://schemas.openxmlformats.org/officeDocument/2006/relationships/notesSlide" Target="/ppt/notesSlides/notesSlide15.xml" Id="R9f534dd3d43a4a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619044ae64081" /><Relationship Type="http://schemas.openxmlformats.org/officeDocument/2006/relationships/image" Target="/ppt/media/image8.png" Id="Reba94c90adae4b69" /><Relationship Type="http://schemas.openxmlformats.org/officeDocument/2006/relationships/notesSlide" Target="/ppt/notesSlides/notesSlide16.xml" Id="R6f1fe875b37849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f64c6d8214d2d" /><Relationship Type="http://schemas.openxmlformats.org/officeDocument/2006/relationships/notesSlide" Target="/ppt/notesSlides/notesSlide17.xml" Id="R4e0c67198be54b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d6a5dda6e4fcd" /><Relationship Type="http://schemas.openxmlformats.org/officeDocument/2006/relationships/notesSlide" Target="/ppt/notesSlides/notesSlide18.xml" Id="Rb1f68fc37a9540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f18dd53734c4f" /><Relationship Type="http://schemas.openxmlformats.org/officeDocument/2006/relationships/notesSlide" Target="/ppt/notesSlides/notesSlide19.xml" Id="R392349a2d8e54f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199982cad431b" /><Relationship Type="http://schemas.openxmlformats.org/officeDocument/2006/relationships/notesSlide" Target="/ppt/notesSlides/notesSlide20.xml" Id="R0552a1b7777143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c0fb988ff4815" /><Relationship Type="http://schemas.openxmlformats.org/officeDocument/2006/relationships/image" Target="/ppt/media/image9.png" Id="R6bc83b81fa7e4c5d" /><Relationship Type="http://schemas.openxmlformats.org/officeDocument/2006/relationships/notesSlide" Target="/ppt/notesSlides/notesSlide21.xml" Id="Rc2c4f6bab4f743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f0284cd194948" /><Relationship Type="http://schemas.openxmlformats.org/officeDocument/2006/relationships/notesSlide" Target="/ppt/notesSlides/notesSlide22.xml" Id="Rccd334a47f0f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b486d29634f45"/>
          <a:stretch xmlns:a="http://schemas.openxmlformats.org/drawingml/2006/main"/>
        </p:blipFill>
        <p:spPr>
          <a:xfrm xmlns:a="http://schemas.openxmlformats.org/drawingml/2006/main">
            <a:off x="704850" y="72390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C58AB-7902-4B2D-9249-2808A7E6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001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B18D0-9FD7-4530-809C-493CE9B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972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D17CF-DAB0-4354-B4B9-60F6A1AF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52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让公司资料，成为 AI 的工作依据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1E6AC-2A3C-4AD8-ABE3-B0D7B466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d2d2030ed41c2"/>
          <a:stretch xmlns:a="http://schemas.openxmlformats.org/drawingml/2006/main"/>
        </p:blipFill>
        <p:spPr>
          <a:xfrm xmlns:a="http://schemas.openxmlformats.org/drawingml/2006/main">
            <a:off x="7924800" y="1209204"/>
            <a:ext cx="3581400" cy="43824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28EA1-7E00-4E11-B8FF-2D8274A0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595825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3C5DF-03B4-4596-A6EB-B7C5209F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27D54-594D-4CCE-98B8-8F128C24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98BBB-D82D-49FE-8B0A-1DEF265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971F4-35FF-4869-BA16-417EFC4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每个成员带来任务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公司提供共同依据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9C07B-4B84-4149-9B5B-C6A135FD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成员经验与旧文件中的信息，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需要延续到下一次工作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959C6-08CB-4563-A50A-C739BBE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8E70B-4B02-4C81-83FC-049035B3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销售任务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E6765-4248-43FB-BE41-AE497860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5DC99-431F-490C-977E-6BA8BF23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行政任务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A0C35-4D3F-46F8-AF6A-0E22552E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9A19D-CBAA-4CD2-AE4E-4EDC043F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财务任务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573B9-DEE0-4A8F-942D-31A5F08A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190750" cy="17145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B3061-B703-4366-BFD9-10AAB3B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公司上下文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2476500"/>
            <a:ext cx="8191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3629025"/>
            <a:ext cx="8191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324850" y="3829050"/>
            <a:ext cx="8191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1E9E3-0689-4BD7-8D3B-DA22F064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产品方向：团队协作。多人账号与权限仍待完善。</a:t>
            </a:r>
          </a:p>
        </p:txBody>
      </p:sp>
    </p:spTree>
    <p:extLst>
      <p:ext uri="{BB962C8B-B14F-4D97-AF65-F5344CB8AC3E}">
        <p14:creationId xmlns:p14="http://schemas.microsoft.com/office/powerpoint/2010/main" val="1115496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B7E0D-5843-4BDF-B11E-A065885B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AI 变现的最后一里路，是使用门槛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E2455-60ED-4E35-AC8E-ED70743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6F1CA-4E6F-4376-BC06-391CBB86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5D1C4-FCCE-4F0F-A006-E73A2543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模型能力像水源，真正的价值需要跨过三道门槛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721e5ca084870"/>
          <a:stretch xmlns:a="http://schemas.openxmlformats.org/drawingml/2006/main"/>
        </p:blipFill>
        <p:spPr>
          <a:xfrm xmlns:a="http://schemas.openxmlformats.org/drawingml/2006/main">
            <a:off x="685800" y="2328156"/>
            <a:ext cx="10820400" cy="3287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E8946-AF04-425A-9AC9-F24417AB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B829A-B8A8-4A41-B9E5-2089A23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搭建门槛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E2923-6BFB-49E3-BEAD-9A130A40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20656-AFB3-49EE-8E33-535B5716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使用门槛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F5A76-8CA7-4366-9EB8-C41BE4F6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4417E-933F-4855-A88C-D4401047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稳定门槛</a:t>
            </a:r>
          </a:p>
        </p:txBody>
      </p:sp>
    </p:spTree>
    <p:extLst>
      <p:ext uri="{BB962C8B-B14F-4D97-AF65-F5344CB8AC3E}">
        <p14:creationId xmlns:p14="http://schemas.microsoft.com/office/powerpoint/2010/main" val="1509352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DAF4C-21E5-44D5-BE93-E571E49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F191-AB02-4080-8701-C7A3FB0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0FC16-4948-4ABF-B92F-1282CC8E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1AA28-2AB5-498C-9FB5-900692CF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D1E9D-2ABE-49ED-B1CC-3E1DF66B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文件与规则怎样运作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28FF4-C84E-4282-941D-206C51F4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1813C-4121-4C7B-8ED9-60A3BB92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查记录，准备文件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发现缺项，先询问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保存成果，延续后续工作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7F1D2-F159-4575-9C43-08A2D7F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851A5-7931-4702-AE7D-6731F7F6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47875"/>
            <a:ext cx="0" cy="3248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6B9D2-5943-4F2F-ABA7-25B032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公司资料与规则，决定每一次工作怎样完成</a:t>
            </a:r>
          </a:p>
        </p:txBody>
      </p:sp>
    </p:spTree>
    <p:extLst>
      <p:ext uri="{BB962C8B-B14F-4D97-AF65-F5344CB8AC3E}">
        <p14:creationId xmlns:p14="http://schemas.microsoft.com/office/powerpoint/2010/main" val="325696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287F9-8624-46D3-9D56-C09AC058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6F542-08A2-4A5B-89CC-E0101774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3CA2F-67B3-46D6-9E9A-A8C49767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3d708b5e14940"/>
          <a:stretch xmlns:a="http://schemas.openxmlformats.org/drawingml/2006/main"/>
        </p:blipFill>
        <p:spPr>
          <a:xfrm xmlns:a="http://schemas.openxmlformats.org/drawingml/2006/main">
            <a:off x="852221" y="1781175"/>
            <a:ext cx="2838983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A2202-5748-444D-8F5C-A78045E7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你已有的文件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C3CDF-7045-48D3-93AE-2215DF64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97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87F2A-61E9-423E-B230-76A82347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977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读取核心信息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AC9EB-20AF-4C94-B1F7-6204BFFD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公司资料、旧报价单与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BD35B-EFE9-4012-802D-11CA70E5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956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694BE-E6AB-4DC3-9219-AF9815D4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确认与保存设定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6F894-3C93-4E42-87B3-460D8D18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766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核对身份、付款条件与编号规则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73EED-F73C-40FB-8C47-2878B2C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815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475D5-8AB6-4398-B202-0F20C1C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8152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预览并验证模板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0B95A-7910-40B2-814E-5EA7E09D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625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用实际文件检查输出</a:t>
            </a:r>
          </a:p>
        </p:txBody>
      </p:sp>
    </p:spTree>
    <p:extLst>
      <p:ext uri="{BB962C8B-B14F-4D97-AF65-F5344CB8AC3E}">
        <p14:creationId xmlns:p14="http://schemas.microsoft.com/office/powerpoint/2010/main" val="954277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51630-F3DD-49A8-9CAB-4550A503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A7500-1444-4084-9406-375E32FA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4775F-6E30-4B3D-9361-DBEBD9C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CFA61-AF96-4B66-BFF7-25353361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79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不同业务，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共享许多相同的结构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223AB-0804-40C7-823D-C57AB44D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5791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Expert of Digitalization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F7C43-42A1-4E65-8772-793907EA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以常用数据结构承接工作，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再适应公司的设定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2F83C-FD16-42F6-A055-01D432D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000250" cy="1238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2BEE6-8E08-4F92-8746-B3AB5380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1809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8BEB6-0726-4131-BD61-68241511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3EB36-9291-4F58-85C5-6B213F7E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7791450" y="2395538"/>
            <a:ext cx="3810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2C588-F689-4A00-AC71-60D4E0D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635BB-F737-4F0B-86AD-42B83599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cxnSp>
        <p:nvCxnSpPr>
          <p:cNvPr id="34" name=""/>
          <p:cNvCxnSpPr>
            <a:stCxn xmlns:a="http://schemas.openxmlformats.org/drawingml/2006/main" id="12" idx="1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>
            <a:off x="10172700" y="2395538"/>
            <a:ext cx="3048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2B0E7-A580-4AD7-AAEB-8AFFDDB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30242-C7DB-4832-82FC-D950069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cxnSp>
        <p:nvCxnSpPr>
          <p:cNvPr id="37" name=""/>
          <p:cNvCxnSpPr>
            <a:stCxn xmlns:a="http://schemas.openxmlformats.org/drawingml/2006/main" id="1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7791450" y="3857625"/>
            <a:ext cx="3810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81391-0A85-4336-9C8D-27DE9E74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AD8CA-5045-4CC0-82BF-C92F88F8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cxnSp>
        <p:nvCxnSpPr>
          <p:cNvPr id="40" name=""/>
          <p:cNvCxnSpPr>
            <a:stCxn xmlns:a="http://schemas.openxmlformats.org/drawingml/2006/main" id="18" idx="1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 flipV="1">
            <a:off x="10172700" y="3857625"/>
            <a:ext cx="3048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14262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95E2E-A920-4A80-9D51-EE54051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数字化：让 DATA 在计算世界里活起来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B3104-15B4-4081-B800-65EF8083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154A5-0B6E-4A96-AAC2-138A3012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EE3DE-69D5-4D74-AE93-DBC5E32B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Paperless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6FB09-C830-4CCF-AD55-E66ABE1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纸张变成 PDF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方便保存与传递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58F20-9682-447D-9D5F-5339FCCD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Computer-meaningful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C9CD8-1B11-42BB-B94D-03B61B46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525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客户、商品、金额、时间</a:t>
            </a:r>
          </a:p>
          <a:p xmlns:a="http://schemas.openxmlformats.org/drawingml/2006/main">
            <a:pPr algn="l">
              <a:def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成为可关联、可计算的数据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4DC48-4822-4E2A-9528-B2ADD790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91200" y="1962150"/>
            <a:ext cx="0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174B6-AA81-454E-B71E-B09E207C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81425"/>
            <a:ext cx="2686050" cy="14668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A1190-0C3C-4A0F-9EA3-8EB6B9A5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57625"/>
            <a:ext cx="2495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</a:t>
            </a:r>
          </a:p>
          <a:p xmlns:a="http://schemas.openxmlformats.org/drawingml/2006/main">
            <a:pPr algn="ctr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EA9A4-E74D-472F-9C18-457FCB2E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81425"/>
            <a:ext cx="2838450" cy="14668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5CE48-1CAC-4B0D-9153-9EB2FBAE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57625"/>
            <a:ext cx="2647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  <a:p xmlns:a="http://schemas.openxmlformats.org/drawingml/2006/main">
            <a:pPr algn="ctr">
              <a:def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关系数据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A5B5F-D07C-4740-AA34-F10D8A9D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在交付文件的同时，将业务信息保存为结构化记录</a:t>
            </a:r>
          </a:p>
        </p:txBody>
      </p:sp>
    </p:spTree>
    <p:extLst>
      <p:ext uri="{BB962C8B-B14F-4D97-AF65-F5344CB8AC3E}">
        <p14:creationId xmlns:p14="http://schemas.microsoft.com/office/powerpoint/2010/main" val="4459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6382CD-768C-4473-A49D-0B1402B3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一张 Invoice，成为可持续计算的数据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C20AD-919F-4E43-A591-5BF02FAE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BF4EC-3463-4272-A4C1-ABDE068D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A8AB9-2C35-4969-B454-DCD03FA5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Relational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BFC34-8C99-4434-AB35-C78D4650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972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分析示例：依实际字段与公司计算口径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6EC46-5D67-4D0A-A35C-4209B533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924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A949-1543-4071-9E01-ACB134E6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DE498-429F-4C5E-849A-FFD7B8FF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D7C49-CB12-4741-AC63-8D0F533A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1695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58FD6-DC74-40D1-A199-526F2334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14575"/>
            <a:ext cx="223837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F1C14-9509-4C63-813D-99443E9C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28875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94096-4397-4405-B600-A9C42EDE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98CD9-9216-4692-95F3-6B5E7452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62275"/>
            <a:ext cx="2009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customer_id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issue_date / total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人员归属（配置）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38717-D49B-4836-8478-3A086C06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924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02D6F-A95E-433E-922D-BBC3FEC9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BDC49-A6B2-48D8-8F12-BC74A61B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B896E-0431-4B35-98FC-0E8EFAC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1695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9E033-C685-4B3C-AE59-B23C1541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33875"/>
            <a:ext cx="223837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AD245-6EB1-4A84-90B0-5D402849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48175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C3E29-0B34-4530-A2AE-15384E6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76800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4895F-5711-4A96-BBE7-6158D00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81575"/>
            <a:ext cx="2009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document_id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product_id / quantity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discount_amount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609850" y="3176588"/>
            <a:ext cx="6858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609850" y="5143500"/>
            <a:ext cx="685800" cy="523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414838" y="40386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77FB8-C5D1-4A89-9C18-003938DF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145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每位销售人员的收入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87B37-5226-48A5-BF9C-1B9F3999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关联人员归属与收入确认口径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1A72B-00AA-45A8-BBBC-9C9520E7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670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每月业绩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337BE-F862-4B7D-8360-D12ED448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按月份汇总开票与收款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32BA4-F499-4508-A43C-A25D8BD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95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热门商品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C392CE-C20A-4635-B297-D08A682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767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按商品汇总数量或金额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65A1D-654E-440F-8221-67134D1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每位销售人员的折扣比例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BAA8D-3F89-4760-B7C3-DBE0DD6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292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关联人员与折扣明细，按统一口径比较</a:t>
            </a:r>
          </a:p>
        </p:txBody>
      </p:sp>
    </p:spTree>
    <p:extLst>
      <p:ext uri="{BB962C8B-B14F-4D97-AF65-F5344CB8AC3E}">
        <p14:creationId xmlns:p14="http://schemas.microsoft.com/office/powerpoint/2010/main" val="588616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C8231-D739-444B-8DCB-C8EEDF79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的数字化工作方式与工具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C54E7-A8E7-44C3-8AD2-043D982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B962D-3E10-481A-83FB-E09241F6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94123-1B49-4F4D-ADD9-C253D1C4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数字化专业知识，落实到每一步数据处理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5C63C-02BE-467D-82A2-CF19DA66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923E5-0A41-4CC5-9934-7938BD0F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489B0-7DEA-46C1-9966-3C63CE84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Publishable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38C45-D736-4390-927C-87C7D3C6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HTML 表单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订单表单 / 工作报告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44144-332B-4BF9-B7CC-14F5234B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765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CDFEE-BE19-4A8C-BF67-6210048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006BD-6609-46E0-AACB-2DB4001D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966AC-5EEA-4439-AC18-EA7C9F9F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E175A-C3CE-441A-93FC-9BBDBB4C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理解字段与关系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按公司设定校验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E5FCB-C450-4858-B671-F009C847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340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4AFF9-F617-4C20-B492-9FB24ED7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1A86B-E0E3-46A7-974E-569D30C3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B0D98-5B66-4714-9F02-DB20F8FB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9824E-1A4E-460C-94FA-53C4E76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保存关联业务记录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承接查询与计算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B9C5A-7C08-4064-B4FF-61BB952B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15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F565D-FE2A-4B1A-B089-6EA46C8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C3B73-0551-47D1-B3A8-BB6BC312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D7F12-7DAA-4EF9-973F-FDB31F2B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Cloud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2C0A4-D9F2-49B4-9F41-06D0474A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保存与分享文件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云端存储依部署配置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3A1E0-AA58-4D26-9E60-F8215094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表单发布、schema 与数据记录已有实现；云端文件存储取决于部署配置。</a:t>
            </a:r>
          </a:p>
        </p:txBody>
      </p:sp>
    </p:spTree>
    <p:extLst>
      <p:ext uri="{BB962C8B-B14F-4D97-AF65-F5344CB8AC3E}">
        <p14:creationId xmlns:p14="http://schemas.microsoft.com/office/powerpoint/2010/main" val="132992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432B44-C167-4958-941C-99148A7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6207F-AF69-4107-89DC-619DF21F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D4B9A-B259-499A-8C08-435BEAEA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1AD2A-7B98-440C-B351-761E2C90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CED43-5D05-403C-AADD-39CA09D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单次文件输出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7ea418c0148bc"/>
          <a:stretch xmlns:a="http://schemas.openxmlformats.org/drawingml/2006/main"/>
        </p:blipFill>
        <p:spPr>
          <a:xfrm xmlns:a="http://schemas.openxmlformats.org/drawingml/2006/main">
            <a:off x="1400175" y="2906210"/>
            <a:ext cx="1666875" cy="23600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73F92-9303-4686-8992-B7718517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86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57C0-692C-4A0C-B9DB-9200DD54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98E47-D9D0-4F74-A7D7-A59ABA86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556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e：文档是一条业务流程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C203F-6EA3-4DC6-A044-5BFC1506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580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B91DF-D152-41C3-A175-1E36592F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677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CB238-AE21-49BD-9E35-44C3A2D6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80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06DFE-17CE-486A-AEF4-631F6BF9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677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2FF9B-93D9-4476-95BB-1763EDC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7D019-CA69-4322-A6D5-3902D062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FEA20-DDBF-45CA-B186-8AA3323D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93EAB-7433-40F2-9A55-DF22979E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8958B-BC67-4B0E-80A8-ED17B97E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922AA-9C4C-4F72-B954-61A3129A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D0B3F-4856-406F-8824-09064FB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6495E-6A43-4A4B-8206-6BA332DC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BDADC-630B-4DEB-ABB8-D712B348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43752-7163-4E65-958A-A977957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ABB2B-AA59-4352-B401-8A0963C8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27728-B7CA-4456-A02A-E1FD7FF5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61AE2-10AD-4B42-B805-A59FF18E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657350" cy="1657350"/>
          </a:xfrm>
          <a:custGeom xmlns:a="http://schemas.openxmlformats.org/drawingml/2006/main">
            <a:pathLst>
              <a:path w="1657350" h="1657350">
                <a:moveTo>
                  <a:pt x="828675" y="16573"/>
                </a:moveTo>
                <a:lnTo>
                  <a:pt x="934676" y="23521"/>
                </a:lnTo>
                <a:lnTo>
                  <a:pt x="1002401" y="180320"/>
                </a:lnTo>
                <a:lnTo>
                  <a:pt x="1085542" y="208542"/>
                </a:lnTo>
                <a:lnTo>
                  <a:pt x="1234726" y="125374"/>
                </a:lnTo>
                <a:lnTo>
                  <a:pt x="1323051" y="184392"/>
                </a:lnTo>
                <a:lnTo>
                  <a:pt x="1303304" y="354046"/>
                </a:lnTo>
                <a:lnTo>
                  <a:pt x="1361195" y="420058"/>
                </a:lnTo>
                <a:lnTo>
                  <a:pt x="1531976" y="422624"/>
                </a:lnTo>
                <a:lnTo>
                  <a:pt x="1578959" y="517897"/>
                </a:lnTo>
                <a:lnTo>
                  <a:pt x="1477030" y="654949"/>
                </a:lnTo>
                <a:lnTo>
                  <a:pt x="1494159" y="741062"/>
                </a:lnTo>
                <a:lnTo>
                  <a:pt x="1640777" y="828675"/>
                </a:lnTo>
                <a:lnTo>
                  <a:pt x="1633829" y="934676"/>
                </a:lnTo>
                <a:lnTo>
                  <a:pt x="1477030" y="1002401"/>
                </a:lnTo>
                <a:lnTo>
                  <a:pt x="1448808" y="1085542"/>
                </a:lnTo>
                <a:lnTo>
                  <a:pt x="1531976" y="1234726"/>
                </a:lnTo>
                <a:lnTo>
                  <a:pt x="1472958" y="1323051"/>
                </a:lnTo>
                <a:lnTo>
                  <a:pt x="1303304" y="1303304"/>
                </a:lnTo>
                <a:lnTo>
                  <a:pt x="1237292" y="1361195"/>
                </a:lnTo>
                <a:lnTo>
                  <a:pt x="1234726" y="1531976"/>
                </a:lnTo>
                <a:lnTo>
                  <a:pt x="1139453" y="1578959"/>
                </a:lnTo>
                <a:lnTo>
                  <a:pt x="1002401" y="1477030"/>
                </a:lnTo>
                <a:lnTo>
                  <a:pt x="916288" y="1494159"/>
                </a:lnTo>
                <a:lnTo>
                  <a:pt x="828675" y="1640777"/>
                </a:lnTo>
                <a:lnTo>
                  <a:pt x="722674" y="1633829"/>
                </a:lnTo>
                <a:lnTo>
                  <a:pt x="654949" y="1477030"/>
                </a:lnTo>
                <a:lnTo>
                  <a:pt x="571808" y="1448808"/>
                </a:lnTo>
                <a:lnTo>
                  <a:pt x="422624" y="1531976"/>
                </a:lnTo>
                <a:lnTo>
                  <a:pt x="334299" y="1472958"/>
                </a:lnTo>
                <a:lnTo>
                  <a:pt x="354046" y="1303304"/>
                </a:lnTo>
                <a:lnTo>
                  <a:pt x="296155" y="1237292"/>
                </a:lnTo>
                <a:lnTo>
                  <a:pt x="125374" y="1234726"/>
                </a:lnTo>
                <a:lnTo>
                  <a:pt x="78391" y="1139453"/>
                </a:lnTo>
                <a:lnTo>
                  <a:pt x="180320" y="1002401"/>
                </a:lnTo>
                <a:lnTo>
                  <a:pt x="163191" y="916288"/>
                </a:lnTo>
                <a:lnTo>
                  <a:pt x="16573" y="828675"/>
                </a:lnTo>
                <a:lnTo>
                  <a:pt x="23521" y="722674"/>
                </a:lnTo>
                <a:lnTo>
                  <a:pt x="180320" y="654949"/>
                </a:lnTo>
                <a:lnTo>
                  <a:pt x="208542" y="571808"/>
                </a:lnTo>
                <a:lnTo>
                  <a:pt x="125374" y="422624"/>
                </a:lnTo>
                <a:lnTo>
                  <a:pt x="184392" y="334299"/>
                </a:lnTo>
                <a:lnTo>
                  <a:pt x="354046" y="354046"/>
                </a:lnTo>
                <a:lnTo>
                  <a:pt x="420058" y="296155"/>
                </a:lnTo>
                <a:lnTo>
                  <a:pt x="422624" y="125374"/>
                </a:lnTo>
                <a:lnTo>
                  <a:pt x="517897" y="78391"/>
                </a:lnTo>
                <a:lnTo>
                  <a:pt x="654949" y="180320"/>
                </a:lnTo>
                <a:lnTo>
                  <a:pt x="741062" y="163191"/>
                </a:lnTo>
                <a:close/>
              </a:path>
            </a:pathLst>
          </a:custGeom>
          <a:solidFill xmlns:a="http://schemas.openxmlformats.org/drawingml/2006/main">
            <a:srgbClr val="18775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068F9-B840-4F38-85F2-DC631A6B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850" y="3615500"/>
            <a:ext cx="1093851" cy="109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DAE07-22C7-4CB0-95F1-765FBF55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394" y="3830955"/>
            <a:ext cx="1524762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3C888-F340-4A83-8C2E-E6309BE3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24550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查记录、补缺项、发行文件、保存关联、追踪付款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1334954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B8CFE-EB7C-4DDA-A3CD-ADAEA91A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文件与业务记录，延续到付款之后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164FA-549E-4E13-B2F7-268DDB80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6E0DB-8FD2-4A08-84A6-1BD818A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2E999-B97F-4876-B949-E6B57452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C36A6-CE30-4CEC-91FE-62916EF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AB218-CE05-4C7C-842B-EFD6C158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A6698-6AD6-447B-8DB1-FFBF7722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识别客户与商品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检查缺项与规则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541D2-B7C2-402A-A02C-E37EDB6A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6C41A-513E-4CCE-93BD-DDB9B26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8149D-1FEF-4118-BE11-14E23BEA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CFE32-B5BC-4346-B70D-A569771F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核对内容与金额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确认后再发行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5BD1E-8F89-4316-82E4-248C3AF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11EF0-500E-4664-BB1D-D26022AF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F4698-5061-4C43-A838-AAF7AE1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2F727-20A7-4761-BAB6-99CF1AA9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编号与历史快照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PDF 与业务关联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7BD8E-3D4E-4918-8094-C3C57765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A4C54-B53B-45E8-967B-C0CBE9C0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9F865-4184-4BF9-BA16-7AC5A368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付款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2BA3D-9D1E-4246-B0C0-A733E0E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记录分配与余额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追踪应收状态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95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531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455EC-3DFE-4CBC-A37D-56BB324C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下一次工作，从已有记录继续</a:t>
            </a:r>
          </a:p>
        </p:txBody>
      </p:sp>
    </p:spTree>
    <p:extLst>
      <p:ext uri="{BB962C8B-B14F-4D97-AF65-F5344CB8AC3E}">
        <p14:creationId xmlns:p14="http://schemas.microsoft.com/office/powerpoint/2010/main" val="749680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3FDF1-3DD0-40BD-8D66-526CE540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 收集信息，e 处理后续工作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5E218-E1B3-438B-A34F-F37641EA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0A053-5440-416D-A717-FA06948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07898-169D-4394-A819-8975312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E3249-2330-4196-927E-C4402200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158D3-53F6-43D1-803B-FD879A1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6E93B-FF03-4A5D-AB2C-F4328C90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133600" cy="1657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F5ADA-429D-4C13-A3C2-B9580272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16A1F-B73C-48CE-AA70-3AB7CF44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13360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176C0-8BFA-49A3-BD95-0459336C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755C3-48E2-4B77-B343-1279030B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A158E-AA6F-4A3E-BE21-000F5943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8194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4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57150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9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106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9C0C4-6F2C-45B6-83FC-C8948494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按字段绑定，关联客户、文件与下一步工作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10221715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6B927-B581-4867-B65C-11E715AE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业务记录，让工作状态可见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BF41B-1BB6-4119-80D4-2CBD166B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0156D-A237-4783-86D6-655B9EC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3110A-3E54-4893-AC70-6A454CB9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未收款项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逾期 invoice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待跟进 quotation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79841-E761-4D95-863C-FAAAE675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已有数据，形成业务概览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c9fa30dac4644"/>
          <a:stretch xmlns:a="http://schemas.openxmlformats.org/drawingml/2006/main"/>
        </p:blipFill>
        <p:spPr>
          <a:xfrm xmlns:a="http://schemas.openxmlformats.org/drawingml/2006/main">
            <a:off x="6153990" y="1724025"/>
            <a:ext cx="4751294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A49FF-60BE-49BA-9AF4-A96DA7F6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436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现有界面预览。图中金额与数量为演示数据。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840294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8ACE7-FF42-4E99-BBEB-F6B81B6A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F4B2D-D9F5-4006-9147-49CDF44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FE3BF-4154-498A-83DC-02C61B3E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4FCA4-3AE4-4161-A74E-723A1BD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81175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E45C7-A93F-4484-B8A7-F7B65AAA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657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需求分配与结果协调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3B3C9-37FE-4954-AED9-EE7EE0C4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647950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F88EF-E8CA-4980-87A2-1165FCDA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16365-F940-4515-8457-644D010D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18A01-87BA-44C9-B720-D736F8D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E3AB0-D153-420C-A97E-0CF13289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ADEB0-6B7A-4B35-BCEB-970E1B05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9BB9A-59C0-4B96-9581-E88CEA9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87AE9-627B-4CFA-8907-77466BAA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F03A7-7C76-4530-BF79-2FD20C5B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40682-ACAA-47F1-BA99-2CB15B5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50819-9079-4511-800D-8AD93AE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03E9A-C8E7-4445-9978-41589430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CD8A6-A8C7-4080-9E34-01172970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80EE1-869A-460A-A19E-49599BF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896C4-FCE9-4C20-BC79-3B959352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0613-F4CD-457B-BBAB-B77A827F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91E68-BD81-47FA-B5AC-0FC9471E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089F4-A3AA-42DA-9B51-72D56853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FD6D9-52C9-4471-AE4C-2BAD06F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61F5C-CA00-44AF-9575-A0C2EECB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C4796-2171-4210-9092-7A556892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98BA4-E870-439F-93C2-1467BA5C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0286E-EC0D-4CE8-A8E2-7D1A6D6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AD23C-6198-4EA7-80E2-CA24903C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819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FFBB1-14A4-49A8-93B4-D33264F3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819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20BD1-BB16-4383-9507-C72009A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24450"/>
            <a:ext cx="36385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86FD60-41EF-4B96-951B-2A04A78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1444244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33d17a9174b6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0BC89-FA8E-4BD5-AD5E-C9D7A465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B28E-9479-41BB-AF16-E2F4ACEE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88685-80A1-4F42-B4DA-A527C6A2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AB4A3-FAB2-4B97-BFB2-EAEB2FF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A4D46-B1EC-44CA-B9ED-0082C45E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11589015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94c90adae4b6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969EE-71CB-4B26-B983-CBD11275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细胞级 AI 的协作方式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DAE2E-3C72-471D-900B-9A772DD5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D8EC5-16BA-4D03-8AF4-D24A510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DD43A-5505-4CA5-80D2-2FEDF512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4C852-71AD-4705-9ECE-A26D286D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837CC-B9A0-4004-87A3-BCEC96AF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69B1F-93A3-415E-88B3-F7F2BAAF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923BC-7752-4487-B556-BA848EC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22B40-7FBE-4AEF-9624-FF72C8D3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42F3B-FBFC-4F15-BB90-1ABFB40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BE2EC-41BC-486F-AAE7-C9B6708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05F62-4015-4EDF-8BC9-CD937DC8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F40E1-B6E6-411F-BC60-7287F3CA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明确任务、SOP、权限与测试</a:t>
            </a:r>
          </a:p>
        </p:txBody>
      </p:sp>
    </p:spTree>
    <p:extLst>
      <p:ext uri="{BB962C8B-B14F-4D97-AF65-F5344CB8AC3E}">
        <p14:creationId xmlns:p14="http://schemas.microsoft.com/office/powerpoint/2010/main" val="9997760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09A81-80B7-4988-8FA7-A4B2F963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可靠性，来自可检查的边界设计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A158D-E20D-4B46-B47D-4D97D85B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29F1F-D9F6-4E41-98CE-5CDD5601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D6693-7C19-4442-AAAE-8F54DBE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A90D3-0298-4189-B79A-A9A4ADA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每位专员只使用获授权的工具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732EF-2516-4328-8CD8-1CC9D027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越权请求，由系统拒绝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5A7F1-1C81-42AB-A73B-886B393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8B4F2-CC09-4CE4-9D87-2E5C00B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发行规则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B0F7E-E786-42F0-8C17-530C7A99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051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发行前检查必填信息与公司规则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F3DDA-802E-4633-A1BA-35D43F9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资料未补齐，不能发行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B9DBD-EDEB-48BF-9471-64E3AB10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F2D1B-6399-4AC3-BD4D-CE38AE74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131A3-8EA7-4426-8894-E7E98762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发行后冻结内容，并保存历史快照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8F51A-F724-4002-917D-7DE9483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3875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后续修改，不改写旧文件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BCF13-333B-44B5-A368-1DC86B11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单元测试、调度与集成验证，共同检验整体交付</a:t>
            </a:r>
          </a:p>
        </p:txBody>
      </p:sp>
    </p:spTree>
    <p:extLst>
      <p:ext uri="{BB962C8B-B14F-4D97-AF65-F5344CB8AC3E}">
        <p14:creationId xmlns:p14="http://schemas.microsoft.com/office/powerpoint/2010/main" val="2424538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D543C-E5AA-4B2E-95BE-A342F3D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B6AA1-2E95-44FC-B114-E136A28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A6F4D-7F21-4101-9D02-33DB8A2A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EEDDA-4D81-4E12-87FF-A9307C71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C1DE0-E96A-4678-B322-0A5B0407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客户与商品记录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Quotation、invoice 与付款流程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表单、模板与业务概览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BAC1D-575D-40C5-8873-B596D2C7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F2DC-1F68-4BF8-81F4-0415DF0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更多可验证的业务流程与分析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0676F-1A93-45CC-9733-520598FC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85975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2B09A-ED41-4271-9CEF-C03BAC9B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16625455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EC3F5-3E68-49F9-A023-6FE441C5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客户试点，以一条真实流程开始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AE2A9-2565-4787-8669-2761CB0F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541B9-8C8D-40DB-B207-969F02F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1092D-3B31-4E6B-A0BC-17AC3017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376E8-E331-4DFB-82A3-D91D1173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选流程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AE0E1-096D-4755-AB2E-2D3A3F0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开票，或表单采集与处理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FD324-ED5E-4EAE-B4A0-FABEE24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1462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A6792-76C9-44B2-85D8-F5EABD73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A513A-FB6C-4428-BF1D-D2A7B5C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81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用资料配置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0EC60-FD93-42B3-B74F-7361EB4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旧文件、规则与客户记录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D40B-3F9C-4B24-8621-AF056235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52850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DC671-F039-4CBB-B42E-D41CEF6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F3491-B792-4B5F-A778-EFE74AD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9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运行真实工作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80F72-7049-4191-8616-8EB915E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确认输入，检查交付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CABBA-283D-427C-A6F5-AC2A6767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9107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5CA77-5F21-423D-A7A1-CFFDBFF4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EA832-8DC5-4814-B52C-5592975A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577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对照指标验收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BD311-6CE0-441B-BFCD-CBEDE1B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时间、返工与数据完整性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6688891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0F8D0-B88B-470F-9FCE-19FD641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投资验证：门槛降低能否带来付费使用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0DE67-9344-4A44-B5A6-15B89DD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E6AE3-0F70-46C0-9729-4CE7014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DACB1-D81C-4142-B5CB-DC3DB49A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以重复文件工作切入，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围绕公司上下文扩展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DE7BF-C7B6-4C29-9D41-8B08554B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配置成本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FD64D-A595-4D79-85E1-2794E688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能否更快进入实际工作？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9EEDE-35D3-4941-B5B3-5E1698F5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02BDE-2BDF-455D-9CFE-D995AC23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能否持续交付可检查的结果？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66F32-0DD3-43FD-8580-73A9416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088C4-BE47-45E5-8D42-E80C76A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是否成为重复工作的习惯？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6D263-6FC1-4C14-8F78-D569793F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付费意愿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F95AE-8F2A-443D-B5B1-802EF7E6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价值是否足以支持商业化？</a:t>
            </a:r>
          </a:p>
        </p:txBody>
      </p:sp>
    </p:spTree>
    <p:extLst>
      <p:ext uri="{BB962C8B-B14F-4D97-AF65-F5344CB8AC3E}">
        <p14:creationId xmlns:p14="http://schemas.microsoft.com/office/powerpoint/2010/main" val="12167404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4A3CA-3E22-481E-A9EE-9A93F902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556C0-65D6-47BA-BC8C-06EB78B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26EC7-90CE-4AFA-BC3B-7111791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525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投资者：共同验证团队 AI 的产品路径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83b81fa7e4c5d"/>
          <a:stretch xmlns:a="http://schemas.openxmlformats.org/drawingml/2006/main"/>
        </p:blipFill>
        <p:spPr>
          <a:xfrm xmlns:a="http://schemas.openxmlformats.org/drawingml/2006/main">
            <a:off x="9753600" y="4629150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918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72571-68FD-460E-A993-9109473B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B71FA-D73D-41F2-B016-7D88403B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97D6A-9939-49FA-9804-6BF36F59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FF2C1-01C7-4561-A63F-72324FA1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0D639-5A0F-4EEC-9D73-D25E2D16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08329-DF01-4F24-8BB3-87E6337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6FF31-0CE8-4403-BAEF-FFF53BAE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F2C23-6C1B-43CC-AAF0-72E19A0E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1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A0572-F7DA-4BD4-8BCA-96977D1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BC0D5-4E7D-4404-988D-3D03E970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49194-D1CC-4BDA-B960-E59AD04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339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代码与预览支持功能说明，不代表部署验收或客户业绩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可靠性、使用与商业指标，需要在真实试点中验证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11EA3-B00B-4AEB-AA94-36A715D8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34299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2026-10-01T09:05:04.6250000Z</dcterms:created>
  <dcterms:modified xsi:type="dcterms:W3CDTF">2026-10-01T09:05:04.6250000Z</dcterms:modified>
</coreProperties>
</file>